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8" userDrawn="1">
          <p15:clr>
            <a:srgbClr val="A4A3A4"/>
          </p15:clr>
        </p15:guide>
        <p15:guide id="2" pos="283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78"/>
        <p:guide pos="283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6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914400" y="1600200"/>
            <a:ext cx="10362895" cy="8366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000" b="1" i="0">
                <a:solidFill>
                  <a:srgbClr val="E2DCD0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疫情监测中的病例规模收益边界</a:t>
            </a:r>
            <a:endParaRPr sz="5000" b="1" i="0">
              <a:solidFill>
                <a:srgbClr val="E2DCD0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2514600"/>
            <a:ext cx="10362895" cy="4785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>
                <a:solidFill>
                  <a:srgbClr val="8A96A8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估计目标、环境随机性与外部验证</a:t>
            </a:r>
            <a:endParaRPr sz="2900" b="1" i="0">
              <a:solidFill>
                <a:srgbClr val="8A96A8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3429000"/>
            <a:ext cx="10362895" cy="295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8A96A8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开题以来的研究进展、阶段性结果与后续计划</a:t>
            </a:r>
            <a:endParaRPr sz="1700" b="0" i="0">
              <a:solidFill>
                <a:srgbClr val="8A96A8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14400" y="5074920"/>
            <a:ext cx="10362895" cy="12700"/>
          </a:xfrm>
          <a:prstGeom prst="rect">
            <a:avLst/>
          </a:prstGeom>
          <a:solidFill>
            <a:srgbClr val="2E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230368"/>
            <a:ext cx="2407843" cy="1889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8A96A8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汇报人</a:t>
            </a:r>
            <a:endParaRPr sz="1000" b="0" i="0">
              <a:solidFill>
                <a:srgbClr val="8A96A8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5486400"/>
            <a:ext cx="2407843" cy="249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E2DCD0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王驰</a:t>
            </a:r>
            <a:endParaRPr sz="1400" b="0" i="0">
              <a:solidFill>
                <a:srgbClr val="E2DCD0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505123" y="5230368"/>
            <a:ext cx="2407843" cy="1889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8A96A8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学号</a:t>
            </a:r>
            <a:endParaRPr sz="1000" b="0" i="0">
              <a:solidFill>
                <a:srgbClr val="8A96A8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505123" y="5486400"/>
            <a:ext cx="2407843" cy="249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E2DCD0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24201221020</a:t>
            </a:r>
            <a:endParaRPr sz="1400" b="0" i="0">
              <a:solidFill>
                <a:srgbClr val="E2DCD0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095847" y="5230368"/>
            <a:ext cx="2407843" cy="153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8A96A8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导师</a:t>
            </a:r>
            <a:endParaRPr sz="1000" b="0" i="0">
              <a:solidFill>
                <a:srgbClr val="8A96A8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095847" y="5486400"/>
            <a:ext cx="2407843" cy="249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E2DCD0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张仲华</a:t>
            </a:r>
            <a:endParaRPr sz="1400" b="0" i="0">
              <a:solidFill>
                <a:srgbClr val="E2DCD0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686571" y="5230368"/>
            <a:ext cx="2407843" cy="1889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8A96A8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日期</a:t>
            </a:r>
            <a:endParaRPr sz="1000" b="0" i="0">
              <a:solidFill>
                <a:srgbClr val="8A96A8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686571" y="5486400"/>
            <a:ext cx="2407843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E2DCD0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2026 年 10 月 1</a:t>
            </a:r>
            <a:r>
              <a:rPr lang="en-US" sz="1400" b="0" i="0">
                <a:solidFill>
                  <a:srgbClr val="E2DCD0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5</a:t>
            </a:r>
            <a:r>
              <a:rPr sz="1400" b="0" i="0">
                <a:solidFill>
                  <a:srgbClr val="E2DCD0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日</a:t>
            </a:r>
            <a:endParaRPr sz="1400" b="0" i="0">
              <a:solidFill>
                <a:srgbClr val="E2DCD0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C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8534095" y="274320"/>
            <a:ext cx="2743200" cy="1889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A6270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02 / 12</a:t>
            </a:r>
            <a:endParaRPr sz="1000" b="0" i="0">
              <a:solidFill>
                <a:srgbClr val="5A6270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14400" y="475488"/>
            <a:ext cx="10362895" cy="12700"/>
          </a:xfrm>
          <a:prstGeom prst="rect">
            <a:avLst/>
          </a:prstGeom>
          <a:solidFill>
            <a:srgbClr val="CAC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6309360"/>
            <a:ext cx="10362895" cy="12700"/>
          </a:xfrm>
          <a:prstGeom prst="rect">
            <a:avLst/>
          </a:prstGeom>
          <a:solidFill>
            <a:srgbClr val="CAC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6391656"/>
            <a:ext cx="5486400" cy="1889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9AA0A8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背景与动机</a:t>
            </a:r>
            <a:endParaRPr sz="1000" b="0" i="0">
              <a:solidFill>
                <a:srgbClr val="9AA0A8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00000" y="720000"/>
            <a:ext cx="7315200" cy="1889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A6270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背景与动机</a:t>
            </a:r>
            <a:endParaRPr sz="1000" b="0" i="0">
              <a:solidFill>
                <a:srgbClr val="5A6270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14400" y="969264"/>
            <a:ext cx="228600" cy="12700"/>
          </a:xfrm>
          <a:prstGeom prst="rect">
            <a:avLst/>
          </a:prstGeom>
          <a:solidFill>
            <a:srgbClr val="C8A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0000" y="1080000"/>
            <a:ext cx="10368000" cy="5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1A2030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监测规模扩大后预测精度趋于平台，扩容的边际收益需要量化</a:t>
            </a:r>
            <a:endParaRPr sz="2800" b="1" i="0">
              <a:solidFill>
                <a:srgbClr val="1A2030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14400" y="2013204"/>
            <a:ext cx="3246120" cy="12700"/>
          </a:xfrm>
          <a:prstGeom prst="rect">
            <a:avLst/>
          </a:prstGeom>
          <a:solidFill>
            <a:srgbClr val="CAC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177796"/>
            <a:ext cx="32461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1150" b="0">
                <a:solidFill>
                  <a:srgbClr val="475569"/>
                </a:solidFill>
                <a:latin typeface="Times New Roman"/>
                <a:ea typeface="宋体"/>
              </a:rPr>
              <a:t>监测扩容有成本；规模收益的边界决定资源应投向扩容还是改进推断。传统公卫直觉倾向于‘监测样本越多越好’，但忽视了个体超传播与环境异质性带来的客观收益上限。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09159" y="2013204"/>
            <a:ext cx="6568135" cy="12700"/>
          </a:xfrm>
          <a:prstGeom prst="rect">
            <a:avLst/>
          </a:prstGeom>
          <a:solidFill>
            <a:srgbClr val="CAC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59" y="2214372"/>
            <a:ext cx="6568135" cy="20208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00" b="0">
                <a:solidFill>
                  <a:srgbClr val="475569"/>
                </a:solidFill>
                <a:latin typeface="Times New Roman"/>
                <a:ea typeface="宋体"/>
              </a:rPr>
              <a:t>— 病例监测网络持续扩容，网络维护与单例检测均具备显著边际成本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100" b="0">
                <a:solidFill>
                  <a:srgbClr val="475569"/>
                </a:solidFill>
                <a:latin typeface="Times New Roman"/>
                <a:ea typeface="宋体"/>
              </a:rPr>
              <a:t>— 监测数据中，病例规模扩大后短期预测精度的改善逐步放缓并趋于平台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100" b="0">
                <a:solidFill>
                  <a:srgbClr val="475569"/>
                </a:solidFill>
                <a:latin typeface="Times New Roman"/>
                <a:ea typeface="宋体"/>
              </a:rPr>
              <a:t>— Fisher 信息文献（如 Parag 等, 2022）强调「信息随样本线性增长」，但这仅针对当期再生数 Rt，无法直接外推至跨期预警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100" b="0">
                <a:solidFill>
                  <a:srgbClr val="475569"/>
                </a:solidFill>
                <a:latin typeface="Times New Roman"/>
                <a:ea typeface="宋体"/>
              </a:rPr>
              <a:t>— 误差若主要来自与规模无关的外生环境随机性，继续横向盲目扩容的收益极为有限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C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8534095" y="274320"/>
            <a:ext cx="2743200" cy="1889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A6270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03 / 12</a:t>
            </a:r>
            <a:endParaRPr sz="1000" b="0" i="0">
              <a:solidFill>
                <a:srgbClr val="5A6270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14400" y="475488"/>
            <a:ext cx="10362895" cy="12700"/>
          </a:xfrm>
          <a:prstGeom prst="rect">
            <a:avLst/>
          </a:prstGeom>
          <a:solidFill>
            <a:srgbClr val="CAC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6309360"/>
            <a:ext cx="10362895" cy="12700"/>
          </a:xfrm>
          <a:prstGeom prst="rect">
            <a:avLst/>
          </a:prstGeom>
          <a:solidFill>
            <a:srgbClr val="CAC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6391656"/>
            <a:ext cx="5486400" cy="1889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9AA0A8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研究问题与目标</a:t>
            </a:r>
            <a:endParaRPr sz="1000" b="0" i="0">
              <a:solidFill>
                <a:srgbClr val="9AA0A8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705295" y="6391656"/>
            <a:ext cx="4572000" cy="1889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AA0A8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西安科技大学 · 应用统计硕士</a:t>
            </a:r>
            <a:endParaRPr sz="1000" b="0" i="0">
              <a:solidFill>
                <a:srgbClr val="9AA0A8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00000" y="720000"/>
            <a:ext cx="7315200" cy="1889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A6270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研究问题与目标</a:t>
            </a:r>
            <a:endParaRPr sz="1000" b="0" i="0">
              <a:solidFill>
                <a:srgbClr val="5A6270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14400" y="969264"/>
            <a:ext cx="228600" cy="12700"/>
          </a:xfrm>
          <a:prstGeom prst="rect">
            <a:avLst/>
          </a:prstGeom>
          <a:solidFill>
            <a:srgbClr val="C8A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0000" y="1080000"/>
            <a:ext cx="10368000" cy="5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1A2030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核心问题是病例监测规模对推断精度的收益边界及其决定因素</a:t>
            </a:r>
            <a:endParaRPr sz="2800" b="1" i="0">
              <a:solidFill>
                <a:srgbClr val="1A2030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14400" y="1876044"/>
            <a:ext cx="10362895" cy="4251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5A6270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研究问题：病例规模扩大时，推断精度的收益在何处放缓，放缓由哪些随机性来源决定。</a:t>
            </a:r>
            <a:endParaRPr sz="1700" b="0" i="0">
              <a:solidFill>
                <a:srgbClr val="5A6270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14400" y="2561844"/>
            <a:ext cx="10362895" cy="12700"/>
          </a:xfrm>
          <a:prstGeom prst="rect">
            <a:avLst/>
          </a:prstGeom>
          <a:solidFill>
            <a:srgbClr val="CAC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2561844"/>
            <a:ext cx="384048" cy="12700"/>
          </a:xfrm>
          <a:prstGeom prst="rect">
            <a:avLst/>
          </a:prstGeom>
          <a:solidFill>
            <a:srgbClr val="C8A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726436"/>
            <a:ext cx="8229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A2030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01</a:t>
            </a:r>
            <a:endParaRPr sz="1800" b="1" i="0">
              <a:solidFill>
                <a:srgbClr val="1A2030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28800" y="2744724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A2030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构建双层随机模型</a:t>
            </a:r>
            <a:endParaRPr sz="1800" b="1" i="0">
              <a:solidFill>
                <a:srgbClr val="1A2030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120640" y="2763012"/>
            <a:ext cx="615665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200" b="0">
                <a:solidFill>
                  <a:srgbClr val="475569"/>
                </a:solidFill>
                <a:latin typeface="Times New Roman"/>
                <a:ea typeface="宋体"/>
              </a:rPr>
              <a:t>构建负二项分支过程与二项随机漏报复合模型，克服经典泊松假定对个体超传播与极值方差的低估，刻画系统的不完全捕获机制。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348228"/>
            <a:ext cx="10362895" cy="12700"/>
          </a:xfrm>
          <a:prstGeom prst="rect">
            <a:avLst/>
          </a:prstGeom>
          <a:solidFill>
            <a:srgbClr val="CAC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" y="3348228"/>
            <a:ext cx="384048" cy="12700"/>
          </a:xfrm>
          <a:prstGeom prst="rect">
            <a:avLst/>
          </a:prstGeom>
          <a:solidFill>
            <a:srgbClr val="C8A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512820"/>
            <a:ext cx="8229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A2030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02</a:t>
            </a:r>
            <a:endParaRPr sz="1800" b="1" i="0">
              <a:solidFill>
                <a:srgbClr val="1A2030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828800" y="3531108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A2030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区分两类估计目标</a:t>
            </a:r>
            <a:endParaRPr sz="1800" b="1" i="0">
              <a:solidFill>
                <a:srgbClr val="1A2030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120640" y="3549396"/>
            <a:ext cx="615665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200" b="0">
                <a:solidFill>
                  <a:srgbClr val="475569"/>
                </a:solidFill>
                <a:latin typeface="Times New Roman"/>
                <a:ea typeface="宋体"/>
              </a:rPr>
              <a:t>推导瞬态 Rt 与跨期 R̄ 的方差确界，证明不可约环境底板 vR，解出抽样与环境各占 50% 的特征平衡点 m× = A/vR。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4134612"/>
            <a:ext cx="10362895" cy="12700"/>
          </a:xfrm>
          <a:prstGeom prst="rect">
            <a:avLst/>
          </a:prstGeom>
          <a:solidFill>
            <a:srgbClr val="CAC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" y="4134612"/>
            <a:ext cx="384048" cy="12700"/>
          </a:xfrm>
          <a:prstGeom prst="rect">
            <a:avLst/>
          </a:prstGeom>
          <a:solidFill>
            <a:srgbClr val="C8A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299204"/>
            <a:ext cx="8229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A2030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03</a:t>
            </a:r>
            <a:endParaRPr sz="1800" b="1" i="0">
              <a:solidFill>
                <a:srgbClr val="1A2030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828800" y="4317492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A2030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真实数据实证检验</a:t>
            </a:r>
            <a:endParaRPr sz="1800" b="1" i="0">
              <a:solidFill>
                <a:srgbClr val="1A2030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120640" y="4335780"/>
            <a:ext cx="615665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200" b="0">
                <a:solidFill>
                  <a:srgbClr val="475569"/>
                </a:solidFill>
                <a:latin typeface="Times New Roman"/>
                <a:ea typeface="宋体"/>
              </a:rPr>
              <a:t>基于 CDC NHSN 16,218 个州周住院数据，通过 FGLS（可行广义最小二乘法）与州聚类 Bootstrap（自举重抽样法）检验理论标度律。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" y="4920996"/>
            <a:ext cx="10362895" cy="12700"/>
          </a:xfrm>
          <a:prstGeom prst="rect">
            <a:avLst/>
          </a:prstGeom>
          <a:solidFill>
            <a:srgbClr val="CAC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14400" y="4920996"/>
            <a:ext cx="384048" cy="12700"/>
          </a:xfrm>
          <a:prstGeom prst="rect">
            <a:avLst/>
          </a:prstGeom>
          <a:solidFill>
            <a:srgbClr val="C8A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085588"/>
            <a:ext cx="8229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A2030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04</a:t>
            </a:r>
            <a:endParaRPr sz="1800" b="1" i="0">
              <a:solidFill>
                <a:srgbClr val="1A2030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828800" y="5103876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A2030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外部验证与资源配置</a:t>
            </a:r>
            <a:endParaRPr sz="1800" b="1" i="0">
              <a:solidFill>
                <a:srgbClr val="1A2030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120640" y="5122164"/>
            <a:ext cx="615665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200" b="0">
                <a:solidFill>
                  <a:srgbClr val="475569"/>
                </a:solidFill>
                <a:latin typeface="Times New Roman"/>
                <a:ea typeface="宋体"/>
              </a:rPr>
              <a:t>引入 CDC FluSight 集成预测与欧洲 COVID-19 外部验证，并在经费约束下推导最优单期规模闭式解 m* = √((c0/c1)·m×)。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" y="5707380"/>
            <a:ext cx="10362895" cy="12700"/>
          </a:xfrm>
          <a:prstGeom prst="rect">
            <a:avLst/>
          </a:prstGeom>
          <a:solidFill>
            <a:srgbClr val="CAC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C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8534095" y="274320"/>
            <a:ext cx="2743200" cy="1889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A6270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04 / 12</a:t>
            </a:r>
            <a:endParaRPr sz="1000" b="0" i="0">
              <a:solidFill>
                <a:srgbClr val="5A6270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14400" y="475488"/>
            <a:ext cx="10362895" cy="12700"/>
          </a:xfrm>
          <a:prstGeom prst="rect">
            <a:avLst/>
          </a:prstGeom>
          <a:solidFill>
            <a:srgbClr val="CAC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6309360"/>
            <a:ext cx="10362895" cy="12700"/>
          </a:xfrm>
          <a:prstGeom prst="rect">
            <a:avLst/>
          </a:prstGeom>
          <a:solidFill>
            <a:srgbClr val="CAC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0000" y="720000"/>
            <a:ext cx="7315200" cy="1889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A6270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研究方法</a:t>
            </a:r>
            <a:endParaRPr sz="1000" b="0" i="0">
              <a:solidFill>
                <a:srgbClr val="5A6270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14400" y="969264"/>
            <a:ext cx="228600" cy="12700"/>
          </a:xfrm>
          <a:prstGeom prst="rect">
            <a:avLst/>
          </a:prstGeom>
          <a:solidFill>
            <a:srgbClr val="C8A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0000" y="1080000"/>
            <a:ext cx="10368000" cy="5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1A2030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研究方法由传播—报告模型、两类估计目标与三重检验构成</a:t>
            </a:r>
            <a:endParaRPr sz="2800" b="1" i="0">
              <a:solidFill>
                <a:srgbClr val="1A2030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pic>
        <p:nvPicPr>
          <p:cNvPr id="11" name="Picture 10" descr="method_flow.png"/>
          <p:cNvPicPr>
            <a:picLocks noChangeAspect="1"/>
          </p:cNvPicPr>
          <p:nvPr/>
        </p:nvPicPr>
        <p:blipFill>
          <a:blip r:embed="rId1"/>
          <a:srcRect t="23500" b="31500"/>
          <a:stretch>
            <a:fillRect/>
          </a:stretch>
        </p:blipFill>
        <p:spPr>
          <a:xfrm>
            <a:off x="1432407" y="1766316"/>
            <a:ext cx="9326880" cy="27980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00000" y="4644000"/>
            <a:ext cx="10368000" cy="161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>
                <a:solidFill>
                  <a:srgbClr val="5A6270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图：研究技术路线</a:t>
            </a:r>
            <a:endParaRPr sz="1050" b="0" i="0">
              <a:solidFill>
                <a:srgbClr val="5A6270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00000" y="4968000"/>
            <a:ext cx="3204000" cy="198000"/>
          </a:xfrm>
          <a:prstGeom prst="rect">
            <a:avLst/>
          </a:prstGeom>
          <a:solidFill>
            <a:srgbClr val="CAC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00000" y="4968000"/>
            <a:ext cx="3204000" cy="198000"/>
          </a:xfrm>
          <a:prstGeom prst="rect">
            <a:avLst/>
          </a:prstGeom>
          <a:solidFill>
            <a:srgbClr val="C8A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0000" y="4968000"/>
            <a:ext cx="3204000" cy="19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5A6270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模型</a:t>
            </a:r>
            <a:endParaRPr sz="1200" b="1" i="0">
              <a:solidFill>
                <a:srgbClr val="5A6270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00000" y="5220000"/>
            <a:ext cx="3204000" cy="97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100" b="0">
                <a:solidFill>
                  <a:srgbClr val="475569"/>
                </a:solidFill>
                <a:latin typeface="Times New Roman"/>
                <a:ea typeface="宋体"/>
              </a:rPr>
              <a:t>负二项分支刻画超传播（离散参数 k），二项随机漏报刻画报告率 ρ；报告病例仍服从负二项分布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00000" y="4968000"/>
            <a:ext cx="3204000" cy="198000"/>
          </a:xfrm>
          <a:prstGeom prst="rect">
            <a:avLst/>
          </a:prstGeom>
          <a:solidFill>
            <a:srgbClr val="CAC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00000" y="4968000"/>
            <a:ext cx="3204000" cy="198000"/>
          </a:xfrm>
          <a:prstGeom prst="rect">
            <a:avLst/>
          </a:prstGeom>
          <a:solidFill>
            <a:srgbClr val="C8A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00000" y="4968000"/>
            <a:ext cx="3204000" cy="19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5A6270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推断</a:t>
            </a:r>
            <a:endParaRPr sz="1200" b="1" i="0">
              <a:solidFill>
                <a:srgbClr val="5A6270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500000" y="5220000"/>
            <a:ext cx="3204000" cy="97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100" b="0">
                <a:solidFill>
                  <a:srgbClr val="475569"/>
                </a:solidFill>
                <a:latin typeface="Times New Roman"/>
                <a:ea typeface="宋体"/>
              </a:rPr>
              <a:t>目标 A 估计量达到 Cramér–Rao 下界；目标 B 方差含不可约环境底板 vR，导出特征平衡点与报告率饱和下界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63999" y="4968000"/>
            <a:ext cx="3204000" cy="198000"/>
          </a:xfrm>
          <a:prstGeom prst="rect">
            <a:avLst/>
          </a:prstGeom>
          <a:solidFill>
            <a:srgbClr val="CAC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63999" y="4968000"/>
            <a:ext cx="3204000" cy="198000"/>
          </a:xfrm>
          <a:prstGeom prst="rect">
            <a:avLst/>
          </a:prstGeom>
          <a:solidFill>
            <a:srgbClr val="C8A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63999" y="4968000"/>
            <a:ext cx="3204000" cy="19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5A6270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检验</a:t>
            </a:r>
            <a:endParaRPr sz="1200" b="1" i="0">
              <a:solidFill>
                <a:srgbClr val="5A6270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063999" y="5220000"/>
            <a:ext cx="3204000" cy="97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050" b="0">
                <a:solidFill>
                  <a:srgbClr val="475569"/>
                </a:solidFill>
                <a:latin typeface="Times New Roman"/>
                <a:ea typeface="宋体"/>
              </a:rPr>
              <a:t>FGLS（可行广义最小二乘法）拟合 RelMSE = a + b/Dt，按州聚类 Bootstrap（自举法）1,500 次；分季 2SLS（两阶段最小二乘法）稳健性检验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C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8534095" y="274320"/>
            <a:ext cx="2743200" cy="1889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A6270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05 / 12</a:t>
            </a:r>
            <a:endParaRPr sz="1000" b="0" i="0">
              <a:solidFill>
                <a:srgbClr val="5A6270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14400" y="475488"/>
            <a:ext cx="10362895" cy="12700"/>
          </a:xfrm>
          <a:prstGeom prst="rect">
            <a:avLst/>
          </a:prstGeom>
          <a:solidFill>
            <a:srgbClr val="CAC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6309360"/>
            <a:ext cx="10362895" cy="12700"/>
          </a:xfrm>
          <a:prstGeom prst="rect">
            <a:avLst/>
          </a:prstGeom>
          <a:solidFill>
            <a:srgbClr val="CAC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0000" y="720000"/>
            <a:ext cx="7315200" cy="1889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A6270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关键结果一 · 理论与模拟</a:t>
            </a:r>
            <a:endParaRPr sz="1000" b="0" i="0">
              <a:solidFill>
                <a:srgbClr val="5A6270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14400" y="969264"/>
            <a:ext cx="228600" cy="12700"/>
          </a:xfrm>
          <a:prstGeom prst="rect">
            <a:avLst/>
          </a:prstGeom>
          <a:solidFill>
            <a:srgbClr val="C8A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0000" y="1080000"/>
            <a:ext cx="10368000" cy="5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1A2030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跨期目标的方差存在环境底板，越过平衡点后扩大规模收益减弱</a:t>
            </a:r>
            <a:endParaRPr sz="2800" b="1" i="0">
              <a:solidFill>
                <a:srgbClr val="1A2030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pic>
        <p:nvPicPr>
          <p:cNvPr id="11" name="Picture 10" descr="fig_theor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0967" y="1766316"/>
            <a:ext cx="9509760" cy="264751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99795" y="4860000"/>
            <a:ext cx="3204000" cy="3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1200" b="1"/>
              <a:t>命题 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9795" y="4854448"/>
            <a:ext cx="3210458" cy="12700"/>
          </a:xfrm>
          <a:prstGeom prst="rect">
            <a:avLst/>
          </a:prstGeom>
          <a:solidFill>
            <a:srgbClr val="CAC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4864608"/>
            <a:ext cx="228600" cy="12700"/>
          </a:xfrm>
          <a:prstGeom prst="rect">
            <a:avLst/>
          </a:prstGeom>
          <a:solidFill>
            <a:srgbClr val="C8A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pic>
        <p:nvPicPr>
          <p:cNvPr id="16" name="Picture 15" descr="formula_pro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193792"/>
            <a:ext cx="2344069" cy="1024128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4490618" y="4864608"/>
            <a:ext cx="3210458" cy="12700"/>
          </a:xfrm>
          <a:prstGeom prst="rect">
            <a:avLst/>
          </a:prstGeom>
          <a:solidFill>
            <a:srgbClr val="CAC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90618" y="4864608"/>
            <a:ext cx="228600" cy="12700"/>
          </a:xfrm>
          <a:prstGeom prst="rect">
            <a:avLst/>
          </a:prstGeom>
          <a:solidFill>
            <a:srgbClr val="C8A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00000" y="4968000"/>
            <a:ext cx="3204000" cy="19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5A6270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命题 3</a:t>
            </a:r>
            <a:endParaRPr sz="1200" b="1" i="0">
              <a:solidFill>
                <a:srgbClr val="5A6270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500000" y="5220000"/>
            <a:ext cx="3204000" cy="97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100" b="0">
                <a:solidFill>
                  <a:srgbClr val="475569"/>
                </a:solidFill>
                <a:latin typeface="Times New Roman"/>
                <a:ea typeface="宋体"/>
              </a:rPr>
              <a:t>提高报告率 ρ → 1 仅能消除漏报方差，极限仍受个体超传播约束；唯有扩大感染基数 n 才能使微观方差归零，确立监测杠杆非对称性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66836" y="4864608"/>
            <a:ext cx="3210458" cy="12700"/>
          </a:xfrm>
          <a:prstGeom prst="rect">
            <a:avLst/>
          </a:prstGeom>
          <a:solidFill>
            <a:srgbClr val="CAC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66836" y="4864608"/>
            <a:ext cx="228600" cy="12700"/>
          </a:xfrm>
          <a:prstGeom prst="rect">
            <a:avLst/>
          </a:prstGeom>
          <a:solidFill>
            <a:srgbClr val="C8A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63999" y="4968000"/>
            <a:ext cx="3204000" cy="19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5A6270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模拟验证</a:t>
            </a:r>
            <a:endParaRPr sz="1200" b="1" i="0">
              <a:solidFill>
                <a:srgbClr val="5A6270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063999" y="5220000"/>
            <a:ext cx="3204000" cy="97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050" b="0">
                <a:solidFill>
                  <a:srgbClr val="475569"/>
                </a:solidFill>
                <a:latin typeface="Times New Roman"/>
                <a:ea typeface="宋体"/>
              </a:rPr>
              <a:t>50,000 次蒙特卡洛验证，模拟/理论方差比严格处于 0.988–1.017；极小规模极重尾下（m = 5, k = 0.1），正态 Wald 检验第 I 类错误率升至 8.1%（过检）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C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6400800" cy="1889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A6270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中期答辩 · 病例规模收益边界</a:t>
            </a:r>
            <a:endParaRPr sz="1000" b="0" i="0">
              <a:solidFill>
                <a:srgbClr val="5A6270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534095" y="274320"/>
            <a:ext cx="2743200" cy="1889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A6270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06 / 12</a:t>
            </a:r>
            <a:endParaRPr sz="1000" b="0" i="0">
              <a:solidFill>
                <a:srgbClr val="5A6270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14400" y="475488"/>
            <a:ext cx="10362895" cy="12700"/>
          </a:xfrm>
          <a:prstGeom prst="rect">
            <a:avLst/>
          </a:prstGeom>
          <a:solidFill>
            <a:srgbClr val="CAC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6309360"/>
            <a:ext cx="10362895" cy="12700"/>
          </a:xfrm>
          <a:prstGeom prst="rect">
            <a:avLst/>
          </a:prstGeom>
          <a:solidFill>
            <a:srgbClr val="CAC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0000" y="720000"/>
            <a:ext cx="7315200" cy="1889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A6270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关键结果二 · NHSN 实证</a:t>
            </a:r>
            <a:endParaRPr sz="1000" b="0" i="0">
              <a:solidFill>
                <a:srgbClr val="5A6270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14400" y="969264"/>
            <a:ext cx="228600" cy="12700"/>
          </a:xfrm>
          <a:prstGeom prst="rect">
            <a:avLst/>
          </a:prstGeom>
          <a:solidFill>
            <a:srgbClr val="C8A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0000" y="1080000"/>
            <a:ext cx="10368000" cy="5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1A2030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流行初期误差随规模按 1/D 递减，经验平衡点约 22.6 例/周</a:t>
            </a:r>
            <a:endParaRPr sz="2800" b="1" i="0">
              <a:solidFill>
                <a:srgbClr val="1A2030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pic>
        <p:nvPicPr>
          <p:cNvPr id="11" name="Picture 10" descr="fig_empiric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9527" y="1766316"/>
            <a:ext cx="9692640" cy="298145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00000" y="4644000"/>
            <a:ext cx="10368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5A6270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数据：CDC NHSN 周度流感住院，50 州 + DC，2020-08 至 2026-09；流行初期 N = 1,267</a:t>
            </a:r>
            <a:endParaRPr sz="1050" b="0" i="0">
              <a:solidFill>
                <a:srgbClr val="5A6270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00000" y="4968000"/>
            <a:ext cx="3204000" cy="198000"/>
          </a:xfrm>
          <a:prstGeom prst="rect">
            <a:avLst/>
          </a:prstGeom>
          <a:solidFill>
            <a:srgbClr val="CAC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00000" y="4968000"/>
            <a:ext cx="3204000" cy="198000"/>
          </a:xfrm>
          <a:prstGeom prst="rect">
            <a:avLst/>
          </a:prstGeom>
          <a:solidFill>
            <a:srgbClr val="C8A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0000" y="4968000"/>
            <a:ext cx="3204000" cy="19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5A6270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仿射拟合</a:t>
            </a:r>
            <a:endParaRPr sz="1200" b="1" i="0">
              <a:solidFill>
                <a:srgbClr val="5A6270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00000" y="5220000"/>
            <a:ext cx="3204000" cy="97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050" b="0">
                <a:solidFill>
                  <a:srgbClr val="475569"/>
                </a:solidFill>
                <a:latin typeface="Times New Roman"/>
                <a:ea typeface="宋体"/>
              </a:rPr>
              <a:t>斜率 b = 2.2434 显著大于 0 [1.5019, 3.0161]，拒绝规模无关原假设；经验平衡点 m× = 22.6 [13.7, 33.7] 例/周，与理论推导处相同数量级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00000" y="4968000"/>
            <a:ext cx="3204000" cy="198000"/>
          </a:xfrm>
          <a:prstGeom prst="rect">
            <a:avLst/>
          </a:prstGeom>
          <a:solidFill>
            <a:srgbClr val="CAC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00000" y="4968000"/>
            <a:ext cx="3204000" cy="198000"/>
          </a:xfrm>
          <a:prstGeom prst="rect">
            <a:avLst/>
          </a:prstGeom>
          <a:solidFill>
            <a:srgbClr val="C8A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00000" y="4968000"/>
            <a:ext cx="3204000" cy="19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5A6270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分箱误差</a:t>
            </a:r>
            <a:endParaRPr sz="1200" b="1" i="0">
              <a:solidFill>
                <a:srgbClr val="5A6270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500000" y="5220000"/>
            <a:ext cx="3204000" cy="97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050" b="0">
                <a:solidFill>
                  <a:srgbClr val="475569"/>
                </a:solidFill>
                <a:latin typeface="Times New Roman"/>
                <a:ea typeface="宋体"/>
              </a:rPr>
              <a:t>相对均方误差随规模按 1/Dt 陡峭下降（由 0.329 降至 0.105），越过 100 例后趋于平缓平台期；州内去均值与十分位聚合保持稳健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63999" y="4968000"/>
            <a:ext cx="3204000" cy="198000"/>
          </a:xfrm>
          <a:prstGeom prst="rect">
            <a:avLst/>
          </a:prstGeom>
          <a:solidFill>
            <a:srgbClr val="CAC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63999" y="4968000"/>
            <a:ext cx="3204000" cy="198000"/>
          </a:xfrm>
          <a:prstGeom prst="rect">
            <a:avLst/>
          </a:prstGeom>
          <a:solidFill>
            <a:srgbClr val="C8A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63999" y="4968000"/>
            <a:ext cx="3204000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latin typeface="Times New Roman" panose="02020603050405020304"/>
                <a:ea typeface="宋体" panose="02010600030101010101" pitchFamily="2" charset="-122"/>
              </a:rPr>
              <a:t>竞争基准与运筹最优规模</a:t>
            </a:r>
            <a:endParaRPr sz="1200" b="1">
              <a:latin typeface="Times New Roman" panose="02020603050405020304"/>
              <a:ea typeface="宋体" panose="02010600030101010101" pitchFamily="2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063865" y="5219700"/>
            <a:ext cx="3160395" cy="730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</a:pPr>
            <a:r>
              <a:rPr sz="1050" b="0">
                <a:solidFill>
                  <a:srgbClr val="475569"/>
                </a:solidFill>
                <a:latin typeface="Times New Roman"/>
                <a:ea typeface="宋体"/>
              </a:rPr>
              <a:t>Cori 滑动窗权威基准（EpiEstim 经典算法）在 100 例以上同样趋于平台（约 0.087–0.098），证实规模瓶颈为客观环境约束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C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8534095" y="274320"/>
            <a:ext cx="2743200" cy="1889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A6270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07 / 12</a:t>
            </a:r>
            <a:endParaRPr sz="1000" b="0" i="0">
              <a:solidFill>
                <a:srgbClr val="5A6270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14400" y="475488"/>
            <a:ext cx="10362895" cy="12700"/>
          </a:xfrm>
          <a:prstGeom prst="rect">
            <a:avLst/>
          </a:prstGeom>
          <a:solidFill>
            <a:srgbClr val="CAC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6309360"/>
            <a:ext cx="10362895" cy="12700"/>
          </a:xfrm>
          <a:prstGeom prst="rect">
            <a:avLst/>
          </a:prstGeom>
          <a:solidFill>
            <a:srgbClr val="CAC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0000" y="720000"/>
            <a:ext cx="7315200" cy="1889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A6270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关键结果三 · 误差来源与稳健性</a:t>
            </a:r>
            <a:endParaRPr sz="1000" b="0" i="0">
              <a:solidFill>
                <a:srgbClr val="5A6270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14400" y="969264"/>
            <a:ext cx="228600" cy="12700"/>
          </a:xfrm>
          <a:prstGeom prst="rect">
            <a:avLst/>
          </a:prstGeom>
          <a:solidFill>
            <a:srgbClr val="C8A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0000" y="1080000"/>
            <a:ext cx="10368000" cy="5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1A2030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约四至五成误差与规模无关，平衡点稳定在数十例量级</a:t>
            </a:r>
            <a:endParaRPr sz="2800" b="1" i="0">
              <a:solidFill>
                <a:srgbClr val="1A2030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pic>
        <p:nvPicPr>
          <p:cNvPr id="11" name="Picture 10" descr="fig_budget_robus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9527" y="1766316"/>
            <a:ext cx="9692640" cy="29539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00000" y="4644000"/>
            <a:ext cx="10368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5A6270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数据：小论文实证结果汇总文件；欧洲 11 国 COVID-19 为日度口径（m× = 124.7 例/天），未画入右图</a:t>
            </a:r>
            <a:endParaRPr sz="1050" b="0" i="0">
              <a:solidFill>
                <a:srgbClr val="5A6270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00000" y="4968000"/>
            <a:ext cx="3204000" cy="198000"/>
          </a:xfrm>
          <a:prstGeom prst="rect">
            <a:avLst/>
          </a:prstGeom>
          <a:solidFill>
            <a:srgbClr val="CAC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00000" y="4968000"/>
            <a:ext cx="3204000" cy="198000"/>
          </a:xfrm>
          <a:prstGeom prst="rect">
            <a:avLst/>
          </a:prstGeom>
          <a:solidFill>
            <a:srgbClr val="C8A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0000" y="4968000"/>
            <a:ext cx="3204000" cy="19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5A6270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误差预算</a:t>
            </a:r>
            <a:endParaRPr sz="1200" b="1" i="0">
              <a:solidFill>
                <a:srgbClr val="5A6270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00000" y="5220000"/>
            <a:ext cx="3204000" cy="97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050" b="0">
                <a:solidFill>
                  <a:srgbClr val="475569"/>
                </a:solidFill>
                <a:latin typeface="Times New Roman"/>
                <a:ea typeface="宋体"/>
              </a:rPr>
              <a:t>仿射分解中初期规模无关项占 54.6%，规模项占 45.1%；多口径下无关项稳定在 39.1%–54.9%；D ≥ 250 时误差 0.104，证实存在不可约下限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00000" y="4968000"/>
            <a:ext cx="3204000" cy="198000"/>
          </a:xfrm>
          <a:prstGeom prst="rect">
            <a:avLst/>
          </a:prstGeom>
          <a:solidFill>
            <a:srgbClr val="CAC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00000" y="4968000"/>
            <a:ext cx="3204000" cy="198000"/>
          </a:xfrm>
          <a:prstGeom prst="rect">
            <a:avLst/>
          </a:prstGeom>
          <a:solidFill>
            <a:srgbClr val="C8A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00000" y="4968000"/>
            <a:ext cx="3204000" cy="19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5A6270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达峰期</a:t>
            </a:r>
            <a:endParaRPr sz="1200" b="1" i="0">
              <a:solidFill>
                <a:srgbClr val="5A6270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500000" y="5220000"/>
            <a:ext cx="3204000" cy="97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050" b="0">
                <a:solidFill>
                  <a:srgbClr val="475569"/>
                </a:solidFill>
                <a:latin typeface="Times New Roman"/>
                <a:ea typeface="宋体"/>
              </a:rPr>
              <a:t>达峰期常数均值偏移占损失 88.9%，推翻‘规模失效’旧断言（实为跨期平稳假设失效）；剥离偏移后 b = 7.9272 仍显著为正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63999" y="4968000"/>
            <a:ext cx="3204000" cy="198000"/>
          </a:xfrm>
          <a:prstGeom prst="rect">
            <a:avLst/>
          </a:prstGeom>
          <a:solidFill>
            <a:srgbClr val="CAC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63999" y="4968000"/>
            <a:ext cx="3204000" cy="198000"/>
          </a:xfrm>
          <a:prstGeom prst="rect">
            <a:avLst/>
          </a:prstGeom>
          <a:solidFill>
            <a:srgbClr val="C8A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63999" y="4968000"/>
            <a:ext cx="3204000" cy="19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5A6270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稳健与外部</a:t>
            </a:r>
            <a:endParaRPr sz="1200" b="1" i="0">
              <a:solidFill>
                <a:srgbClr val="5A6270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063999" y="5220000"/>
            <a:ext cx="3204000" cy="97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050" b="0">
                <a:solidFill>
                  <a:srgbClr val="475569"/>
                </a:solidFill>
                <a:latin typeface="Times New Roman"/>
                <a:ea typeface="宋体"/>
              </a:rPr>
              <a:t>分季滞后 2SLS（两阶段最小二乘法）第一阶段 F 为 76.8–119.4；FluSight 集成将达峰偏差压缩至 15.5%；欧洲数据平衡点约为 124.7 例/天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C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8534095" y="274320"/>
            <a:ext cx="2743200" cy="1889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A6270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08 / 12</a:t>
            </a:r>
            <a:endParaRPr sz="1000" b="0" i="0">
              <a:solidFill>
                <a:srgbClr val="5A6270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14400" y="475488"/>
            <a:ext cx="10362895" cy="12700"/>
          </a:xfrm>
          <a:prstGeom prst="rect">
            <a:avLst/>
          </a:prstGeom>
          <a:solidFill>
            <a:srgbClr val="CAC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6309360"/>
            <a:ext cx="10362895" cy="12700"/>
          </a:xfrm>
          <a:prstGeom prst="rect">
            <a:avLst/>
          </a:prstGeom>
          <a:solidFill>
            <a:srgbClr val="CAC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0000" y="720000"/>
            <a:ext cx="7315200" cy="1889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A6270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已完成工作</a:t>
            </a:r>
            <a:endParaRPr sz="1000" b="0" i="0">
              <a:solidFill>
                <a:srgbClr val="5A6270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14400" y="969264"/>
            <a:ext cx="228600" cy="12700"/>
          </a:xfrm>
          <a:prstGeom prst="rect">
            <a:avLst/>
          </a:prstGeom>
          <a:solidFill>
            <a:srgbClr val="C8A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0000" y="1080000"/>
            <a:ext cx="10368000" cy="5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1A2030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理论与实证主体基本完成，外部验证与资源配置进入写作准备</a:t>
            </a:r>
            <a:endParaRPr sz="2800" b="1" i="0">
              <a:solidFill>
                <a:srgbClr val="1A2030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14400" y="1967484"/>
            <a:ext cx="1463039" cy="1889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A6270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章节</a:t>
            </a:r>
            <a:endParaRPr sz="1000" b="0" i="0">
              <a:solidFill>
                <a:srgbClr val="5A6270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651760" y="1967484"/>
            <a:ext cx="4846320" cy="1889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A6270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内容</a:t>
            </a:r>
            <a:endParaRPr sz="1000" b="0" i="0">
              <a:solidFill>
                <a:srgbClr val="5A6270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72400" y="1967484"/>
            <a:ext cx="3230575" cy="1889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A6270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进度</a:t>
            </a:r>
            <a:endParaRPr sz="1000" b="0" i="0">
              <a:solidFill>
                <a:srgbClr val="5A6270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14400" y="2260092"/>
            <a:ext cx="10362895" cy="12700"/>
          </a:xfrm>
          <a:prstGeom prst="rect">
            <a:avLst/>
          </a:prstGeom>
          <a:solidFill>
            <a:srgbClr val="C8A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397252"/>
            <a:ext cx="1463039" cy="4206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 i="0">
                <a:solidFill>
                  <a:srgbClr val="1A2030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第 1–3 章</a:t>
            </a:r>
            <a:endParaRPr sz="1800" b="1" i="0">
              <a:solidFill>
                <a:srgbClr val="1A2030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651760" y="2397252"/>
            <a:ext cx="4846320" cy="335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5A6270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绪论、双层模型构建、命题 1–6 推导与证明</a:t>
            </a:r>
            <a:endParaRPr sz="1400" b="0" i="0">
              <a:solidFill>
                <a:srgbClr val="5A6270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772400" y="2397252"/>
            <a:ext cx="3230575" cy="335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1A2030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定稿</a:t>
            </a:r>
            <a:endParaRPr sz="1400" b="0" i="0">
              <a:solidFill>
                <a:srgbClr val="1A2030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914400" y="3009900"/>
            <a:ext cx="10362895" cy="12700"/>
          </a:xfrm>
          <a:prstGeom prst="rect">
            <a:avLst/>
          </a:prstGeom>
          <a:solidFill>
            <a:srgbClr val="CAC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147060"/>
            <a:ext cx="1463039" cy="4206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 i="0">
                <a:solidFill>
                  <a:srgbClr val="1A2030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第 4 章</a:t>
            </a:r>
            <a:endParaRPr sz="1800" b="1" i="0">
              <a:solidFill>
                <a:srgbClr val="1A2030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651760" y="3147060"/>
            <a:ext cx="4846320" cy="335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5A6270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蒙特卡洛验证：方差、检验功效、预测误差三组模拟</a:t>
            </a:r>
            <a:endParaRPr sz="1400" b="0" i="0">
              <a:solidFill>
                <a:srgbClr val="5A6270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772400" y="3147060"/>
            <a:ext cx="3230575" cy="335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1A2030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实验与写作完成</a:t>
            </a:r>
            <a:endParaRPr sz="1400" b="0" i="0">
              <a:solidFill>
                <a:srgbClr val="1A2030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914400" y="3759707"/>
            <a:ext cx="10362895" cy="12700"/>
          </a:xfrm>
          <a:prstGeom prst="rect">
            <a:avLst/>
          </a:prstGeom>
          <a:solidFill>
            <a:srgbClr val="CAC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896868"/>
            <a:ext cx="1463039" cy="4206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 i="0">
                <a:solidFill>
                  <a:srgbClr val="1A2030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第 5 章</a:t>
            </a:r>
            <a:endParaRPr sz="1800" b="1" i="0">
              <a:solidFill>
                <a:srgbClr val="1A2030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651760" y="3896868"/>
            <a:ext cx="4846320" cy="335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5A6270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NHSN 实证：仿射拟合、达峰期分解、分季 IV</a:t>
            </a:r>
            <a:endParaRPr sz="1400" b="0" i="0">
              <a:solidFill>
                <a:srgbClr val="5A6270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772400" y="3896868"/>
            <a:ext cx="3230575" cy="335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1A2030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约 85%，补亚型与敏感性</a:t>
            </a:r>
            <a:endParaRPr sz="1400" b="0" i="0">
              <a:solidFill>
                <a:srgbClr val="1A2030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914400" y="4509516"/>
            <a:ext cx="10362895" cy="12700"/>
          </a:xfrm>
          <a:prstGeom prst="rect">
            <a:avLst/>
          </a:prstGeom>
          <a:solidFill>
            <a:srgbClr val="CAC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646676"/>
            <a:ext cx="1463039" cy="4206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 i="0">
                <a:solidFill>
                  <a:srgbClr val="1A2030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第 6–7 章</a:t>
            </a:r>
            <a:endParaRPr sz="1800" b="1" i="0">
              <a:solidFill>
                <a:srgbClr val="1A2030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651760" y="4646676"/>
            <a:ext cx="4846320" cy="335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5A6270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外部数据清洗对齐与初步拟合；最优规模闭式解与凸性证明</a:t>
            </a:r>
            <a:endParaRPr sz="1400" b="0" i="0">
              <a:solidFill>
                <a:srgbClr val="5A6270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772400" y="4646676"/>
            <a:ext cx="3230575" cy="335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1A2030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前期准备完成，正文待写</a:t>
            </a:r>
            <a:endParaRPr sz="1400" b="0" i="0">
              <a:solidFill>
                <a:srgbClr val="1A2030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914400" y="5259324"/>
            <a:ext cx="10362895" cy="12700"/>
          </a:xfrm>
          <a:prstGeom prst="rect">
            <a:avLst/>
          </a:prstGeom>
          <a:solidFill>
            <a:srgbClr val="CAC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396484"/>
            <a:ext cx="1463039" cy="4206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 i="0">
                <a:solidFill>
                  <a:srgbClr val="1A2030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成果</a:t>
            </a:r>
            <a:endParaRPr sz="1800" b="1" i="0">
              <a:solidFill>
                <a:srgbClr val="1A2030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651760" y="5396484"/>
            <a:ext cx="4846320" cy="335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5A6270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小论文中文稿约 30 页；长周期数据集与固定种子分析程序</a:t>
            </a:r>
            <a:endParaRPr sz="1400" b="0" i="0">
              <a:solidFill>
                <a:srgbClr val="5A6270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772400" y="5396484"/>
            <a:ext cx="3230575" cy="335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1A2030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随学位论文同步修改</a:t>
            </a:r>
            <a:endParaRPr sz="1400" b="0" i="0">
              <a:solidFill>
                <a:srgbClr val="1A2030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914400" y="6009132"/>
            <a:ext cx="10362895" cy="12700"/>
          </a:xfrm>
          <a:prstGeom prst="rect">
            <a:avLst/>
          </a:prstGeom>
          <a:solidFill>
            <a:srgbClr val="CAC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C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8534095" y="274320"/>
            <a:ext cx="2743200" cy="1889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A6270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09 / 12</a:t>
            </a:r>
            <a:endParaRPr sz="1000" b="0" i="0">
              <a:solidFill>
                <a:srgbClr val="5A6270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14400" y="475488"/>
            <a:ext cx="10362895" cy="12700"/>
          </a:xfrm>
          <a:prstGeom prst="rect">
            <a:avLst/>
          </a:prstGeom>
          <a:solidFill>
            <a:srgbClr val="CAC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6309360"/>
            <a:ext cx="10362895" cy="12700"/>
          </a:xfrm>
          <a:prstGeom prst="rect">
            <a:avLst/>
          </a:prstGeom>
          <a:solidFill>
            <a:srgbClr val="CAC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0000" y="720000"/>
            <a:ext cx="7315200" cy="1889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A6270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后续计划</a:t>
            </a:r>
            <a:endParaRPr sz="1000" b="0" i="0">
              <a:solidFill>
                <a:srgbClr val="5A6270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14400" y="969264"/>
            <a:ext cx="228600" cy="12700"/>
          </a:xfrm>
          <a:prstGeom prst="rect">
            <a:avLst/>
          </a:prstGeom>
          <a:solidFill>
            <a:srgbClr val="C8A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0000" y="1080000"/>
            <a:ext cx="10368000" cy="4737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1A2030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后续工作按五个阶段推进</a:t>
            </a:r>
            <a:endParaRPr sz="2800" b="1" i="0">
              <a:solidFill>
                <a:srgbClr val="1A2030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14400" y="3201924"/>
            <a:ext cx="10362895" cy="12700"/>
          </a:xfrm>
          <a:prstGeom prst="rect">
            <a:avLst/>
          </a:prstGeom>
          <a:solidFill>
            <a:srgbClr val="CAC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699004"/>
            <a:ext cx="1853123" cy="1889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A6270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2026.10–11</a:t>
            </a:r>
            <a:endParaRPr sz="1000" b="0" i="0">
              <a:solidFill>
                <a:srgbClr val="5A6270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14400" y="3147060"/>
            <a:ext cx="118872" cy="118872"/>
          </a:xfrm>
          <a:prstGeom prst="rect">
            <a:avLst/>
          </a:prstGeom>
          <a:solidFill>
            <a:srgbClr val="C8A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476244"/>
            <a:ext cx="1853123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A2030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完成第 5 章</a:t>
            </a:r>
            <a:endParaRPr sz="1800" b="1" i="0">
              <a:solidFill>
                <a:srgbClr val="1A2030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14400" y="3933444"/>
            <a:ext cx="1853123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5A6270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亚型子样本、指数衰减权重、空间相关稳健性</a:t>
            </a:r>
            <a:endParaRPr sz="1400" b="0" i="0">
              <a:solidFill>
                <a:srgbClr val="5A6270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041843" y="2699004"/>
            <a:ext cx="1853123" cy="1889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A6270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2026.12–2027.01</a:t>
            </a:r>
            <a:endParaRPr sz="1000" b="0" i="0">
              <a:solidFill>
                <a:srgbClr val="5A6270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041843" y="3147060"/>
            <a:ext cx="118872" cy="118872"/>
          </a:xfrm>
          <a:prstGeom prst="rect">
            <a:avLst/>
          </a:prstGeom>
          <a:solidFill>
            <a:srgbClr val="C8A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41843" y="3476244"/>
            <a:ext cx="1853123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A2030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撰写第 6 章</a:t>
            </a:r>
            <a:endParaRPr sz="1800" b="1" i="0">
              <a:solidFill>
                <a:srgbClr val="1A2030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041843" y="3933444"/>
            <a:ext cx="1853123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5A6270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FluSight 与欧洲 COVID-19 外部验证</a:t>
            </a:r>
            <a:endParaRPr sz="1400" b="0" i="0">
              <a:solidFill>
                <a:srgbClr val="5A6270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169286" y="2699004"/>
            <a:ext cx="1853123" cy="1889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A6270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2027.02–03</a:t>
            </a:r>
            <a:endParaRPr sz="1000" b="0" i="0">
              <a:solidFill>
                <a:srgbClr val="5A6270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169286" y="3147060"/>
            <a:ext cx="118872" cy="118872"/>
          </a:xfrm>
          <a:prstGeom prst="rect">
            <a:avLst/>
          </a:prstGeom>
          <a:solidFill>
            <a:srgbClr val="C8A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69286" y="3476244"/>
            <a:ext cx="1853123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A2030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撰写第 7 章</a:t>
            </a:r>
            <a:endParaRPr sz="1800" b="1" i="0">
              <a:solidFill>
                <a:srgbClr val="1A2030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169286" y="3933444"/>
            <a:ext cx="1853123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5A6270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成本参数调研、资源配置；同步修改小论文</a:t>
            </a:r>
            <a:endParaRPr sz="1400" b="0" i="0">
              <a:solidFill>
                <a:srgbClr val="5A6270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296729" y="2699004"/>
            <a:ext cx="1853123" cy="1889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A6270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2027.03–04</a:t>
            </a:r>
            <a:endParaRPr sz="1000" b="0" i="0">
              <a:solidFill>
                <a:srgbClr val="5A6270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7296729" y="3147060"/>
            <a:ext cx="118872" cy="118872"/>
          </a:xfrm>
          <a:prstGeom prst="rect">
            <a:avLst/>
          </a:prstGeom>
          <a:solidFill>
            <a:srgbClr val="C8A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96729" y="3476244"/>
            <a:ext cx="1853123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A2030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全文统稿</a:t>
            </a:r>
            <a:endParaRPr sz="1800" b="1" i="0">
              <a:solidFill>
                <a:srgbClr val="1A2030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296729" y="3933444"/>
            <a:ext cx="1853123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5A6270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统一符号与图表，核对数值与结果文件</a:t>
            </a:r>
            <a:endParaRPr sz="1400" b="0" i="0">
              <a:solidFill>
                <a:srgbClr val="5A6270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424172" y="2699004"/>
            <a:ext cx="1853123" cy="1889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A6270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2027.04 以后</a:t>
            </a:r>
            <a:endParaRPr sz="1000" b="0" i="0">
              <a:solidFill>
                <a:srgbClr val="5A6270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9424172" y="3147060"/>
            <a:ext cx="118872" cy="118872"/>
          </a:xfrm>
          <a:prstGeom prst="rect">
            <a:avLst/>
          </a:prstGeom>
          <a:solidFill>
            <a:srgbClr val="C8A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24172" y="3476244"/>
            <a:ext cx="1853123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A2030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送审与答辩</a:t>
            </a:r>
            <a:endParaRPr sz="1800" b="1" i="0">
              <a:solidFill>
                <a:srgbClr val="1A2030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424172" y="3933444"/>
            <a:ext cx="1853123" cy="676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5A6270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按学院安排完成检测、评阅与答辩</a:t>
            </a:r>
            <a:endParaRPr sz="1400" b="0" i="0">
              <a:solidFill>
                <a:srgbClr val="5A6270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C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6400800" cy="1889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A6270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中期答辩 · 病例规模收益边界</a:t>
            </a:r>
            <a:endParaRPr sz="1000" b="0" i="0">
              <a:solidFill>
                <a:srgbClr val="5A6270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534095" y="274320"/>
            <a:ext cx="2743200" cy="1889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5A6270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10 / 12</a:t>
            </a:r>
            <a:endParaRPr sz="1000" b="0" i="0">
              <a:solidFill>
                <a:srgbClr val="5A6270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14400" y="475488"/>
            <a:ext cx="10362895" cy="12700"/>
          </a:xfrm>
          <a:prstGeom prst="rect">
            <a:avLst/>
          </a:prstGeom>
          <a:solidFill>
            <a:srgbClr val="CAC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6309360"/>
            <a:ext cx="10362895" cy="12700"/>
          </a:xfrm>
          <a:prstGeom prst="rect">
            <a:avLst/>
          </a:prstGeom>
          <a:solidFill>
            <a:srgbClr val="CAC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6391656"/>
            <a:ext cx="5486400" cy="1889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9AA0A8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讨论与局限</a:t>
            </a:r>
            <a:endParaRPr sz="1000" b="0" i="0">
              <a:solidFill>
                <a:srgbClr val="9AA0A8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705295" y="6391656"/>
            <a:ext cx="4572000" cy="1889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 i="0">
                <a:solidFill>
                  <a:srgbClr val="9AA0A8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西安科技大学 · 应用统计硕士</a:t>
            </a:r>
            <a:endParaRPr sz="1000" b="0" i="0">
              <a:solidFill>
                <a:srgbClr val="9AA0A8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00000" y="720000"/>
            <a:ext cx="7315200" cy="1889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A6270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讨论与局限</a:t>
            </a:r>
            <a:endParaRPr sz="1000" b="0" i="0">
              <a:solidFill>
                <a:srgbClr val="5A6270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14400" y="969264"/>
            <a:ext cx="228600" cy="12700"/>
          </a:xfrm>
          <a:prstGeom prst="rect">
            <a:avLst/>
          </a:prstGeom>
          <a:solidFill>
            <a:srgbClr val="C8A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0000" y="1080000"/>
            <a:ext cx="10368000" cy="5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1A2030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现有结论受空间相关、权重设定、成本参数与识别口径四项限制</a:t>
            </a:r>
            <a:endParaRPr sz="2800" b="1" i="0">
              <a:solidFill>
                <a:srgbClr val="1A2030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14400" y="1967484"/>
            <a:ext cx="1463039" cy="1889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A6270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局限</a:t>
            </a:r>
            <a:endParaRPr sz="1000" b="0" i="0">
              <a:solidFill>
                <a:srgbClr val="5A6270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651760" y="1967484"/>
            <a:ext cx="4572000" cy="1889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A6270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现状</a:t>
            </a:r>
            <a:endParaRPr sz="1000" b="0" i="0">
              <a:solidFill>
                <a:srgbClr val="5A6270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498079" y="1967484"/>
            <a:ext cx="3504895" cy="1889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A6270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拟采取措施</a:t>
            </a:r>
            <a:endParaRPr sz="1000" b="0" i="0">
              <a:solidFill>
                <a:srgbClr val="5A6270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14400" y="2260092"/>
            <a:ext cx="10362895" cy="12700"/>
          </a:xfrm>
          <a:prstGeom prst="rect">
            <a:avLst/>
          </a:prstGeom>
          <a:solidFill>
            <a:srgbClr val="C8A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397252"/>
            <a:ext cx="1463039" cy="4206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 i="0">
                <a:solidFill>
                  <a:srgbClr val="1A2030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空间相关</a:t>
            </a:r>
            <a:endParaRPr sz="1800" b="1" i="0">
              <a:solidFill>
                <a:srgbClr val="1A2030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651760" y="2397252"/>
            <a:ext cx="4572000" cy="6339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5A6270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按州聚类只处理同州跨周相关；按周聚类 CI [1.4728, 3.1191]</a:t>
            </a:r>
            <a:endParaRPr sz="1400" b="0" i="0">
              <a:solidFill>
                <a:srgbClr val="5A6270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498079" y="2397252"/>
            <a:ext cx="3504895" cy="335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0">
                <a:solidFill>
                  <a:srgbClr val="475569"/>
                </a:solidFill>
                <a:latin typeface="Times New Roman"/>
                <a:ea typeface="宋体"/>
              </a:rPr>
              <a:t>引入空间滞后自回归（SAR）检验，州×周双向聚类 Bootstrap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3223260"/>
            <a:ext cx="10362895" cy="12700"/>
          </a:xfrm>
          <a:prstGeom prst="rect">
            <a:avLst/>
          </a:prstGeom>
          <a:solidFill>
            <a:srgbClr val="CAC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360420"/>
            <a:ext cx="1463039" cy="4206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 i="0">
                <a:solidFill>
                  <a:srgbClr val="1A2030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权重与亚型</a:t>
            </a:r>
            <a:endParaRPr sz="1800" b="1" i="0">
              <a:solidFill>
                <a:srgbClr val="1A2030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651760" y="3360420"/>
            <a:ext cx="4572000" cy="335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5A6270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m× 随滞后权重在 12.64–45.96 间变动；无亚型字段</a:t>
            </a:r>
            <a:endParaRPr sz="1400" b="0" i="0">
              <a:solidFill>
                <a:srgbClr val="5A6270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498079" y="3360420"/>
            <a:ext cx="3504895" cy="335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1A2030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指数衰减权重；按优势亚型分样本</a:t>
            </a:r>
            <a:endParaRPr sz="1400" b="0" i="0">
              <a:solidFill>
                <a:srgbClr val="1A2030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914400" y="3973068"/>
            <a:ext cx="10362895" cy="12700"/>
          </a:xfrm>
          <a:prstGeom prst="rect">
            <a:avLst/>
          </a:prstGeom>
          <a:solidFill>
            <a:srgbClr val="CAC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110228"/>
            <a:ext cx="1463039" cy="4206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 i="0">
                <a:solidFill>
                  <a:srgbClr val="1A2030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成本参数</a:t>
            </a:r>
            <a:endParaRPr sz="1800" b="1" i="0">
              <a:solidFill>
                <a:srgbClr val="1A2030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651760" y="4110228"/>
            <a:ext cx="4572000" cy="335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5A6270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c0/c1 仅取 10、100 两种情景</a:t>
            </a:r>
            <a:endParaRPr sz="1400" b="0" i="0">
              <a:solidFill>
                <a:srgbClr val="5A6270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498079" y="4110228"/>
            <a:ext cx="3504895" cy="335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1A2030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结合疾控哨点监测成本设定参数区间</a:t>
            </a:r>
            <a:endParaRPr sz="1400" b="0" i="0">
              <a:solidFill>
                <a:srgbClr val="1A2030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914400" y="4722875"/>
            <a:ext cx="10362895" cy="12700"/>
          </a:xfrm>
          <a:prstGeom prst="rect">
            <a:avLst/>
          </a:prstGeom>
          <a:solidFill>
            <a:srgbClr val="CAC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860036"/>
            <a:ext cx="1463039" cy="4206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 i="0">
                <a:solidFill>
                  <a:srgbClr val="1A2030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识别口径</a:t>
            </a:r>
            <a:endParaRPr sz="1800" b="1" i="0">
              <a:solidFill>
                <a:srgbClr val="1A2030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651760" y="4860036"/>
            <a:ext cx="4572000" cy="335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5A6270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截距 a 混合 vR 与平滑偏差；IV 仅证实替代测度下稳健</a:t>
            </a:r>
            <a:endParaRPr sz="1400" b="0" i="0">
              <a:solidFill>
                <a:srgbClr val="5A6270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498079" y="4860036"/>
            <a:ext cx="3504895" cy="335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>
                <a:solidFill>
                  <a:srgbClr val="475569"/>
                </a:solidFill>
                <a:latin typeface="Times New Roman"/>
                <a:ea typeface="宋体"/>
              </a:rPr>
              <a:t>提出前瞻性代表社区主动队列设计，将环境方差与平滑偏差严格解耦；限定跨期平稳适用范围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" y="5472683"/>
            <a:ext cx="10362895" cy="12700"/>
          </a:xfrm>
          <a:prstGeom prst="rect">
            <a:avLst/>
          </a:prstGeom>
          <a:solidFill>
            <a:srgbClr val="CAC4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6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0000" y="720000"/>
            <a:ext cx="7315200" cy="1889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C8A870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结论</a:t>
            </a:r>
            <a:endParaRPr sz="1000" b="0" i="0">
              <a:solidFill>
                <a:srgbClr val="C8A870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14400" y="1115568"/>
            <a:ext cx="228600" cy="12700"/>
          </a:xfrm>
          <a:prstGeom prst="rect">
            <a:avLst/>
          </a:prstGeom>
          <a:solidFill>
            <a:srgbClr val="C8A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1080000"/>
            <a:ext cx="10368000" cy="5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E2DCD0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病例规模收益真实存在，达到数十例后受环境随机性约束而放缓</a:t>
            </a:r>
            <a:endParaRPr sz="2800" b="1" i="0">
              <a:solidFill>
                <a:srgbClr val="E2DCD0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00000" y="2340000"/>
            <a:ext cx="10368000" cy="2700000"/>
          </a:xfrm>
          <a:prstGeom prst="rect">
            <a:avLst/>
          </a:prstGeom>
          <a:solidFill>
            <a:srgbClr val="2E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35000"/>
              </a:lnSpc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900000" y="2340000"/>
            <a:ext cx="10368000" cy="2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50" b="1">
                <a:solidFill>
                  <a:srgbClr val="1E40AF"/>
                </a:solidFill>
                <a:latin typeface="Times New Roman"/>
                <a:ea typeface="宋体"/>
              </a:rPr>
              <a:t>【理论确界】 </a:t>
            </a:r>
            <a:r>
              <a:rPr sz="1300" b="0">
                <a:solidFill>
                  <a:srgbClr val="1E293B"/>
                </a:solidFill>
                <a:latin typeface="Times New Roman"/>
                <a:ea typeface="宋体"/>
              </a:rPr>
              <a:t>证实推断目标决定方差标度律；当期参数 Rt 测量误差单调趋零，跨期参数 R̄ 存留不可约环境底板 vR，导出特征平衡点 m× = A/vR 与报告率杠杆饱和性。</a:t>
            </a:r>
          </a:p>
          <a:p>
            <a:pPr>
              <a:lnSpc>
                <a:spcPct val="120000"/>
              </a:lnSpc>
              <a:spcBef>
                <a:spcPts val="1000"/>
              </a:spcBef>
            </a:pPr>
            <a:r>
              <a:rPr sz="1350" b="1">
                <a:solidFill>
                  <a:srgbClr val="1E40AF"/>
                </a:solidFill>
                <a:latin typeface="Times New Roman"/>
                <a:ea typeface="宋体"/>
              </a:rPr>
              <a:t>【实证量化】 </a:t>
            </a:r>
            <a:r>
              <a:rPr sz="1300" b="0">
                <a:solidFill>
                  <a:srgbClr val="1E293B"/>
                </a:solidFill>
                <a:latin typeface="Times New Roman"/>
                <a:ea typeface="宋体"/>
              </a:rPr>
              <a:t>全美流感真实监测验证相对误差随病例规模呈 1/Dt 反比衰减并趋于常数底板，经验平衡点稳定在数十例量级（m× ≈ 22.6 例/周）；误差预算证实约四至五成半（39%–55%）误差源于不可约下限。</a:t>
            </a:r>
          </a:p>
          <a:p>
            <a:pPr>
              <a:lnSpc>
                <a:spcPct val="120000"/>
              </a:lnSpc>
              <a:spcBef>
                <a:spcPts val="1000"/>
              </a:spcBef>
            </a:pPr>
            <a:r>
              <a:rPr sz="1350" b="1">
                <a:solidFill>
                  <a:srgbClr val="1E40AF"/>
                </a:solidFill>
                <a:latin typeface="Times New Roman"/>
                <a:ea typeface="宋体"/>
              </a:rPr>
              <a:t>【机制澄清】 </a:t>
            </a:r>
            <a:r>
              <a:rPr sz="1300" b="0">
                <a:solidFill>
                  <a:srgbClr val="1E293B"/>
                </a:solidFill>
                <a:latin typeface="Times New Roman"/>
                <a:ea typeface="宋体"/>
              </a:rPr>
              <a:t>达峰期 88.9% 误差源于疫情见顶转折引发的常数均值漂移而非规模失效，剥离偏差后规模效应依然显著；多模型集成可将漂移占比大幅压缩至 15.5%。</a:t>
            </a:r>
          </a:p>
          <a:p>
            <a:pPr>
              <a:lnSpc>
                <a:spcPct val="120000"/>
              </a:lnSpc>
              <a:spcBef>
                <a:spcPts val="1000"/>
              </a:spcBef>
            </a:pPr>
            <a:r>
              <a:rPr sz="1350" b="1">
                <a:solidFill>
                  <a:srgbClr val="1E40AF"/>
                </a:solidFill>
                <a:latin typeface="Times New Roman"/>
                <a:ea typeface="宋体"/>
              </a:rPr>
              <a:t>【运筹指导】 </a:t>
            </a:r>
            <a:r>
              <a:rPr sz="1300" b="0">
                <a:solidFill>
                  <a:srgbClr val="1E293B"/>
                </a:solidFill>
                <a:latin typeface="Times New Roman"/>
                <a:ea typeface="宋体"/>
              </a:rPr>
              <a:t>确立监测资源配置分水岭；越过平衡点后盲目横向增加病例数边际收益递减，应将资源转向时间平滑滤波与集成建模，提高公卫监测性价比。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6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965960"/>
            <a:ext cx="7315200" cy="1889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C8A870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Q&amp;A · 提问与讨论</a:t>
            </a:r>
            <a:endParaRPr sz="1000" b="0" i="0">
              <a:solidFill>
                <a:srgbClr val="C8A870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14400" y="2221992"/>
            <a:ext cx="228600" cy="12700"/>
          </a:xfrm>
          <a:prstGeom prst="rect">
            <a:avLst/>
          </a:prstGeom>
          <a:solidFill>
            <a:srgbClr val="C8A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362895" cy="7985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000" b="1" i="0">
                <a:solidFill>
                  <a:srgbClr val="E2DCD0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敬请各位老师批评指正</a:t>
            </a:r>
            <a:endParaRPr sz="5000" b="1" i="0">
              <a:solidFill>
                <a:srgbClr val="E2DCD0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14400" y="3703320"/>
            <a:ext cx="10362895" cy="12700"/>
          </a:xfrm>
          <a:prstGeom prst="rect">
            <a:avLst/>
          </a:prstGeom>
          <a:solidFill>
            <a:srgbClr val="2E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886200"/>
            <a:ext cx="10362895" cy="1689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8A96A8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汇报人：王驰　　导师：张仲华　　</a:t>
            </a:r>
            <a:endParaRPr sz="1100" b="0" i="0">
              <a:solidFill>
                <a:srgbClr val="8A96A8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2368</Words>
  <Application>WPS 演示</Application>
  <PresentationFormat>On-screen Show (4:3)</PresentationFormat>
  <Paragraphs>286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Arial</vt:lpstr>
      <vt:lpstr>宋体</vt:lpstr>
      <vt:lpstr>Wingdings</vt:lpstr>
      <vt:lpstr>Arial</vt:lpstr>
      <vt:lpstr>Times New Roman</vt:lpstr>
      <vt:lpstr>Calibri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心猿意马¡</cp:lastModifiedBy>
  <cp:revision>3</cp:revision>
  <dcterms:created xsi:type="dcterms:W3CDTF">2013-01-27T09:14:00Z</dcterms:created>
  <dcterms:modified xsi:type="dcterms:W3CDTF">2026-10-13T04:10:55Z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E6EF942AAC2D4535B841B4CDD5B40450_12</vt:lpwstr>
  </property>
  <property fmtid="{D5CDD505-2E9C-101B-9397-08002B2CF9AE}" pid="3" name="KSOProductBuildVer">
    <vt:lpwstr>2052-12.1.0.28505</vt:lpwstr>
  </property>
</Properties>
</file>
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各位老师好！我是应用统计专业的硕士研究生王驰，我的指导老师是张仲华老师。今天向各位老师汇报我的硕士学位论文中期检查进展，题目是《疫情监测中的病例规模收益边界：估计目标、环境随机性与外部验证》。</a:t>
            </a:r>
          </a:p>
          <a:p/>
          <a:p>
            <a:r>
              <a:rPr>
                <a:latin typeface="Times New Roman"/>
                <a:ea typeface="宋体"/>
              </a:rPr>
              <a:t>开题以来，在张老师的悉心指导下，我主要围绕微观动力学分支过程、渐近统计推断界限和全美流感住院真实大数据展开研究。接下来我从研究背景、核心理论成果、实证检验和后续大论文推进计划四个方面向各位老师汇报，恳请各位评委老师批评指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首先向老师们汇报研究背景和选题动机。这里先向各位评委老师汇报一个情况：我的原开题题目是关于新冠多维控制策略研究的，后来经过张老师深入论证与指导，考虑到当前疫情常态化监测与公卫资源配置的紧迫性，我们将研究聚焦到了更为本质的“病例规模收益边界”这一核心问题上。</a:t>
            </a:r>
          </a:p>
          <a:p/>
          <a:p>
            <a:r>
              <a:rPr>
                <a:latin typeface="Times New Roman"/>
                <a:ea typeface="宋体"/>
              </a:rPr>
              <a:t>为什么要做这个研究？大家平时的直觉都是“数据越多越好、测的人越多推断越准”。但疾控部门在实际监测中经常面临一个很尴尬的困境：在流感或新冠暴发高峰期，每周收上来几万个住院病例，模型对下周走势的预测依然会出现较大偏差；上面花大钱扩建哨点，预测精度很快就进入了平台期，改观非常微弱。</a:t>
            </a:r>
          </a:p>
          <a:p/>
          <a:p>
            <a:r>
              <a:rPr>
                <a:latin typeface="Times New Roman"/>
                <a:ea typeface="宋体"/>
              </a:rPr>
              <a:t>以往文献基于 Fisher 信息论认为信息随病例数线性增长，但这只适用于当期瞬态测量。如果误差主要来自全员共同面临的气象和环境波动，盲目扩建哨点、狂抓病例就无法换来精度。这迫使我们必须在数学上把规模收益的边界给严格算清楚。</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基于这个现实矛盾，本课题锁定的核心科学问题是：病例规模扩大时，推断精度的收益究竟在何处放缓？这个放缓是由哪些具体的随机性来源决定的？</a:t>
            </a:r>
          </a:p>
          <a:p/>
          <a:p>
            <a:r>
              <a:rPr>
                <a:latin typeface="Times New Roman"/>
                <a:ea typeface="宋体"/>
              </a:rPr>
              <a:t>围绕这个问题，我设定了四个环环相扣的研究目标：</a:t>
            </a:r>
          </a:p>
          <a:p>
            <a:r>
              <a:rPr>
                <a:latin typeface="Times New Roman"/>
                <a:ea typeface="宋体"/>
              </a:rPr>
              <a:t>第一，构建符合生物学真实性的双层随机模型，用负二项分支过程刻画超级传播，用二项抽稀刻画漏报；</a:t>
            </a:r>
          </a:p>
          <a:p>
            <a:r>
              <a:rPr>
                <a:latin typeface="Times New Roman"/>
                <a:ea typeface="宋体"/>
              </a:rPr>
              <a:t>第二，在数学上严格区分两类估计目标，推导当期瞬态再生数与跨期基础基准的方差结构，导出内生的特征平衡点 m_x；</a:t>
            </a:r>
          </a:p>
          <a:p>
            <a:r>
              <a:rPr>
                <a:latin typeface="Times New Roman"/>
                <a:ea typeface="宋体"/>
              </a:rPr>
              <a:t>第三，采集全美 CDC NHSN 长周期真实住院大数据，检验理论预测的仿射误差结构；</a:t>
            </a:r>
          </a:p>
          <a:p>
            <a:r>
              <a:rPr>
                <a:latin typeface="Times New Roman"/>
                <a:ea typeface="宋体"/>
              </a:rPr>
              <a:t>第四，扩展到真实多模型集成预报与欧洲跨病种数据，并推导出预算约束下的最优单期监测规模。</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接下来汇报本课题的研究方法，屏幕中间展示的是本文的技术路线图。</a:t>
            </a:r>
          </a:p>
          <a:p/>
          <a:p>
            <a:r>
              <a:rPr>
                <a:latin typeface="Times New Roman"/>
                <a:ea typeface="宋体"/>
              </a:rPr>
              <a:t>我们的方法体系由三根支柱构成：</a:t>
            </a:r>
          </a:p>
          <a:p>
            <a:r>
              <a:rPr>
                <a:latin typeface="Times New Roman"/>
                <a:ea typeface="宋体"/>
              </a:rPr>
              <a:t>首先是模型层，我们用负二项分支过程刻画个体生殖数异质性，离散参数 k 越小超传播越强；用二项抽稀刻画样本上报率 rho。我们用概率母函数复合律严格证明了报告病例依然服从负二项分布闭包；</a:t>
            </a:r>
          </a:p>
          <a:p>
            <a:r>
              <a:rPr>
                <a:latin typeface="Times New Roman"/>
                <a:ea typeface="宋体"/>
              </a:rPr>
              <a:t>其次是推断层，我们严格证明了目标 A（当期瞬态参数）能够达到 Cramér-Rao 信息量下界，方差按 O(1/m) 无界衰减；而目标 B（跨期潜在基准）由于单期样本无法消除宏观共同冲击，必然留存不可约环境方差底板；</a:t>
            </a:r>
          </a:p>
          <a:p>
            <a:r>
              <a:rPr>
                <a:latin typeface="Times New Roman"/>
                <a:ea typeface="宋体"/>
              </a:rPr>
              <a:t>最后是检验层，我们设计了可行广义最小二乘法 FGLS 拟合仿射模型，通过 1,500 次按州聚类 Bootstrap 和分季工具变量法进行稳健性检验。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下面汇报第一个关键结果：理论推导与随机模拟验证。</a:t>
            </a:r>
          </a:p>
          <a:p/>
          <a:p>
            <a:r>
              <a:rPr>
                <a:latin typeface="Times New Roman"/>
                <a:ea typeface="宋体"/>
              </a:rPr>
              <a:t>屏幕左下方是两个核心理论命题：</a:t>
            </a:r>
          </a:p>
          <a:p>
            <a:r>
              <a:rPr>
                <a:latin typeface="Times New Roman"/>
                <a:ea typeface="宋体"/>
              </a:rPr>
              <a:t>首先在微观机理上，我们基于 Lloyd-Smith 等人 2005 年发表在 Nature 上的奠基模型，确立了个体超传播的负二项分支分布。命题 2 证明：跨期目标 B 的方差呈现仿射结构 v_R + A/m。宏观环境底板 v_R 与样本量无关，只有后项抽样误差随规模递减。两项相等的位置就是特征平衡点 m_x = A/v_R，它清晰划分出微观噪声区与宏观环境饱和区。小论文基准情景下平衡点约为 53 例；</a:t>
            </a:r>
          </a:p>
          <a:p>
            <a:r>
              <a:rPr>
                <a:latin typeface="Times New Roman"/>
                <a:ea typeface="宋体"/>
              </a:rPr>
              <a:t>命题 3 则证明了杠杆非对称性：单纯提高报告率 rho 到极限，方差依然无法降到 v_R；唯有扩大地理和人群基数 n，方能逼近底板。</a:t>
            </a:r>
          </a:p>
          <a:p/>
          <a:p>
            <a:r>
              <a:rPr>
                <a:latin typeface="Times New Roman"/>
                <a:ea typeface="宋体"/>
              </a:rPr>
              <a:t>屏幕右侧是 50,000 次蒙特卡洛随机模拟结果，仿真与解析方差比在 0.988 到 1.017 之间，证明理论完全精确；同时模拟发现，常规正态 Wald 检验在小样本强超传播下虚警率高达 8.1%，必须使用精确离散检验。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第二个关键结果来自全美 CDC NHSN 真实数据的实证检验。</a:t>
            </a:r>
          </a:p>
          <a:p/>
          <a:p>
            <a:r>
              <a:rPr>
                <a:latin typeface="Times New Roman"/>
                <a:ea typeface="宋体"/>
              </a:rPr>
              <a:t>我们使用了覆盖全美 50 个州及华盛顿特区整整 6 年、16,218 条周度住院记录，筛选出初期上升波段 1,267 个活跃周样本。</a:t>
            </a:r>
          </a:p>
          <a:p>
            <a:r>
              <a:rPr>
                <a:latin typeface="Times New Roman"/>
                <a:ea typeface="宋体"/>
              </a:rPr>
              <a:t>大家看屏幕中间的拟合结果：散点是按病例规模分箱的均方误差均值，实线是 FGLS 仿射拟合线。结果显示：规模反比斜率项 b = 2.2434，95% 置信区间完全远离零点，在 1,500 次聚类 Bootstrap 中无一次小于零，强力证实了规模反比项的存在；实测测定出流感周住院的经验平衡点 m_x 约为 22.6 例/周。</a:t>
            </a:r>
          </a:p>
          <a:p/>
          <a:p>
            <a:r>
              <a:rPr>
                <a:latin typeface="Times New Roman"/>
                <a:ea typeface="宋体"/>
              </a:rPr>
              <a:t>屏幕右下方反映出：当周病例数在 100 例以上时，相对误差基本走平，即便改用权威的 Cori 时变更新过程竞争基准，在 100 例以上也同样收敛到平台期。同时在运筹设计上，我们导出了最优单期规模闭式解 m* = sqrt(c0/c1 * m_x)，在数学形式上同构于经典 Cochran (1977) 两阶段抽样。</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第三个关键结果是误差来源的正交分解与稳健性反转。</a:t>
            </a:r>
          </a:p>
          <a:p/>
          <a:p>
            <a:r>
              <a:rPr>
                <a:latin typeface="Times New Roman"/>
                <a:ea typeface="宋体"/>
              </a:rPr>
              <a:t>屏幕左侧的饼图和数据展示了误差预算份额：在流行初期，约 54.6% 的误差属于与样本量无关的环境底板，规模项仅占 45.1%；在不同流感季中，规模无关份额稳定在 39% 到 55% 之间。这说明仅靠增加病例数，有一半左右的误差是根本消除不掉的。</a:t>
            </a:r>
          </a:p>
          <a:p/>
          <a:p>
            <a:r>
              <a:rPr>
                <a:latin typeface="Times New Roman"/>
                <a:ea typeface="宋体"/>
              </a:rPr>
              <a:t>中间部分汇报了一个重大反转发现：在疫情达峰期，以往文献认为误差横盘在 0.3 意味着样本量失效。我们用均值--方差正交分解证明，达峰期整整 88.9% 的误差来源于疫情转向带来的常数基准漂移！扣除漂移后，规模项斜率仍高达 7.9 且显著为正，推翻了“达峰期样本量无用”的传统误读。</a:t>
            </a:r>
          </a:p>
          <a:p/>
          <a:p>
            <a:r>
              <a:rPr>
                <a:latin typeface="Times New Roman"/>
                <a:ea typeface="宋体"/>
              </a:rPr>
              <a:t>右侧显示：分季 IV 工具变量第一阶段 F 检验高达 76 到 119，排除反向因果；欧洲新冠日度平衡点约为 124.7 例/天，验证了跨病种稳健性。</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接下来向老师们汇报开题以来的具体研究进展和完成情况。</a:t>
            </a:r>
          </a:p>
          <a:p/>
          <a:p>
            <a:r>
              <a:rPr>
                <a:latin typeface="Times New Roman"/>
                <a:ea typeface="宋体"/>
              </a:rPr>
              <a:t>如表格所示：</a:t>
            </a:r>
          </a:p>
          <a:p>
            <a:r>
              <a:rPr>
                <a:latin typeface="Times New Roman"/>
                <a:ea typeface="宋体"/>
              </a:rPr>
              <a:t>第 1 到 3 章的双层模型构建、命题 1 到 6 的推导和全部证明已经定稿；</a:t>
            </a:r>
          </a:p>
          <a:p>
            <a:r>
              <a:rPr>
                <a:latin typeface="Times New Roman"/>
                <a:ea typeface="宋体"/>
              </a:rPr>
              <a:t>第 4 章的三组蒙特卡洛仿真实验和绘图已全部完成；</a:t>
            </a:r>
          </a:p>
          <a:p>
            <a:r>
              <a:rPr>
                <a:latin typeface="Times New Roman"/>
                <a:ea typeface="宋体"/>
              </a:rPr>
              <a:t>第 5 章的全美流感实证拟合、达峰期分解与工具变量检验已完成约 85%，正在补充按优势亚型划分的敏感性测试；</a:t>
            </a:r>
          </a:p>
          <a:p>
            <a:r>
              <a:rPr>
                <a:latin typeface="Times New Roman"/>
                <a:ea typeface="宋体"/>
              </a:rPr>
              <a:t>第 6 到 7 章关于 FluSight 集成预测和欧洲新冠的数据清洗与初步拟合已就绪，最优规模的凸性证明已完成。</a:t>
            </a:r>
          </a:p>
          <a:p/>
          <a:p>
            <a:r>
              <a:rPr>
                <a:latin typeface="Times New Roman"/>
                <a:ea typeface="宋体"/>
              </a:rPr>
              <a:t>目前已形成约 30 页的高水平中文期刊定稿论文，大论文七章初稿也已成型。这里顺便向老师们汇报，目前大论文各章初稿经过扩充，整体篇幅已经达到整整 85 页，骨架已经非常完整。</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这是我后续的研究工作推进计划与毕业时间表。</a:t>
            </a:r>
          </a:p>
          <a:p/>
          <a:p>
            <a:r>
              <a:rPr>
                <a:latin typeface="Times New Roman"/>
                <a:ea typeface="宋体"/>
              </a:rPr>
              <a:t>按照学院要求，整体按五个阶段推进：</a:t>
            </a:r>
          </a:p>
          <a:p>
            <a:r>
              <a:rPr>
                <a:latin typeface="Times New Roman"/>
                <a:ea typeface="宋体"/>
              </a:rPr>
              <a:t>2026 年 10 到 11 月，听取今天各位评委老师的宝贵修改意见，完善第 5 章的亚型子样本与空间自相关分析；</a:t>
            </a:r>
          </a:p>
          <a:p>
            <a:r>
              <a:rPr>
                <a:latin typeface="Times New Roman"/>
                <a:ea typeface="宋体"/>
              </a:rPr>
              <a:t>12 月到明年初，完成第 6 章外部验证与第 7 章资源配置章节的全文撰写，并同步修改小论文；</a:t>
            </a:r>
          </a:p>
          <a:p>
            <a:r>
              <a:rPr>
                <a:latin typeface="Times New Roman"/>
                <a:ea typeface="宋体"/>
              </a:rPr>
              <a:t>明年 2 到 3 月，进行全文统稿、统一符号体系、复核全部数值一致性；</a:t>
            </a:r>
          </a:p>
          <a:p>
            <a:r>
              <a:rPr>
                <a:latin typeface="Times New Roman"/>
                <a:ea typeface="宋体"/>
              </a:rPr>
              <a:t>2027 年 4 月形成正式送审稿，完成学术查重、评阅送审，并参加最终的学位论文答辩。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本课题在方法学上也存在一些局限性，我们在此坦诚交代并提出了应对举措：</a:t>
            </a:r>
          </a:p>
          <a:p/>
          <a:p>
            <a:r>
              <a:rPr>
                <a:latin typeface="Times New Roman"/>
                <a:ea typeface="宋体"/>
              </a:rPr>
              <a:t>第一是空间自相关限制：目前按州聚类主要处理了同州跨周相关，按周聚类区间为 1.47 到 3.12，后续我们将增加空间滞后模型与双向聚类；</a:t>
            </a:r>
          </a:p>
          <a:p>
            <a:r>
              <a:rPr>
                <a:latin typeface="Times New Roman"/>
                <a:ea typeface="宋体"/>
              </a:rPr>
              <a:t>第二是滞后权重与病毒亚型：平衡点随权重选择在 12 到 46 例之间波动，后续拟增加指数衰减权重测试，并补充各流感季优势亚型分层；</a:t>
            </a:r>
          </a:p>
          <a:p>
            <a:r>
              <a:rPr>
                <a:latin typeface="Times New Roman"/>
                <a:ea typeface="宋体"/>
              </a:rPr>
              <a:t>第三是成本参数设定：目前成本比 c0/c1 仅选取了 10 和 100 两种代表性情景，后续拟调研疾控实际哨点运营开销以划定真实参数区间；</a:t>
            </a:r>
          </a:p>
          <a:p>
            <a:r>
              <a:rPr>
                <a:latin typeface="Times New Roman"/>
                <a:ea typeface="宋体"/>
              </a:rPr>
              <a:t>第四是识别口径：截距项 a 混合了纯外生环境方差与模型平滑偏差，我们在论文中严格界定结论适用边界，强调经验拐点属于量级参照而非绝对点位识别。</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最后总结本文的核心结论，主要有三点：</a:t>
            </a:r>
          </a:p>
          <a:p/>
          <a:p>
            <a:r>
              <a:rPr>
                <a:latin typeface="Times New Roman"/>
                <a:ea typeface="宋体"/>
              </a:rPr>
              <a:t>第一，病例规模对推断精度的收益真实存在，但在跨期推断中必然受到不可约环境方差 v_R 的约束，内生存在特征平衡点 m_x = A/v_R；</a:t>
            </a:r>
          </a:p>
          <a:p>
            <a:r>
              <a:rPr>
                <a:latin typeface="Times New Roman"/>
                <a:ea typeface="宋体"/>
              </a:rPr>
              <a:t>第二，全美流感住院实证测定经验拐点约为 22.6 例/周，约四至五成的误差属于与规模无关的底板；</a:t>
            </a:r>
          </a:p>
          <a:p>
            <a:r>
              <a:rPr>
                <a:latin typeface="Times New Roman"/>
                <a:ea typeface="宋体"/>
              </a:rPr>
              <a:t>第三，一旦越过平衡点，单纯增加病例上报已边际收益递减，延长观测周期与引入多模型前瞻集成是降低误差的主要路径；实证中 FluSight 集成预测将达峰期偏差占比成功压缩到了 15.5%。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Times New Roman"/>
                <a:ea typeface="宋体"/>
              </a:rPr>
              <a:t>以上就是我的硕士学位论文中期考核汇报。</a:t>
            </a:r>
          </a:p>
          <a:p/>
          <a:p>
            <a:r>
              <a:rPr>
                <a:latin typeface="Times New Roman"/>
                <a:ea typeface="宋体"/>
              </a:rPr>
              <a:t>再次衷心感谢我的校内导师张仲华老师在选题与研究过程中的悉心指导，也诚挚感谢在座各位专家评委老师的聆听！恳请各位老师多提宝贵意见和批评指正！谢谢大家！</a:t>
            </a:r>
          </a:p>
          <a:p/>
          <a:p>
            <a:r>
              <a:rPr>
                <a:latin typeface="Times New Roman"/>
                <a:ea typeface="宋体"/>
              </a:rPr>
              <a:t>【评委可能提问备用小抄】：</a:t>
            </a:r>
          </a:p>
          <a:p>
            <a:r>
              <a:rPr>
                <a:latin typeface="Times New Roman"/>
                <a:ea typeface="宋体"/>
              </a:rPr>
              <a:t>1. 平衡点 22.6 例/周能否作为通用固定阈值？答：不能作为跨病种通用固定值，它依赖于时间粒度、报告流程和疾病 R0，应作为具体体系下的量级参照；</a:t>
            </a:r>
          </a:p>
          <a:p>
            <a:r>
              <a:rPr>
                <a:latin typeface="Times New Roman"/>
                <a:ea typeface="宋体"/>
              </a:rPr>
              <a:t>2. 为什么不用普通 OLS 而用 FGLS？答：真实数据残差偏度高达 8.63，小样本段方差是均值的 5.32 倍，存在严重的非齐次方差，OLS 功效受损严重，FGLS 加权在大样本下达到最佳线性无偏估计（BLUE）。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644"/>
        </a:solidFill>
        <a:effectLst/>
      </p:bgPr>
    </p:bg>
    <p:spTree>
      <p:nvGrpSpPr>
        <p:cNvPr id="1" name=""/>
        <p:cNvGrpSpPr/>
        <p:nvPr/>
      </p:nvGrpSpPr>
      <p:grpSpPr/>
      <p:sp>
        <p:nvSpPr>
          <p:cNvPr id="2" name="TextBox 1"/>
          <p:cNvSpPr txBox="1"/>
          <p:nvPr/>
        </p:nvSpPr>
        <p:spPr>
          <a:xfrm>
            <a:off x="914400" y="960120"/>
            <a:ext cx="9144000" cy="188976"/>
          </a:xfrm>
          <a:prstGeom prst="rect">
            <a:avLst/>
          </a:prstGeom>
          <a:noFill/>
        </p:spPr>
        <p:txBody>
          <a:bodyPr wrap="square" lIns="0" rIns="0" tIns="0" bIns="0" anchor="t">
            <a:spAutoFit/>
          </a:bodyPr>
          <a:lstStyle/>
          <a:p>
            <a:pPr algn="l"/>
            <a:r>
              <a:rPr sz="1000" b="0" i="0">
                <a:solidFill>
                  <a:srgbClr val="C8A870"/>
                </a:solidFill>
                <a:latin typeface="Times New Roman"/>
                <a:ea typeface="宋体"/>
                <a:cs typeface="Times New Roman"/>
              </a:rPr>
              <a:t>西安科技大学 · 应用统计硕士专业学位论文中期检查</a:t>
            </a:r>
          </a:p>
        </p:txBody>
      </p:sp>
      <p:sp>
        <p:nvSpPr>
          <p:cNvPr id="3" name="Rectangle 2"/>
          <p:cNvSpPr/>
          <p:nvPr/>
        </p:nvSpPr>
        <p:spPr>
          <a:xfrm>
            <a:off x="914400" y="1216152"/>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14400" y="1600200"/>
            <a:ext cx="10362895" cy="836676"/>
          </a:xfrm>
          <a:prstGeom prst="rect">
            <a:avLst/>
          </a:prstGeom>
          <a:noFill/>
        </p:spPr>
        <p:txBody>
          <a:bodyPr wrap="square" lIns="0" rIns="0" tIns="0" bIns="0" anchor="t">
            <a:spAutoFit/>
          </a:bodyPr>
          <a:lstStyle/>
          <a:p>
            <a:pPr algn="l">
              <a:lnSpc>
                <a:spcPct val="105000"/>
              </a:lnSpc>
            </a:pPr>
            <a:r>
              <a:rPr sz="5000" b="1" i="0">
                <a:solidFill>
                  <a:srgbClr val="E2DCD0"/>
                </a:solidFill>
                <a:latin typeface="Times New Roman"/>
                <a:ea typeface="宋体"/>
                <a:cs typeface="Times New Roman"/>
              </a:rPr>
              <a:t>疫情监测中的病例规模收益边界</a:t>
            </a:r>
          </a:p>
        </p:txBody>
      </p:sp>
      <p:sp>
        <p:nvSpPr>
          <p:cNvPr id="5" name="TextBox 4"/>
          <p:cNvSpPr txBox="1"/>
          <p:nvPr/>
        </p:nvSpPr>
        <p:spPr>
          <a:xfrm>
            <a:off x="914400" y="2514600"/>
            <a:ext cx="10362895" cy="478536"/>
          </a:xfrm>
          <a:prstGeom prst="rect">
            <a:avLst/>
          </a:prstGeom>
          <a:noFill/>
        </p:spPr>
        <p:txBody>
          <a:bodyPr wrap="square" lIns="0" rIns="0" tIns="0" bIns="0" anchor="t">
            <a:spAutoFit/>
          </a:bodyPr>
          <a:lstStyle/>
          <a:p>
            <a:pPr algn="l"/>
            <a:r>
              <a:rPr sz="2900" b="1" i="0">
                <a:solidFill>
                  <a:srgbClr val="8A96A8"/>
                </a:solidFill>
                <a:latin typeface="Times New Roman"/>
                <a:ea typeface="宋体"/>
                <a:cs typeface="Times New Roman"/>
              </a:rPr>
              <a:t>估计目标、环境随机性与外部验证</a:t>
            </a:r>
          </a:p>
        </p:txBody>
      </p:sp>
      <p:sp>
        <p:nvSpPr>
          <p:cNvPr id="6" name="TextBox 5"/>
          <p:cNvSpPr txBox="1"/>
          <p:nvPr/>
        </p:nvSpPr>
        <p:spPr>
          <a:xfrm>
            <a:off x="914400" y="3429000"/>
            <a:ext cx="10362895" cy="295656"/>
          </a:xfrm>
          <a:prstGeom prst="rect">
            <a:avLst/>
          </a:prstGeom>
          <a:noFill/>
        </p:spPr>
        <p:txBody>
          <a:bodyPr wrap="square" lIns="0" rIns="0" tIns="0" bIns="0" anchor="t">
            <a:spAutoFit/>
          </a:bodyPr>
          <a:lstStyle/>
          <a:p>
            <a:pPr algn="l"/>
            <a:r>
              <a:rPr sz="1700" b="0" i="0">
                <a:solidFill>
                  <a:srgbClr val="8A96A8"/>
                </a:solidFill>
                <a:latin typeface="Times New Roman"/>
                <a:ea typeface="宋体"/>
                <a:cs typeface="Times New Roman"/>
              </a:rPr>
              <a:t>开题以来的研究进展、阶段性结果与后续计划</a:t>
            </a:r>
          </a:p>
        </p:txBody>
      </p:sp>
      <p:sp>
        <p:nvSpPr>
          <p:cNvPr id="7" name="Rectangle 6"/>
          <p:cNvSpPr/>
          <p:nvPr/>
        </p:nvSpPr>
        <p:spPr>
          <a:xfrm>
            <a:off x="914400" y="5074920"/>
            <a:ext cx="10362895" cy="12700"/>
          </a:xfrm>
          <a:prstGeom prst="rect">
            <a:avLst/>
          </a:prstGeom>
          <a:solidFill>
            <a:srgbClr val="2E3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4400" y="5230368"/>
            <a:ext cx="2407843" cy="188976"/>
          </a:xfrm>
          <a:prstGeom prst="rect">
            <a:avLst/>
          </a:prstGeom>
          <a:noFill/>
        </p:spPr>
        <p:txBody>
          <a:bodyPr wrap="square" lIns="0" rIns="0" tIns="0" bIns="0" anchor="t">
            <a:spAutoFit/>
          </a:bodyPr>
          <a:lstStyle/>
          <a:p>
            <a:pPr algn="l"/>
            <a:r>
              <a:rPr sz="1000" b="0" i="0">
                <a:solidFill>
                  <a:srgbClr val="8A96A8"/>
                </a:solidFill>
                <a:latin typeface="Times New Roman"/>
                <a:ea typeface="宋体"/>
                <a:cs typeface="Times New Roman"/>
              </a:rPr>
              <a:t>汇报人</a:t>
            </a:r>
          </a:p>
        </p:txBody>
      </p:sp>
      <p:sp>
        <p:nvSpPr>
          <p:cNvPr id="9" name="TextBox 8"/>
          <p:cNvSpPr txBox="1"/>
          <p:nvPr/>
        </p:nvSpPr>
        <p:spPr>
          <a:xfrm>
            <a:off x="914400" y="5486400"/>
            <a:ext cx="2407843" cy="249935"/>
          </a:xfrm>
          <a:prstGeom prst="rect">
            <a:avLst/>
          </a:prstGeom>
          <a:noFill/>
        </p:spPr>
        <p:txBody>
          <a:bodyPr wrap="square" lIns="0" rIns="0" tIns="0" bIns="0" anchor="t">
            <a:spAutoFit/>
          </a:bodyPr>
          <a:lstStyle/>
          <a:p>
            <a:pPr algn="l"/>
            <a:r>
              <a:rPr sz="1400" b="0" i="0">
                <a:solidFill>
                  <a:srgbClr val="E2DCD0"/>
                </a:solidFill>
                <a:latin typeface="Times New Roman"/>
                <a:ea typeface="宋体"/>
                <a:cs typeface="Times New Roman"/>
              </a:rPr>
              <a:t>王驰</a:t>
            </a:r>
          </a:p>
        </p:txBody>
      </p:sp>
      <p:sp>
        <p:nvSpPr>
          <p:cNvPr id="10" name="TextBox 9"/>
          <p:cNvSpPr txBox="1"/>
          <p:nvPr/>
        </p:nvSpPr>
        <p:spPr>
          <a:xfrm>
            <a:off x="3505123" y="5230368"/>
            <a:ext cx="2407843" cy="188976"/>
          </a:xfrm>
          <a:prstGeom prst="rect">
            <a:avLst/>
          </a:prstGeom>
          <a:noFill/>
        </p:spPr>
        <p:txBody>
          <a:bodyPr wrap="square" lIns="0" rIns="0" tIns="0" bIns="0" anchor="t">
            <a:spAutoFit/>
          </a:bodyPr>
          <a:lstStyle/>
          <a:p>
            <a:pPr algn="l"/>
            <a:r>
              <a:rPr sz="1000" b="0" i="0">
                <a:solidFill>
                  <a:srgbClr val="8A96A8"/>
                </a:solidFill>
                <a:latin typeface="Times New Roman"/>
                <a:ea typeface="宋体"/>
                <a:cs typeface="Times New Roman"/>
              </a:rPr>
              <a:t>学号</a:t>
            </a:r>
          </a:p>
        </p:txBody>
      </p:sp>
      <p:sp>
        <p:nvSpPr>
          <p:cNvPr id="11" name="TextBox 10"/>
          <p:cNvSpPr txBox="1"/>
          <p:nvPr/>
        </p:nvSpPr>
        <p:spPr>
          <a:xfrm>
            <a:off x="3505123" y="5486400"/>
            <a:ext cx="2407843" cy="249935"/>
          </a:xfrm>
          <a:prstGeom prst="rect">
            <a:avLst/>
          </a:prstGeom>
          <a:noFill/>
        </p:spPr>
        <p:txBody>
          <a:bodyPr wrap="square" lIns="0" rIns="0" tIns="0" bIns="0" anchor="t">
            <a:spAutoFit/>
          </a:bodyPr>
          <a:lstStyle/>
          <a:p>
            <a:pPr algn="l"/>
            <a:r>
              <a:rPr sz="1400" b="0" i="0">
                <a:solidFill>
                  <a:srgbClr val="E2DCD0"/>
                </a:solidFill>
                <a:latin typeface="Times New Roman"/>
                <a:ea typeface="宋体"/>
                <a:cs typeface="Times New Roman"/>
              </a:rPr>
              <a:t>24201221020</a:t>
            </a:r>
          </a:p>
        </p:txBody>
      </p:sp>
      <p:sp>
        <p:nvSpPr>
          <p:cNvPr id="12" name="TextBox 11"/>
          <p:cNvSpPr txBox="1"/>
          <p:nvPr/>
        </p:nvSpPr>
        <p:spPr>
          <a:xfrm>
            <a:off x="6095847" y="5230368"/>
            <a:ext cx="2407843" cy="188976"/>
          </a:xfrm>
          <a:prstGeom prst="rect">
            <a:avLst/>
          </a:prstGeom>
          <a:noFill/>
        </p:spPr>
        <p:txBody>
          <a:bodyPr wrap="square" lIns="0" rIns="0" tIns="0" bIns="0" anchor="t">
            <a:spAutoFit/>
          </a:bodyPr>
          <a:lstStyle/>
          <a:p>
            <a:pPr algn="l"/>
            <a:r>
              <a:rPr sz="1000" b="0" i="0">
                <a:solidFill>
                  <a:srgbClr val="8A96A8"/>
                </a:solidFill>
                <a:latin typeface="Times New Roman"/>
                <a:ea typeface="宋体"/>
                <a:cs typeface="Times New Roman"/>
              </a:rPr>
              <a:t>校内导师</a:t>
            </a:r>
          </a:p>
        </p:txBody>
      </p:sp>
      <p:sp>
        <p:nvSpPr>
          <p:cNvPr id="13" name="TextBox 12"/>
          <p:cNvSpPr txBox="1"/>
          <p:nvPr/>
        </p:nvSpPr>
        <p:spPr>
          <a:xfrm>
            <a:off x="6095847" y="5486400"/>
            <a:ext cx="2407843" cy="249935"/>
          </a:xfrm>
          <a:prstGeom prst="rect">
            <a:avLst/>
          </a:prstGeom>
          <a:noFill/>
        </p:spPr>
        <p:txBody>
          <a:bodyPr wrap="square" lIns="0" rIns="0" tIns="0" bIns="0" anchor="t">
            <a:spAutoFit/>
          </a:bodyPr>
          <a:lstStyle/>
          <a:p>
            <a:pPr algn="l"/>
            <a:r>
              <a:rPr sz="1400" b="0" i="0">
                <a:solidFill>
                  <a:srgbClr val="E2DCD0"/>
                </a:solidFill>
                <a:latin typeface="Times New Roman"/>
                <a:ea typeface="宋体"/>
                <a:cs typeface="Times New Roman"/>
              </a:rPr>
              <a:t>张仲华</a:t>
            </a:r>
          </a:p>
        </p:txBody>
      </p:sp>
      <p:sp>
        <p:nvSpPr>
          <p:cNvPr id="14" name="TextBox 13"/>
          <p:cNvSpPr txBox="1"/>
          <p:nvPr/>
        </p:nvSpPr>
        <p:spPr>
          <a:xfrm>
            <a:off x="8686571" y="5230368"/>
            <a:ext cx="2407843" cy="188976"/>
          </a:xfrm>
          <a:prstGeom prst="rect">
            <a:avLst/>
          </a:prstGeom>
          <a:noFill/>
        </p:spPr>
        <p:txBody>
          <a:bodyPr wrap="square" lIns="0" rIns="0" tIns="0" bIns="0" anchor="t">
            <a:spAutoFit/>
          </a:bodyPr>
          <a:lstStyle/>
          <a:p>
            <a:pPr algn="l"/>
            <a:r>
              <a:rPr sz="1000" b="0" i="0">
                <a:solidFill>
                  <a:srgbClr val="8A96A8"/>
                </a:solidFill>
                <a:latin typeface="Times New Roman"/>
                <a:ea typeface="宋体"/>
                <a:cs typeface="Times New Roman"/>
              </a:rPr>
              <a:t>日期</a:t>
            </a:r>
          </a:p>
        </p:txBody>
      </p:sp>
      <p:sp>
        <p:nvSpPr>
          <p:cNvPr id="15" name="TextBox 14"/>
          <p:cNvSpPr txBox="1"/>
          <p:nvPr/>
        </p:nvSpPr>
        <p:spPr>
          <a:xfrm>
            <a:off x="8686571" y="5486400"/>
            <a:ext cx="2407843" cy="249935"/>
          </a:xfrm>
          <a:prstGeom prst="rect">
            <a:avLst/>
          </a:prstGeom>
          <a:noFill/>
        </p:spPr>
        <p:txBody>
          <a:bodyPr wrap="square" lIns="0" rIns="0" tIns="0" bIns="0" anchor="t">
            <a:spAutoFit/>
          </a:bodyPr>
          <a:lstStyle/>
          <a:p>
            <a:pPr algn="l"/>
            <a:r>
              <a:rPr sz="1400" b="0" i="0">
                <a:solidFill>
                  <a:srgbClr val="E2DCD0"/>
                </a:solidFill>
                <a:latin typeface="Times New Roman"/>
                <a:ea typeface="宋体"/>
                <a:cs typeface="Times New Roman"/>
              </a:rPr>
              <a:t>2026 年 10 月 12 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02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背景与动机</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背景与动机</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监测规模扩大后预测精度趋于平台，扩容的边际收益需要量化</a:t>
            </a:r>
          </a:p>
        </p:txBody>
      </p:sp>
      <p:sp>
        <p:nvSpPr>
          <p:cNvPr id="11" name="Rectangle 10"/>
          <p:cNvSpPr/>
          <p:nvPr/>
        </p:nvSpPr>
        <p:spPr>
          <a:xfrm>
            <a:off x="914400" y="2013204"/>
            <a:ext cx="3246120"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14400" y="2177796"/>
            <a:ext cx="3246120" cy="1280160"/>
          </a:xfrm>
          <a:prstGeom prst="rect">
            <a:avLst/>
          </a:prstGeom>
          <a:noFill/>
        </p:spPr>
        <p:txBody>
          <a:bodyPr wrap="square" lIns="0" rIns="0" tIns="0" bIns="0" anchor="t">
            <a:spAutoFit/>
          </a:bodyPr>
          <a:lstStyle/>
          <a:p>
            <a:pPr algn="l">
              <a:lnSpc>
                <a:spcPct val="160000"/>
              </a:lnSpc>
            </a:pPr>
            <a:r>
              <a:rPr sz="1700" b="0" i="0">
                <a:solidFill>
                  <a:srgbClr val="1A2030"/>
                </a:solidFill>
                <a:latin typeface="Times New Roman"/>
                <a:ea typeface="宋体"/>
                <a:cs typeface="Times New Roman"/>
              </a:rPr>
              <a:t>监测扩容有成本；规模收益的边界决定资源应投向扩容还是改进推断。</a:t>
            </a:r>
          </a:p>
        </p:txBody>
      </p:sp>
      <p:sp>
        <p:nvSpPr>
          <p:cNvPr id="13" name="TextBox 12"/>
          <p:cNvSpPr txBox="1"/>
          <p:nvPr/>
        </p:nvSpPr>
        <p:spPr>
          <a:xfrm>
            <a:off x="914400" y="5257800"/>
            <a:ext cx="3246120" cy="790956"/>
          </a:xfrm>
          <a:prstGeom prst="rect">
            <a:avLst/>
          </a:prstGeom>
          <a:noFill/>
        </p:spPr>
        <p:txBody>
          <a:bodyPr wrap="square" lIns="0" rIns="0" tIns="0" bIns="0" anchor="t">
            <a:spAutoFit/>
          </a:bodyPr>
          <a:lstStyle/>
          <a:p>
            <a:pPr algn="l">
              <a:lnSpc>
                <a:spcPct val="150000"/>
              </a:lnSpc>
            </a:pPr>
            <a:r>
              <a:rPr sz="1100" b="0" i="0">
                <a:solidFill>
                  <a:srgbClr val="5A6270"/>
                </a:solidFill>
                <a:latin typeface="Times New Roman"/>
                <a:ea typeface="宋体"/>
                <a:cs typeface="Times New Roman"/>
              </a:rPr>
              <a:t>题目变更：原开题题目为《基于实际数据校正的 COVID-19 多维控制策略研究》，经导师论证变更为现题目。</a:t>
            </a:r>
          </a:p>
        </p:txBody>
      </p:sp>
      <p:sp>
        <p:nvSpPr>
          <p:cNvPr id="14" name="Rectangle 13"/>
          <p:cNvSpPr/>
          <p:nvPr/>
        </p:nvSpPr>
        <p:spPr>
          <a:xfrm>
            <a:off x="4709159" y="2013204"/>
            <a:ext cx="656813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709159" y="2214372"/>
            <a:ext cx="6568135" cy="2020824"/>
          </a:xfrm>
          <a:prstGeom prst="rect">
            <a:avLst/>
          </a:prstGeom>
          <a:noFill/>
        </p:spPr>
        <p:txBody>
          <a:bodyPr wrap="square" lIns="0" rIns="0" tIns="0" bIns="0">
            <a:spAutoFit/>
          </a:bodyPr>
          <a:lstStyle/>
          <a:p>
            <a:pPr indent="-256032" marL="256032">
              <a:lnSpc>
                <a:spcPct val="170000"/>
              </a:lnSpc>
              <a:spcAft>
                <a:spcPts val="0"/>
              </a:spcAft>
            </a:pPr>
            <a:r>
              <a:rPr sz="1400">
                <a:solidFill>
                  <a:srgbClr val="5A6270"/>
                </a:solidFill>
                <a:latin typeface="Times New Roman"/>
                <a:ea typeface="宋体"/>
                <a:cs typeface="Times New Roman"/>
              </a:rPr>
              <a:t>— </a:t>
            </a:r>
            <a:r>
              <a:rPr sz="1400">
                <a:solidFill>
                  <a:srgbClr val="1A2030"/>
                </a:solidFill>
                <a:latin typeface="Times New Roman"/>
                <a:ea typeface="宋体"/>
                <a:cs typeface="Times New Roman"/>
              </a:rPr>
              <a:t>病例监测网络持续扩容，网络维护与单例检测都有成本</a:t>
            </a:r>
          </a:p>
          <a:p>
            <a:pPr indent="-256032" marL="256032">
              <a:lnSpc>
                <a:spcPct val="170000"/>
              </a:lnSpc>
              <a:spcBef>
                <a:spcPts val="1400"/>
              </a:spcBef>
              <a:spcAft>
                <a:spcPts val="0"/>
              </a:spcAft>
            </a:pPr>
            <a:r>
              <a:rPr sz="1400">
                <a:solidFill>
                  <a:srgbClr val="5A6270"/>
                </a:solidFill>
                <a:latin typeface="Times New Roman"/>
                <a:ea typeface="宋体"/>
                <a:cs typeface="Times New Roman"/>
              </a:rPr>
              <a:t>— </a:t>
            </a:r>
            <a:r>
              <a:rPr sz="1400">
                <a:solidFill>
                  <a:srgbClr val="1A2030"/>
                </a:solidFill>
                <a:latin typeface="Times New Roman"/>
                <a:ea typeface="宋体"/>
                <a:cs typeface="Times New Roman"/>
              </a:rPr>
              <a:t>监测数据中，病例规模扩大后短期预测精度的改善放缓并趋于平台</a:t>
            </a:r>
          </a:p>
          <a:p>
            <a:pPr indent="-256032" marL="256032">
              <a:lnSpc>
                <a:spcPct val="170000"/>
              </a:lnSpc>
              <a:spcBef>
                <a:spcPts val="1400"/>
              </a:spcBef>
              <a:spcAft>
                <a:spcPts val="0"/>
              </a:spcAft>
            </a:pPr>
            <a:r>
              <a:rPr sz="1400">
                <a:solidFill>
                  <a:srgbClr val="5A6270"/>
                </a:solidFill>
                <a:latin typeface="Times New Roman"/>
                <a:ea typeface="宋体"/>
                <a:cs typeface="Times New Roman"/>
              </a:rPr>
              <a:t>— </a:t>
            </a:r>
            <a:r>
              <a:rPr sz="1400">
                <a:solidFill>
                  <a:srgbClr val="1A2030"/>
                </a:solidFill>
                <a:latin typeface="Times New Roman"/>
                <a:ea typeface="宋体"/>
                <a:cs typeface="Times New Roman"/>
              </a:rPr>
              <a:t>Fisher 信息文献中「信息随病例数线性增长」的结论针对当期再生数 Rt</a:t>
            </a:r>
          </a:p>
          <a:p>
            <a:pPr indent="-256032" marL="256032">
              <a:lnSpc>
                <a:spcPct val="170000"/>
              </a:lnSpc>
              <a:spcBef>
                <a:spcPts val="1400"/>
              </a:spcBef>
              <a:spcAft>
                <a:spcPts val="0"/>
              </a:spcAft>
            </a:pPr>
            <a:r>
              <a:rPr sz="1400">
                <a:solidFill>
                  <a:srgbClr val="5A6270"/>
                </a:solidFill>
                <a:latin typeface="Times New Roman"/>
                <a:ea typeface="宋体"/>
                <a:cs typeface="Times New Roman"/>
              </a:rPr>
              <a:t>— </a:t>
            </a:r>
            <a:r>
              <a:rPr sz="1400">
                <a:solidFill>
                  <a:srgbClr val="1A2030"/>
                </a:solidFill>
                <a:latin typeface="Times New Roman"/>
                <a:ea typeface="宋体"/>
                <a:cs typeface="Times New Roman"/>
              </a:rPr>
              <a:t>误差若主要来自与规模无关的环境随机性，继续扩容的收益有限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03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研究问题与目标</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研究问题与目标</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核心问题是病例监测规模对推断精度的收益边界及其决定因素</a:t>
            </a:r>
          </a:p>
        </p:txBody>
      </p:sp>
      <p:sp>
        <p:nvSpPr>
          <p:cNvPr id="11" name="TextBox 10"/>
          <p:cNvSpPr txBox="1"/>
          <p:nvPr/>
        </p:nvSpPr>
        <p:spPr>
          <a:xfrm>
            <a:off x="914400" y="1876044"/>
            <a:ext cx="10362895" cy="425196"/>
          </a:xfrm>
          <a:prstGeom prst="rect">
            <a:avLst/>
          </a:prstGeom>
          <a:noFill/>
        </p:spPr>
        <p:txBody>
          <a:bodyPr wrap="square" lIns="0" rIns="0" tIns="0" bIns="0" anchor="t">
            <a:spAutoFit/>
          </a:bodyPr>
          <a:lstStyle/>
          <a:p>
            <a:pPr algn="l">
              <a:lnSpc>
                <a:spcPct val="150000"/>
              </a:lnSpc>
            </a:pPr>
            <a:r>
              <a:rPr sz="1700" b="0" i="0">
                <a:solidFill>
                  <a:srgbClr val="5A6270"/>
                </a:solidFill>
                <a:latin typeface="Times New Roman"/>
                <a:ea typeface="宋体"/>
                <a:cs typeface="Times New Roman"/>
              </a:rPr>
              <a:t>研究问题：病例规模扩大时，推断精度的收益在何处放缓，放缓由哪些随机性来源决定。</a:t>
            </a:r>
          </a:p>
        </p:txBody>
      </p:sp>
      <p:sp>
        <p:nvSpPr>
          <p:cNvPr id="12" name="Rectangle 11"/>
          <p:cNvSpPr/>
          <p:nvPr/>
        </p:nvSpPr>
        <p:spPr>
          <a:xfrm>
            <a:off x="914400" y="2561844"/>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914400" y="2561844"/>
            <a:ext cx="384048"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2726436"/>
            <a:ext cx="822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01</a:t>
            </a:r>
          </a:p>
        </p:txBody>
      </p:sp>
      <p:sp>
        <p:nvSpPr>
          <p:cNvPr id="15" name="TextBox 14"/>
          <p:cNvSpPr txBox="1"/>
          <p:nvPr/>
        </p:nvSpPr>
        <p:spPr>
          <a:xfrm>
            <a:off x="1828800" y="2744724"/>
            <a:ext cx="3108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构建双层随机模型</a:t>
            </a:r>
          </a:p>
        </p:txBody>
      </p:sp>
      <p:sp>
        <p:nvSpPr>
          <p:cNvPr id="16" name="TextBox 15"/>
          <p:cNvSpPr txBox="1"/>
          <p:nvPr/>
        </p:nvSpPr>
        <p:spPr>
          <a:xfrm>
            <a:off x="5120640" y="2763012"/>
            <a:ext cx="6156655" cy="35661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负二项分支过程刻画超传播，二项抽稀刻画不完全报告</a:t>
            </a:r>
          </a:p>
        </p:txBody>
      </p:sp>
      <p:sp>
        <p:nvSpPr>
          <p:cNvPr id="17" name="Rectangle 16"/>
          <p:cNvSpPr/>
          <p:nvPr/>
        </p:nvSpPr>
        <p:spPr>
          <a:xfrm>
            <a:off x="914400" y="334822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14400" y="3348228"/>
            <a:ext cx="384048"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3512820"/>
            <a:ext cx="822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02</a:t>
            </a:r>
          </a:p>
        </p:txBody>
      </p:sp>
      <p:sp>
        <p:nvSpPr>
          <p:cNvPr id="20" name="TextBox 19"/>
          <p:cNvSpPr txBox="1"/>
          <p:nvPr/>
        </p:nvSpPr>
        <p:spPr>
          <a:xfrm>
            <a:off x="1828800" y="3531108"/>
            <a:ext cx="3108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区分两类估计目标</a:t>
            </a:r>
          </a:p>
        </p:txBody>
      </p:sp>
      <p:sp>
        <p:nvSpPr>
          <p:cNvPr id="21" name="TextBox 20"/>
          <p:cNvSpPr txBox="1"/>
          <p:nvPr/>
        </p:nvSpPr>
        <p:spPr>
          <a:xfrm>
            <a:off x="5120640" y="3549396"/>
            <a:ext cx="6156655" cy="35661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推导当期 Rt 与跨期 R̄ 的方差结构，定义方差平衡点 m×</a:t>
            </a:r>
          </a:p>
        </p:txBody>
      </p:sp>
      <p:sp>
        <p:nvSpPr>
          <p:cNvPr id="22" name="Rectangle 21"/>
          <p:cNvSpPr/>
          <p:nvPr/>
        </p:nvSpPr>
        <p:spPr>
          <a:xfrm>
            <a:off x="914400" y="4134612"/>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14400" y="4134612"/>
            <a:ext cx="384048"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4400" y="4299204"/>
            <a:ext cx="822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03</a:t>
            </a:r>
          </a:p>
        </p:txBody>
      </p:sp>
      <p:sp>
        <p:nvSpPr>
          <p:cNvPr id="25" name="TextBox 24"/>
          <p:cNvSpPr txBox="1"/>
          <p:nvPr/>
        </p:nvSpPr>
        <p:spPr>
          <a:xfrm>
            <a:off x="1828800" y="4317492"/>
            <a:ext cx="3108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真实数据实证检验</a:t>
            </a:r>
          </a:p>
        </p:txBody>
      </p:sp>
      <p:sp>
        <p:nvSpPr>
          <p:cNvPr id="26" name="TextBox 25"/>
          <p:cNvSpPr txBox="1"/>
          <p:nvPr/>
        </p:nvSpPr>
        <p:spPr>
          <a:xfrm>
            <a:off x="5120640" y="4335780"/>
            <a:ext cx="6156655" cy="35661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以 CDC NHSN 周度流感住院数据检验仿射误差结构</a:t>
            </a:r>
          </a:p>
        </p:txBody>
      </p:sp>
      <p:sp>
        <p:nvSpPr>
          <p:cNvPr id="27" name="Rectangle 26"/>
          <p:cNvSpPr/>
          <p:nvPr/>
        </p:nvSpPr>
        <p:spPr>
          <a:xfrm>
            <a:off x="914400" y="4920996"/>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4400" y="4920996"/>
            <a:ext cx="384048"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14400" y="5085588"/>
            <a:ext cx="822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04</a:t>
            </a:r>
          </a:p>
        </p:txBody>
      </p:sp>
      <p:sp>
        <p:nvSpPr>
          <p:cNvPr id="30" name="TextBox 29"/>
          <p:cNvSpPr txBox="1"/>
          <p:nvPr/>
        </p:nvSpPr>
        <p:spPr>
          <a:xfrm>
            <a:off x="1828800" y="5103876"/>
            <a:ext cx="3108960"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外部验证与资源配置</a:t>
            </a:r>
          </a:p>
        </p:txBody>
      </p:sp>
      <p:sp>
        <p:nvSpPr>
          <p:cNvPr id="31" name="TextBox 30"/>
          <p:cNvSpPr txBox="1"/>
          <p:nvPr/>
        </p:nvSpPr>
        <p:spPr>
          <a:xfrm>
            <a:off x="5120640" y="5122164"/>
            <a:ext cx="6156655" cy="35661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检验结论适用边界，推导预算约束下的最优单期规模</a:t>
            </a:r>
          </a:p>
        </p:txBody>
      </p:sp>
      <p:sp>
        <p:nvSpPr>
          <p:cNvPr id="32" name="Rectangle 31"/>
          <p:cNvSpPr/>
          <p:nvPr/>
        </p:nvSpPr>
        <p:spPr>
          <a:xfrm>
            <a:off x="914400" y="570738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04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研究方法</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研究方法</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研究方法由传播—报告模型、两类估计目标与三重检验构成</a:t>
            </a:r>
          </a:p>
        </p:txBody>
      </p:sp>
      <p:pic>
        <p:nvPicPr>
          <p:cNvPr id="11" name="Picture 10" descr="method_flow.png"/>
          <p:cNvPicPr>
            <a:picLocks noChangeAspect="1"/>
          </p:cNvPicPr>
          <p:nvPr/>
        </p:nvPicPr>
        <p:blipFill>
          <a:blip r:embed="rId2"/>
          <a:srcRect t="23500" b="31500"/>
          <a:stretch>
            <a:fillRect/>
          </a:stretch>
        </p:blipFill>
        <p:spPr>
          <a:xfrm>
            <a:off x="1432407" y="1766316"/>
            <a:ext cx="9326880" cy="2798064"/>
          </a:xfrm>
          <a:prstGeom prst="rect">
            <a:avLst/>
          </a:prstGeom>
        </p:spPr>
      </p:pic>
      <p:sp>
        <p:nvSpPr>
          <p:cNvPr id="12" name="TextBox 11"/>
          <p:cNvSpPr txBox="1"/>
          <p:nvPr/>
        </p:nvSpPr>
        <p:spPr>
          <a:xfrm>
            <a:off x="914400" y="4600956"/>
            <a:ext cx="10362895" cy="204216"/>
          </a:xfrm>
          <a:prstGeom prst="rect">
            <a:avLst/>
          </a:prstGeom>
          <a:noFill/>
        </p:spPr>
        <p:txBody>
          <a:bodyPr wrap="square" lIns="0" rIns="0" tIns="0" bIns="0" anchor="t">
            <a:spAutoFit/>
          </a:bodyPr>
          <a:lstStyle/>
          <a:p>
            <a:pPr algn="l"/>
            <a:r>
              <a:rPr sz="1100" b="0" i="0">
                <a:solidFill>
                  <a:srgbClr val="5A6270"/>
                </a:solidFill>
                <a:latin typeface="Times New Roman"/>
                <a:ea typeface="宋体"/>
                <a:cs typeface="Times New Roman"/>
              </a:rPr>
              <a:t>图：研究技术路线（image-2 依据小论文结构绘制）</a:t>
            </a:r>
          </a:p>
        </p:txBody>
      </p:sp>
      <p:sp>
        <p:nvSpPr>
          <p:cNvPr id="13" name="Rectangle 12"/>
          <p:cNvSpPr/>
          <p:nvPr/>
        </p:nvSpPr>
        <p:spPr>
          <a:xfrm>
            <a:off x="914400" y="4930140"/>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14400" y="4930140"/>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021580"/>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模型</a:t>
            </a:r>
          </a:p>
        </p:txBody>
      </p:sp>
      <p:sp>
        <p:nvSpPr>
          <p:cNvPr id="16" name="TextBox 15"/>
          <p:cNvSpPr txBox="1"/>
          <p:nvPr/>
        </p:nvSpPr>
        <p:spPr>
          <a:xfrm>
            <a:off x="914400" y="5241036"/>
            <a:ext cx="3210458" cy="964692"/>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负二项分支刻画超传播（离散参数 k），二项抽稀刻画报告率 ρ；报告病例仍服从负二项分布</a:t>
            </a:r>
          </a:p>
        </p:txBody>
      </p:sp>
      <p:sp>
        <p:nvSpPr>
          <p:cNvPr id="17" name="Rectangle 16"/>
          <p:cNvSpPr/>
          <p:nvPr/>
        </p:nvSpPr>
        <p:spPr>
          <a:xfrm>
            <a:off x="4490618" y="4930140"/>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490618" y="4930140"/>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90618" y="5021580"/>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推断</a:t>
            </a:r>
          </a:p>
        </p:txBody>
      </p:sp>
      <p:sp>
        <p:nvSpPr>
          <p:cNvPr id="20" name="TextBox 19"/>
          <p:cNvSpPr txBox="1"/>
          <p:nvPr/>
        </p:nvSpPr>
        <p:spPr>
          <a:xfrm>
            <a:off x="4490618" y="5241036"/>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目标 A 估计量达到 Cramér–Rao 下界；目标 B 方差含不可约的环境方差</a:t>
            </a:r>
          </a:p>
        </p:txBody>
      </p:sp>
      <p:sp>
        <p:nvSpPr>
          <p:cNvPr id="21" name="Rectangle 20"/>
          <p:cNvSpPr/>
          <p:nvPr/>
        </p:nvSpPr>
        <p:spPr>
          <a:xfrm>
            <a:off x="8066836" y="4930140"/>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66836" y="4930140"/>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66836" y="5021580"/>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检验</a:t>
            </a:r>
          </a:p>
        </p:txBody>
      </p:sp>
      <p:sp>
        <p:nvSpPr>
          <p:cNvPr id="24" name="TextBox 23"/>
          <p:cNvSpPr txBox="1"/>
          <p:nvPr/>
        </p:nvSpPr>
        <p:spPr>
          <a:xfrm>
            <a:off x="8066836" y="5241036"/>
            <a:ext cx="3210458" cy="964692"/>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FGLS 拟合 RelMSE = a + b/Dt，按州聚类 Bootstrap 1,500 次；分季 2SLS 稳健性检验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05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关键结果一 · 理论与模拟</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关键结果一 · 理论与模拟</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跨期目标的方差存在环境底板，越过平衡点后扩大规模收益减弱</a:t>
            </a:r>
          </a:p>
        </p:txBody>
      </p:sp>
      <p:pic>
        <p:nvPicPr>
          <p:cNvPr id="11" name="Picture 10" descr="fig_theory.png"/>
          <p:cNvPicPr>
            <a:picLocks noChangeAspect="1"/>
          </p:cNvPicPr>
          <p:nvPr/>
        </p:nvPicPr>
        <p:blipFill>
          <a:blip r:embed="rId2"/>
          <a:stretch>
            <a:fillRect/>
          </a:stretch>
        </p:blipFill>
        <p:spPr>
          <a:xfrm>
            <a:off x="1340967" y="1766316"/>
            <a:ext cx="9509760" cy="2647517"/>
          </a:xfrm>
          <a:prstGeom prst="rect">
            <a:avLst/>
          </a:prstGeom>
        </p:spPr>
      </p:pic>
      <p:sp>
        <p:nvSpPr>
          <p:cNvPr id="12" name="TextBox 11"/>
          <p:cNvSpPr txBox="1"/>
          <p:nvPr/>
        </p:nvSpPr>
        <p:spPr>
          <a:xfrm>
            <a:off x="914400" y="4450409"/>
            <a:ext cx="10362895" cy="204216"/>
          </a:xfrm>
          <a:prstGeom prst="rect">
            <a:avLst/>
          </a:prstGeom>
          <a:noFill/>
        </p:spPr>
        <p:txBody>
          <a:bodyPr wrap="square" lIns="0" rIns="0" tIns="0" bIns="0" anchor="t">
            <a:spAutoFit/>
          </a:bodyPr>
          <a:lstStyle/>
          <a:p>
            <a:pPr algn="l"/>
            <a:r>
              <a:rPr>
                <a:latin typeface="Times New Roman"/>
                <a:ea typeface="宋体"/>
              </a:rPr>
              <a:t>命题 2 · 负二项超传播基础 (Lloyd-Smith et al., Nature 2005)</a:t>
            </a:r>
          </a:p>
        </p:txBody>
      </p:sp>
      <p:sp>
        <p:nvSpPr>
          <p:cNvPr id="13" name="Rectangle 12"/>
          <p:cNvSpPr/>
          <p:nvPr/>
        </p:nvSpPr>
        <p:spPr>
          <a:xfrm>
            <a:off x="914400" y="4864608"/>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14400" y="4864608"/>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4956048"/>
            <a:ext cx="3210458" cy="188976"/>
          </a:xfrm>
          <a:prstGeom prst="rect">
            <a:avLst/>
          </a:prstGeom>
          <a:noFill/>
        </p:spPr>
        <p:txBody>
          <a:bodyPr wrap="square" lIns="0" rIns="0" tIns="0" bIns="0" anchor="t">
            <a:spAutoFit/>
          </a:bodyPr>
          <a:lstStyle/>
          <a:p>
            <a:pPr algn="l"/>
            <a:r>
              <a:rPr>
                <a:latin typeface="Times New Roman"/>
                <a:ea typeface="宋体"/>
              </a:rPr>
              <a:t>命题 2 · 负二项超传播基础 (Lloyd-Smith et al., Nature 2005)</a:t>
            </a:r>
          </a:p>
        </p:txBody>
      </p:sp>
      <p:pic>
        <p:nvPicPr>
          <p:cNvPr id="16" name="Picture 15" descr="formula_prop2.png"/>
          <p:cNvPicPr>
            <a:picLocks noChangeAspect="1"/>
          </p:cNvPicPr>
          <p:nvPr/>
        </p:nvPicPr>
        <p:blipFill>
          <a:blip r:embed="rId3"/>
          <a:stretch>
            <a:fillRect/>
          </a:stretch>
        </p:blipFill>
        <p:spPr>
          <a:xfrm>
            <a:off x="914400" y="5193792"/>
            <a:ext cx="2344069" cy="1024128"/>
          </a:xfrm>
          <a:prstGeom prst="rect">
            <a:avLst/>
          </a:prstGeom>
        </p:spPr>
      </p:pic>
      <p:sp>
        <p:nvSpPr>
          <p:cNvPr id="17" name="Rectangle 16"/>
          <p:cNvSpPr/>
          <p:nvPr/>
        </p:nvSpPr>
        <p:spPr>
          <a:xfrm>
            <a:off x="4490618" y="4864608"/>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490618" y="4864608"/>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90618" y="4956048"/>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命题 3</a:t>
            </a:r>
          </a:p>
        </p:txBody>
      </p:sp>
      <p:sp>
        <p:nvSpPr>
          <p:cNvPr id="20" name="TextBox 19"/>
          <p:cNvSpPr txBox="1"/>
          <p:nvPr/>
        </p:nvSpPr>
        <p:spPr>
          <a:xfrm>
            <a:off x="4490618" y="5175504"/>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ρ → 1 时方差仍高于 vR，扩大感染基数 n 才能逼近底板</a:t>
            </a:r>
          </a:p>
        </p:txBody>
      </p:sp>
      <p:sp>
        <p:nvSpPr>
          <p:cNvPr id="21" name="Rectangle 20"/>
          <p:cNvSpPr/>
          <p:nvPr/>
        </p:nvSpPr>
        <p:spPr>
          <a:xfrm>
            <a:off x="8066836" y="4864608"/>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66836" y="4864608"/>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66836" y="4956048"/>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模拟验证</a:t>
            </a:r>
          </a:p>
        </p:txBody>
      </p:sp>
      <p:sp>
        <p:nvSpPr>
          <p:cNvPr id="24" name="TextBox 23"/>
          <p:cNvSpPr txBox="1"/>
          <p:nvPr/>
        </p:nvSpPr>
        <p:spPr>
          <a:xfrm>
            <a:off x="8066836" y="5175504"/>
            <a:ext cx="3210458" cy="964692"/>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50,000 次重复，仿真/解析方差比 0.988–1.017；m = 5、k = 0.1 时 Wald 检验第一类错误 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06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关键结果二 · NHSN 实证</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关键结果二 · NHSN 实证</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流行初期误差随规模按 1/D 递减，经验平衡点约 22.6 例/周</a:t>
            </a:r>
          </a:p>
        </p:txBody>
      </p:sp>
      <p:pic>
        <p:nvPicPr>
          <p:cNvPr id="11" name="Picture 10" descr="fig_empirical.png"/>
          <p:cNvPicPr>
            <a:picLocks noChangeAspect="1"/>
          </p:cNvPicPr>
          <p:nvPr/>
        </p:nvPicPr>
        <p:blipFill>
          <a:blip r:embed="rId2"/>
          <a:stretch>
            <a:fillRect/>
          </a:stretch>
        </p:blipFill>
        <p:spPr>
          <a:xfrm>
            <a:off x="1249527" y="1766316"/>
            <a:ext cx="9692640" cy="2981455"/>
          </a:xfrm>
          <a:prstGeom prst="rect">
            <a:avLst/>
          </a:prstGeom>
        </p:spPr>
      </p:pic>
      <p:sp>
        <p:nvSpPr>
          <p:cNvPr id="12" name="TextBox 11"/>
          <p:cNvSpPr txBox="1"/>
          <p:nvPr/>
        </p:nvSpPr>
        <p:spPr>
          <a:xfrm>
            <a:off x="914400" y="4784348"/>
            <a:ext cx="10362895" cy="204216"/>
          </a:xfrm>
          <a:prstGeom prst="rect">
            <a:avLst/>
          </a:prstGeom>
          <a:noFill/>
        </p:spPr>
        <p:txBody>
          <a:bodyPr wrap="square" lIns="0" rIns="0" tIns="0" bIns="0" anchor="t">
            <a:spAutoFit/>
          </a:bodyPr>
          <a:lstStyle/>
          <a:p>
            <a:pPr algn="l"/>
            <a:r>
              <a:rPr sz="1100" b="0" i="0">
                <a:solidFill>
                  <a:srgbClr val="5A6270"/>
                </a:solidFill>
                <a:latin typeface="Times New Roman"/>
                <a:ea typeface="宋体"/>
                <a:cs typeface="Times New Roman"/>
              </a:rPr>
              <a:t>数据：CDC NHSN 周度流感住院，50 州 + DC，2020-08 至 2026-09；流行初期 N = 1,267</a:t>
            </a:r>
          </a:p>
        </p:txBody>
      </p:sp>
      <p:sp>
        <p:nvSpPr>
          <p:cNvPr id="13" name="Rectangle 12"/>
          <p:cNvSpPr/>
          <p:nvPr/>
        </p:nvSpPr>
        <p:spPr>
          <a:xfrm>
            <a:off x="914400" y="5113532"/>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14400" y="5113532"/>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204972"/>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仿射拟合</a:t>
            </a:r>
          </a:p>
        </p:txBody>
      </p:sp>
      <p:sp>
        <p:nvSpPr>
          <p:cNvPr id="16" name="TextBox 15"/>
          <p:cNvSpPr txBox="1"/>
          <p:nvPr/>
        </p:nvSpPr>
        <p:spPr>
          <a:xfrm>
            <a:off x="914400" y="5424428"/>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b = 2.2434 [1.5019, 3.0161]；m× = 22.6 [13.7, 33.7]</a:t>
            </a:r>
          </a:p>
        </p:txBody>
      </p:sp>
      <p:sp>
        <p:nvSpPr>
          <p:cNvPr id="17" name="Rectangle 16"/>
          <p:cNvSpPr/>
          <p:nvPr/>
        </p:nvSpPr>
        <p:spPr>
          <a:xfrm>
            <a:off x="4490618" y="5113532"/>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490618" y="5113532"/>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90618" y="5204972"/>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分箱误差</a:t>
            </a:r>
          </a:p>
        </p:txBody>
      </p:sp>
      <p:sp>
        <p:nvSpPr>
          <p:cNvPr id="20" name="TextBox 19"/>
          <p:cNvSpPr txBox="1"/>
          <p:nvPr/>
        </p:nvSpPr>
        <p:spPr>
          <a:xfrm>
            <a:off x="4490618" y="5424428"/>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RelMSE 由 0.329 降至 0.105，100 例以上基本持平</a:t>
            </a:r>
          </a:p>
        </p:txBody>
      </p:sp>
      <p:sp>
        <p:nvSpPr>
          <p:cNvPr id="21" name="Rectangle 20"/>
          <p:cNvSpPr/>
          <p:nvPr/>
        </p:nvSpPr>
        <p:spPr>
          <a:xfrm>
            <a:off x="8066836" y="5113532"/>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66836" y="5113532"/>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66836" y="5204972"/>
            <a:ext cx="3210458" cy="188976"/>
          </a:xfrm>
          <a:prstGeom prst="rect">
            <a:avLst/>
          </a:prstGeom>
          <a:noFill/>
        </p:spPr>
        <p:txBody>
          <a:bodyPr wrap="square" lIns="0" rIns="0" tIns="0" bIns="0" anchor="t">
            <a:spAutoFit/>
          </a:bodyPr>
          <a:lstStyle/>
          <a:p>
            <a:pPr algn="l"/>
            <a:r>
              <a:rPr>
                <a:latin typeface="Times New Roman"/>
                <a:ea typeface="宋体"/>
              </a:rPr>
              <a:t>竞争基准与运筹最优规模 (同构于 Cochran 1977 两阶段抽样)</a:t>
            </a:r>
          </a:p>
        </p:txBody>
      </p:sp>
      <p:sp>
        <p:nvSpPr>
          <p:cNvPr id="24" name="TextBox 23"/>
          <p:cNvSpPr txBox="1"/>
          <p:nvPr/>
        </p:nvSpPr>
        <p:spPr>
          <a:xfrm>
            <a:off x="8066836" y="5424428"/>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Cori 更新过程基准在 100 例以上同样趋于平台（约 0.087–0.098）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07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关键结果三 · 误差来源与稳健性</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关键结果三 · 误差来源与稳健性</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约四至五成误差与规模无关，平衡点稳定在数十例量级</a:t>
            </a:r>
          </a:p>
        </p:txBody>
      </p:sp>
      <p:pic>
        <p:nvPicPr>
          <p:cNvPr id="11" name="Picture 10" descr="fig_budget_robust.png"/>
          <p:cNvPicPr>
            <a:picLocks noChangeAspect="1"/>
          </p:cNvPicPr>
          <p:nvPr/>
        </p:nvPicPr>
        <p:blipFill>
          <a:blip r:embed="rId2"/>
          <a:stretch>
            <a:fillRect/>
          </a:stretch>
        </p:blipFill>
        <p:spPr>
          <a:xfrm>
            <a:off x="1249527" y="1766316"/>
            <a:ext cx="9692640" cy="2953984"/>
          </a:xfrm>
          <a:prstGeom prst="rect">
            <a:avLst/>
          </a:prstGeom>
        </p:spPr>
      </p:pic>
      <p:sp>
        <p:nvSpPr>
          <p:cNvPr id="12" name="TextBox 11"/>
          <p:cNvSpPr txBox="1"/>
          <p:nvPr/>
        </p:nvSpPr>
        <p:spPr>
          <a:xfrm>
            <a:off x="914400" y="4756876"/>
            <a:ext cx="10362895" cy="204216"/>
          </a:xfrm>
          <a:prstGeom prst="rect">
            <a:avLst/>
          </a:prstGeom>
          <a:noFill/>
        </p:spPr>
        <p:txBody>
          <a:bodyPr wrap="square" lIns="0" rIns="0" tIns="0" bIns="0" anchor="t">
            <a:spAutoFit/>
          </a:bodyPr>
          <a:lstStyle/>
          <a:p>
            <a:pPr algn="l"/>
            <a:r>
              <a:rPr sz="1100" b="0" i="0">
                <a:solidFill>
                  <a:srgbClr val="5A6270"/>
                </a:solidFill>
                <a:latin typeface="Times New Roman"/>
                <a:ea typeface="宋体"/>
                <a:cs typeface="Times New Roman"/>
              </a:rPr>
              <a:t>数据：小论文实证结果汇总文件；欧洲 11 国 COVID-19 为日度口径（m× = 124.7 例/天），未画入右图</a:t>
            </a:r>
          </a:p>
        </p:txBody>
      </p:sp>
      <p:sp>
        <p:nvSpPr>
          <p:cNvPr id="13" name="Rectangle 12"/>
          <p:cNvSpPr/>
          <p:nvPr/>
        </p:nvSpPr>
        <p:spPr>
          <a:xfrm>
            <a:off x="914400" y="5086060"/>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14400" y="5086060"/>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177500"/>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误差预算</a:t>
            </a:r>
          </a:p>
        </p:txBody>
      </p:sp>
      <p:sp>
        <p:nvSpPr>
          <p:cNvPr id="16" name="TextBox 15"/>
          <p:cNvSpPr txBox="1"/>
          <p:nvPr/>
        </p:nvSpPr>
        <p:spPr>
          <a:xfrm>
            <a:off x="914400" y="5396956"/>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初期规模无关项 54.6%、规模项 45.1%；D ≥ 250 时误差 0.104</a:t>
            </a:r>
          </a:p>
        </p:txBody>
      </p:sp>
      <p:sp>
        <p:nvSpPr>
          <p:cNvPr id="17" name="Rectangle 16"/>
          <p:cNvSpPr/>
          <p:nvPr/>
        </p:nvSpPr>
        <p:spPr>
          <a:xfrm>
            <a:off x="4490618" y="5086060"/>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490618" y="5086060"/>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90618" y="5177500"/>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达峰期</a:t>
            </a:r>
          </a:p>
        </p:txBody>
      </p:sp>
      <p:sp>
        <p:nvSpPr>
          <p:cNvPr id="20" name="TextBox 19"/>
          <p:cNvSpPr txBox="1"/>
          <p:nvPr/>
        </p:nvSpPr>
        <p:spPr>
          <a:xfrm>
            <a:off x="4490618" y="5396956"/>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均值偏移占损失 88.9%；剥离偏移后 b = 7.9272，仍显著为正</a:t>
            </a:r>
          </a:p>
        </p:txBody>
      </p:sp>
      <p:sp>
        <p:nvSpPr>
          <p:cNvPr id="21" name="Rectangle 20"/>
          <p:cNvSpPr/>
          <p:nvPr/>
        </p:nvSpPr>
        <p:spPr>
          <a:xfrm>
            <a:off x="8066836" y="5086060"/>
            <a:ext cx="3210458"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66836" y="5086060"/>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66836" y="5177500"/>
            <a:ext cx="3210458"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稳健与外部</a:t>
            </a:r>
          </a:p>
        </p:txBody>
      </p:sp>
      <p:sp>
        <p:nvSpPr>
          <p:cNvPr id="24" name="TextBox 23"/>
          <p:cNvSpPr txBox="1"/>
          <p:nvPr/>
        </p:nvSpPr>
        <p:spPr>
          <a:xfrm>
            <a:off x="8066836" y="5396956"/>
            <a:ext cx="3210458" cy="655320"/>
          </a:xfrm>
          <a:prstGeom prst="rect">
            <a:avLst/>
          </a:prstGeom>
          <a:noFill/>
        </p:spPr>
        <p:txBody>
          <a:bodyPr wrap="square" lIns="0" rIns="0" tIns="0" bIns="0" anchor="t">
            <a:spAutoFit/>
          </a:bodyPr>
          <a:lstStyle/>
          <a:p>
            <a:pPr algn="l">
              <a:lnSpc>
                <a:spcPct val="145000"/>
              </a:lnSpc>
            </a:pPr>
            <a:r>
              <a:rPr sz="1400" b="0" i="0">
                <a:solidFill>
                  <a:srgbClr val="1A2030"/>
                </a:solidFill>
                <a:latin typeface="Times New Roman"/>
                <a:ea typeface="宋体"/>
                <a:cs typeface="Times New Roman"/>
              </a:rPr>
              <a:t>分季 IV 第一阶段 F 为 76.8–119.4；两组外部数据 b 均为正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08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已完成工作</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已完成工作</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理论与实证主体基本完成，外部验证与资源配置进入写作准备</a:t>
            </a:r>
          </a:p>
        </p:txBody>
      </p:sp>
      <p:sp>
        <p:nvSpPr>
          <p:cNvPr id="11" name="TextBox 10"/>
          <p:cNvSpPr txBox="1"/>
          <p:nvPr/>
        </p:nvSpPr>
        <p:spPr>
          <a:xfrm>
            <a:off x="914400" y="1967484"/>
            <a:ext cx="1463039"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章节</a:t>
            </a:r>
          </a:p>
        </p:txBody>
      </p:sp>
      <p:sp>
        <p:nvSpPr>
          <p:cNvPr id="12" name="TextBox 11"/>
          <p:cNvSpPr txBox="1"/>
          <p:nvPr/>
        </p:nvSpPr>
        <p:spPr>
          <a:xfrm>
            <a:off x="2651760" y="1967484"/>
            <a:ext cx="484632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内容</a:t>
            </a:r>
          </a:p>
        </p:txBody>
      </p:sp>
      <p:sp>
        <p:nvSpPr>
          <p:cNvPr id="13" name="TextBox 12"/>
          <p:cNvSpPr txBox="1"/>
          <p:nvPr/>
        </p:nvSpPr>
        <p:spPr>
          <a:xfrm>
            <a:off x="7772400" y="1967484"/>
            <a:ext cx="3230575"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进度</a:t>
            </a:r>
          </a:p>
        </p:txBody>
      </p:sp>
      <p:sp>
        <p:nvSpPr>
          <p:cNvPr id="14" name="Rectangle 13"/>
          <p:cNvSpPr/>
          <p:nvPr/>
        </p:nvSpPr>
        <p:spPr>
          <a:xfrm>
            <a:off x="914400" y="2260092"/>
            <a:ext cx="10362895"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2397252"/>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第 1–3 章</a:t>
            </a:r>
          </a:p>
        </p:txBody>
      </p:sp>
      <p:sp>
        <p:nvSpPr>
          <p:cNvPr id="16" name="TextBox 15"/>
          <p:cNvSpPr txBox="1"/>
          <p:nvPr/>
        </p:nvSpPr>
        <p:spPr>
          <a:xfrm>
            <a:off x="2651760" y="2397252"/>
            <a:ext cx="484632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绪论、双层模型构建、命题 1–6 推导与证明</a:t>
            </a:r>
          </a:p>
        </p:txBody>
      </p:sp>
      <p:sp>
        <p:nvSpPr>
          <p:cNvPr id="17" name="TextBox 16"/>
          <p:cNvSpPr txBox="1"/>
          <p:nvPr/>
        </p:nvSpPr>
        <p:spPr>
          <a:xfrm>
            <a:off x="7772400" y="2397252"/>
            <a:ext cx="323057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定稿</a:t>
            </a:r>
          </a:p>
        </p:txBody>
      </p:sp>
      <p:sp>
        <p:nvSpPr>
          <p:cNvPr id="18" name="Rectangle 17"/>
          <p:cNvSpPr/>
          <p:nvPr/>
        </p:nvSpPr>
        <p:spPr>
          <a:xfrm>
            <a:off x="914400" y="300990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3147060"/>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第 4 章</a:t>
            </a:r>
          </a:p>
        </p:txBody>
      </p:sp>
      <p:sp>
        <p:nvSpPr>
          <p:cNvPr id="20" name="TextBox 19"/>
          <p:cNvSpPr txBox="1"/>
          <p:nvPr/>
        </p:nvSpPr>
        <p:spPr>
          <a:xfrm>
            <a:off x="2651760" y="3147060"/>
            <a:ext cx="484632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蒙特卡洛验证：方差、检验功效、预测误差三组模拟</a:t>
            </a:r>
          </a:p>
        </p:txBody>
      </p:sp>
      <p:sp>
        <p:nvSpPr>
          <p:cNvPr id="21" name="TextBox 20"/>
          <p:cNvSpPr txBox="1"/>
          <p:nvPr/>
        </p:nvSpPr>
        <p:spPr>
          <a:xfrm>
            <a:off x="7772400" y="3147060"/>
            <a:ext cx="323057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实验与写作完成</a:t>
            </a:r>
          </a:p>
        </p:txBody>
      </p:sp>
      <p:sp>
        <p:nvSpPr>
          <p:cNvPr id="22" name="Rectangle 21"/>
          <p:cNvSpPr/>
          <p:nvPr/>
        </p:nvSpPr>
        <p:spPr>
          <a:xfrm>
            <a:off x="914400" y="3759707"/>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4400" y="3896868"/>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第 5 章</a:t>
            </a:r>
          </a:p>
        </p:txBody>
      </p:sp>
      <p:sp>
        <p:nvSpPr>
          <p:cNvPr id="24" name="TextBox 23"/>
          <p:cNvSpPr txBox="1"/>
          <p:nvPr/>
        </p:nvSpPr>
        <p:spPr>
          <a:xfrm>
            <a:off x="2651760" y="3896868"/>
            <a:ext cx="484632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NHSN 实证：仿射拟合、达峰期分解、分季 IV</a:t>
            </a:r>
          </a:p>
        </p:txBody>
      </p:sp>
      <p:sp>
        <p:nvSpPr>
          <p:cNvPr id="25" name="TextBox 24"/>
          <p:cNvSpPr txBox="1"/>
          <p:nvPr/>
        </p:nvSpPr>
        <p:spPr>
          <a:xfrm>
            <a:off x="7772400" y="3896868"/>
            <a:ext cx="323057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约 85%，补亚型与敏感性</a:t>
            </a:r>
          </a:p>
        </p:txBody>
      </p:sp>
      <p:sp>
        <p:nvSpPr>
          <p:cNvPr id="26" name="Rectangle 25"/>
          <p:cNvSpPr/>
          <p:nvPr/>
        </p:nvSpPr>
        <p:spPr>
          <a:xfrm>
            <a:off x="914400" y="4509516"/>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14400" y="4646676"/>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第 6–7 章</a:t>
            </a:r>
          </a:p>
        </p:txBody>
      </p:sp>
      <p:sp>
        <p:nvSpPr>
          <p:cNvPr id="28" name="TextBox 27"/>
          <p:cNvSpPr txBox="1"/>
          <p:nvPr/>
        </p:nvSpPr>
        <p:spPr>
          <a:xfrm>
            <a:off x="2651760" y="4646676"/>
            <a:ext cx="484632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外部数据清洗对齐与初步拟合；最优规模闭式解与凸性证明</a:t>
            </a:r>
          </a:p>
        </p:txBody>
      </p:sp>
      <p:sp>
        <p:nvSpPr>
          <p:cNvPr id="29" name="TextBox 28"/>
          <p:cNvSpPr txBox="1"/>
          <p:nvPr/>
        </p:nvSpPr>
        <p:spPr>
          <a:xfrm>
            <a:off x="7772400" y="4646676"/>
            <a:ext cx="323057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前期准备完成，正文待写</a:t>
            </a:r>
          </a:p>
        </p:txBody>
      </p:sp>
      <p:sp>
        <p:nvSpPr>
          <p:cNvPr id="30" name="Rectangle 29"/>
          <p:cNvSpPr/>
          <p:nvPr/>
        </p:nvSpPr>
        <p:spPr>
          <a:xfrm>
            <a:off x="914400" y="5259324"/>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 y="5396484"/>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成果</a:t>
            </a:r>
          </a:p>
        </p:txBody>
      </p:sp>
      <p:sp>
        <p:nvSpPr>
          <p:cNvPr id="32" name="TextBox 31"/>
          <p:cNvSpPr txBox="1"/>
          <p:nvPr/>
        </p:nvSpPr>
        <p:spPr>
          <a:xfrm>
            <a:off x="2651760" y="5396484"/>
            <a:ext cx="484632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小论文中文稿约 30 页；长周期数据集与固定种子分析程序</a:t>
            </a:r>
          </a:p>
        </p:txBody>
      </p:sp>
      <p:sp>
        <p:nvSpPr>
          <p:cNvPr id="33" name="TextBox 32"/>
          <p:cNvSpPr txBox="1"/>
          <p:nvPr/>
        </p:nvSpPr>
        <p:spPr>
          <a:xfrm>
            <a:off x="7772400" y="5396484"/>
            <a:ext cx="323057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随学位论文同步修改</a:t>
            </a:r>
          </a:p>
        </p:txBody>
      </p:sp>
      <p:sp>
        <p:nvSpPr>
          <p:cNvPr id="34" name="Rectangle 33"/>
          <p:cNvSpPr/>
          <p:nvPr/>
        </p:nvSpPr>
        <p:spPr>
          <a:xfrm>
            <a:off x="914400" y="6009132"/>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09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后续计划</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后续计划</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后续工作按五个阶段推进，2027 年 4 月形成送审稿</a:t>
            </a:r>
          </a:p>
        </p:txBody>
      </p:sp>
      <p:sp>
        <p:nvSpPr>
          <p:cNvPr id="11" name="Rectangle 10"/>
          <p:cNvSpPr/>
          <p:nvPr/>
        </p:nvSpPr>
        <p:spPr>
          <a:xfrm>
            <a:off x="914400" y="3201924"/>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14400" y="2699004"/>
            <a:ext cx="1853123"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2026.10–11</a:t>
            </a:r>
          </a:p>
        </p:txBody>
      </p:sp>
      <p:sp>
        <p:nvSpPr>
          <p:cNvPr id="13" name="Rectangle 12"/>
          <p:cNvSpPr/>
          <p:nvPr/>
        </p:nvSpPr>
        <p:spPr>
          <a:xfrm>
            <a:off x="914400" y="3147060"/>
            <a:ext cx="118872" cy="118872"/>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3476244"/>
            <a:ext cx="1853123"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完成第 5 章</a:t>
            </a:r>
          </a:p>
        </p:txBody>
      </p:sp>
      <p:sp>
        <p:nvSpPr>
          <p:cNvPr id="15" name="TextBox 14"/>
          <p:cNvSpPr txBox="1"/>
          <p:nvPr/>
        </p:nvSpPr>
        <p:spPr>
          <a:xfrm>
            <a:off x="914400" y="3933444"/>
            <a:ext cx="1853123" cy="67665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亚型子样本、指数衰减权重、空间相关稳健性</a:t>
            </a:r>
          </a:p>
        </p:txBody>
      </p:sp>
      <p:sp>
        <p:nvSpPr>
          <p:cNvPr id="16" name="TextBox 15"/>
          <p:cNvSpPr txBox="1"/>
          <p:nvPr/>
        </p:nvSpPr>
        <p:spPr>
          <a:xfrm>
            <a:off x="3041843" y="2699004"/>
            <a:ext cx="1853123"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2026.12–2027.01</a:t>
            </a:r>
          </a:p>
        </p:txBody>
      </p:sp>
      <p:sp>
        <p:nvSpPr>
          <p:cNvPr id="17" name="Rectangle 16"/>
          <p:cNvSpPr/>
          <p:nvPr/>
        </p:nvSpPr>
        <p:spPr>
          <a:xfrm>
            <a:off x="3041843" y="3147060"/>
            <a:ext cx="118872" cy="118872"/>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41843" y="3476244"/>
            <a:ext cx="1853123"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撰写第 6 章</a:t>
            </a:r>
          </a:p>
        </p:txBody>
      </p:sp>
      <p:sp>
        <p:nvSpPr>
          <p:cNvPr id="19" name="TextBox 18"/>
          <p:cNvSpPr txBox="1"/>
          <p:nvPr/>
        </p:nvSpPr>
        <p:spPr>
          <a:xfrm>
            <a:off x="3041843" y="3933444"/>
            <a:ext cx="1853123" cy="67665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FluSight 与欧洲 COVID-19 外部验证</a:t>
            </a:r>
          </a:p>
        </p:txBody>
      </p:sp>
      <p:sp>
        <p:nvSpPr>
          <p:cNvPr id="20" name="TextBox 19"/>
          <p:cNvSpPr txBox="1"/>
          <p:nvPr/>
        </p:nvSpPr>
        <p:spPr>
          <a:xfrm>
            <a:off x="5169286" y="2699004"/>
            <a:ext cx="1853123"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2027.02–03</a:t>
            </a:r>
          </a:p>
        </p:txBody>
      </p:sp>
      <p:sp>
        <p:nvSpPr>
          <p:cNvPr id="21" name="Rectangle 20"/>
          <p:cNvSpPr/>
          <p:nvPr/>
        </p:nvSpPr>
        <p:spPr>
          <a:xfrm>
            <a:off x="5169286" y="3147060"/>
            <a:ext cx="118872" cy="118872"/>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69286" y="3476244"/>
            <a:ext cx="1853123"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撰写第 7 章</a:t>
            </a:r>
          </a:p>
        </p:txBody>
      </p:sp>
      <p:sp>
        <p:nvSpPr>
          <p:cNvPr id="23" name="TextBox 22"/>
          <p:cNvSpPr txBox="1"/>
          <p:nvPr/>
        </p:nvSpPr>
        <p:spPr>
          <a:xfrm>
            <a:off x="5169286" y="3933444"/>
            <a:ext cx="1853123" cy="67665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成本参数调研、资源配置；同步修改小论文</a:t>
            </a:r>
          </a:p>
        </p:txBody>
      </p:sp>
      <p:sp>
        <p:nvSpPr>
          <p:cNvPr id="24" name="TextBox 23"/>
          <p:cNvSpPr txBox="1"/>
          <p:nvPr/>
        </p:nvSpPr>
        <p:spPr>
          <a:xfrm>
            <a:off x="7296729" y="2699004"/>
            <a:ext cx="1853123"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2027.03–04</a:t>
            </a:r>
          </a:p>
        </p:txBody>
      </p:sp>
      <p:sp>
        <p:nvSpPr>
          <p:cNvPr id="25" name="Rectangle 24"/>
          <p:cNvSpPr/>
          <p:nvPr/>
        </p:nvSpPr>
        <p:spPr>
          <a:xfrm>
            <a:off x="7296729" y="3147060"/>
            <a:ext cx="118872" cy="118872"/>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96729" y="3476244"/>
            <a:ext cx="1853123"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全文统稿</a:t>
            </a:r>
          </a:p>
        </p:txBody>
      </p:sp>
      <p:sp>
        <p:nvSpPr>
          <p:cNvPr id="27" name="TextBox 26"/>
          <p:cNvSpPr txBox="1"/>
          <p:nvPr/>
        </p:nvSpPr>
        <p:spPr>
          <a:xfrm>
            <a:off x="7296729" y="3933444"/>
            <a:ext cx="1853123" cy="67665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统一符号与图表，核对数值与结果文件</a:t>
            </a:r>
          </a:p>
        </p:txBody>
      </p:sp>
      <p:sp>
        <p:nvSpPr>
          <p:cNvPr id="28" name="TextBox 27"/>
          <p:cNvSpPr txBox="1"/>
          <p:nvPr/>
        </p:nvSpPr>
        <p:spPr>
          <a:xfrm>
            <a:off x="9424172" y="2699004"/>
            <a:ext cx="1853123"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2027.04 以后</a:t>
            </a:r>
          </a:p>
        </p:txBody>
      </p:sp>
      <p:sp>
        <p:nvSpPr>
          <p:cNvPr id="29" name="Rectangle 28"/>
          <p:cNvSpPr/>
          <p:nvPr/>
        </p:nvSpPr>
        <p:spPr>
          <a:xfrm>
            <a:off x="9424172" y="3147060"/>
            <a:ext cx="118872" cy="118872"/>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424172" y="3476244"/>
            <a:ext cx="1853123" cy="310896"/>
          </a:xfrm>
          <a:prstGeom prst="rect">
            <a:avLst/>
          </a:prstGeom>
          <a:noFill/>
        </p:spPr>
        <p:txBody>
          <a:bodyPr wrap="square" lIns="0" rIns="0" tIns="0" bIns="0" anchor="t">
            <a:spAutoFit/>
          </a:bodyPr>
          <a:lstStyle/>
          <a:p>
            <a:pPr algn="l"/>
            <a:r>
              <a:rPr sz="1800" b="1" i="0">
                <a:solidFill>
                  <a:srgbClr val="1A2030"/>
                </a:solidFill>
                <a:latin typeface="Times New Roman"/>
                <a:ea typeface="宋体"/>
                <a:cs typeface="Times New Roman"/>
              </a:rPr>
              <a:t>送审与答辩</a:t>
            </a:r>
          </a:p>
        </p:txBody>
      </p:sp>
      <p:sp>
        <p:nvSpPr>
          <p:cNvPr id="31" name="TextBox 30"/>
          <p:cNvSpPr txBox="1"/>
          <p:nvPr/>
        </p:nvSpPr>
        <p:spPr>
          <a:xfrm>
            <a:off x="9424172" y="3933444"/>
            <a:ext cx="1853123" cy="676656"/>
          </a:xfrm>
          <a:prstGeom prst="rect">
            <a:avLst/>
          </a:prstGeom>
          <a:noFill/>
        </p:spPr>
        <p:txBody>
          <a:bodyPr wrap="square" lIns="0" rIns="0" tIns="0" bIns="0" anchor="t">
            <a:spAutoFit/>
          </a:bodyPr>
          <a:lstStyle/>
          <a:p>
            <a:pPr algn="l">
              <a:lnSpc>
                <a:spcPct val="150000"/>
              </a:lnSpc>
            </a:pPr>
            <a:r>
              <a:rPr sz="1400" b="0" i="0">
                <a:solidFill>
                  <a:srgbClr val="5A6270"/>
                </a:solidFill>
                <a:latin typeface="Times New Roman"/>
                <a:ea typeface="宋体"/>
                <a:cs typeface="Times New Roman"/>
              </a:rPr>
              <a:t>按学院安排完成检测、评阅与答辩</a:t>
            </a:r>
          </a:p>
        </p:txBody>
      </p:sp>
      <p:sp>
        <p:nvSpPr>
          <p:cNvPr id="32" name="TextBox 31"/>
          <p:cNvSpPr txBox="1"/>
          <p:nvPr/>
        </p:nvSpPr>
        <p:spPr>
          <a:xfrm>
            <a:off x="914400" y="5806440"/>
            <a:ext cx="10362895" cy="204216"/>
          </a:xfrm>
          <a:prstGeom prst="rect">
            <a:avLst/>
          </a:prstGeom>
          <a:noFill/>
        </p:spPr>
        <p:txBody>
          <a:bodyPr wrap="square" lIns="0" rIns="0" tIns="0" bIns="0" anchor="t">
            <a:spAutoFit/>
          </a:bodyPr>
          <a:lstStyle/>
          <a:p>
            <a:pPr algn="l"/>
            <a:r>
              <a:rPr sz="1100" b="0" i="0">
                <a:solidFill>
                  <a:srgbClr val="5A6270"/>
                </a:solidFill>
                <a:latin typeface="Times New Roman"/>
                <a:ea typeface="宋体"/>
                <a:cs typeface="Times New Roman"/>
              </a:rPr>
              <a:t>注：时间节点为初拟安排，按学院送审与答辩时间表调整。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ECE3"/>
        </a:solidFill>
        <a:effectLst/>
      </p:bgPr>
    </p:bg>
    <p:spTree>
      <p:nvGrpSpPr>
        <p:cNvPr id="1" name=""/>
        <p:cNvGrpSpPr/>
        <p:nvPr/>
      </p:nvGrpSpPr>
      <p:grpSpPr/>
      <p:sp>
        <p:nvSpPr>
          <p:cNvPr id="2" name="TextBox 1"/>
          <p:cNvSpPr txBox="1"/>
          <p:nvPr/>
        </p:nvSpPr>
        <p:spPr>
          <a:xfrm>
            <a:off x="914400" y="274320"/>
            <a:ext cx="64008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中期答辩 · 病例规模收益边界</a:t>
            </a:r>
          </a:p>
        </p:txBody>
      </p:sp>
      <p:sp>
        <p:nvSpPr>
          <p:cNvPr id="3" name="TextBox 2"/>
          <p:cNvSpPr txBox="1"/>
          <p:nvPr/>
        </p:nvSpPr>
        <p:spPr>
          <a:xfrm>
            <a:off x="8534095" y="274320"/>
            <a:ext cx="2743200" cy="188976"/>
          </a:xfrm>
          <a:prstGeom prst="rect">
            <a:avLst/>
          </a:prstGeom>
          <a:noFill/>
        </p:spPr>
        <p:txBody>
          <a:bodyPr wrap="square" lIns="0" rIns="0" tIns="0" bIns="0" anchor="t">
            <a:spAutoFit/>
          </a:bodyPr>
          <a:lstStyle/>
          <a:p>
            <a:pPr algn="r"/>
            <a:r>
              <a:rPr sz="1000" b="0" i="0">
                <a:solidFill>
                  <a:srgbClr val="5A6270"/>
                </a:solidFill>
                <a:latin typeface="Times New Roman"/>
                <a:ea typeface="宋体"/>
                <a:cs typeface="Times New Roman"/>
              </a:rPr>
              <a:t>10 / 12</a:t>
            </a:r>
          </a:p>
        </p:txBody>
      </p:sp>
      <p:sp>
        <p:nvSpPr>
          <p:cNvPr id="4" name="Rectangle 3"/>
          <p:cNvSpPr/>
          <p:nvPr/>
        </p:nvSpPr>
        <p:spPr>
          <a:xfrm>
            <a:off x="914400" y="47548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400" y="63093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6391656"/>
            <a:ext cx="5486400" cy="188976"/>
          </a:xfrm>
          <a:prstGeom prst="rect">
            <a:avLst/>
          </a:prstGeom>
          <a:noFill/>
        </p:spPr>
        <p:txBody>
          <a:bodyPr wrap="square" lIns="0" rIns="0" tIns="0" bIns="0" anchor="t">
            <a:spAutoFit/>
          </a:bodyPr>
          <a:lstStyle/>
          <a:p>
            <a:pPr algn="l"/>
            <a:r>
              <a:rPr sz="1000" b="0" i="0">
                <a:solidFill>
                  <a:srgbClr val="9AA0A8"/>
                </a:solidFill>
                <a:latin typeface="Times New Roman"/>
                <a:ea typeface="宋体"/>
                <a:cs typeface="Times New Roman"/>
              </a:rPr>
              <a:t>讨论与局限</a:t>
            </a:r>
          </a:p>
        </p:txBody>
      </p:sp>
      <p:sp>
        <p:nvSpPr>
          <p:cNvPr id="7" name="TextBox 6"/>
          <p:cNvSpPr txBox="1"/>
          <p:nvPr/>
        </p:nvSpPr>
        <p:spPr>
          <a:xfrm>
            <a:off x="6705295" y="6391656"/>
            <a:ext cx="4572000" cy="188976"/>
          </a:xfrm>
          <a:prstGeom prst="rect">
            <a:avLst/>
          </a:prstGeom>
          <a:noFill/>
        </p:spPr>
        <p:txBody>
          <a:bodyPr wrap="square" lIns="0" rIns="0" tIns="0" bIns="0" anchor="t">
            <a:spAutoFit/>
          </a:bodyPr>
          <a:lstStyle/>
          <a:p>
            <a:pPr algn="r"/>
            <a:r>
              <a:rPr sz="1000" b="0" i="0">
                <a:solidFill>
                  <a:srgbClr val="9AA0A8"/>
                </a:solidFill>
                <a:latin typeface="Times New Roman"/>
                <a:ea typeface="宋体"/>
                <a:cs typeface="Times New Roman"/>
              </a:rPr>
              <a:t>西安科技大学 · 应用统计硕士</a:t>
            </a:r>
          </a:p>
        </p:txBody>
      </p:sp>
      <p:sp>
        <p:nvSpPr>
          <p:cNvPr id="8" name="TextBox 7"/>
          <p:cNvSpPr txBox="1"/>
          <p:nvPr/>
        </p:nvSpPr>
        <p:spPr>
          <a:xfrm>
            <a:off x="914400" y="731520"/>
            <a:ext cx="73152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讨论与局限</a:t>
            </a:r>
          </a:p>
        </p:txBody>
      </p:sp>
      <p:sp>
        <p:nvSpPr>
          <p:cNvPr id="9" name="Rectangle 8"/>
          <p:cNvSpPr/>
          <p:nvPr/>
        </p:nvSpPr>
        <p:spPr>
          <a:xfrm>
            <a:off x="914400" y="969264"/>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078992"/>
            <a:ext cx="10362895" cy="522732"/>
          </a:xfrm>
          <a:prstGeom prst="rect">
            <a:avLst/>
          </a:prstGeom>
          <a:noFill/>
        </p:spPr>
        <p:txBody>
          <a:bodyPr wrap="square" lIns="0" rIns="0" tIns="0" bIns="0" anchor="t">
            <a:spAutoFit/>
          </a:bodyPr>
          <a:lstStyle/>
          <a:p>
            <a:pPr algn="l">
              <a:lnSpc>
                <a:spcPct val="110000"/>
              </a:lnSpc>
            </a:pPr>
            <a:r>
              <a:rPr sz="2900" b="1" i="0">
                <a:solidFill>
                  <a:srgbClr val="1A2030"/>
                </a:solidFill>
                <a:latin typeface="Times New Roman"/>
                <a:ea typeface="宋体"/>
                <a:cs typeface="Times New Roman"/>
              </a:rPr>
              <a:t>现有结论受空间相关、权重设定、成本参数与识别口径四项限制</a:t>
            </a:r>
          </a:p>
        </p:txBody>
      </p:sp>
      <p:sp>
        <p:nvSpPr>
          <p:cNvPr id="11" name="TextBox 10"/>
          <p:cNvSpPr txBox="1"/>
          <p:nvPr/>
        </p:nvSpPr>
        <p:spPr>
          <a:xfrm>
            <a:off x="914400" y="1967484"/>
            <a:ext cx="1463039"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局限</a:t>
            </a:r>
          </a:p>
        </p:txBody>
      </p:sp>
      <p:sp>
        <p:nvSpPr>
          <p:cNvPr id="12" name="TextBox 11"/>
          <p:cNvSpPr txBox="1"/>
          <p:nvPr/>
        </p:nvSpPr>
        <p:spPr>
          <a:xfrm>
            <a:off x="2651760" y="1967484"/>
            <a:ext cx="4572000"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现状</a:t>
            </a:r>
          </a:p>
        </p:txBody>
      </p:sp>
      <p:sp>
        <p:nvSpPr>
          <p:cNvPr id="13" name="TextBox 12"/>
          <p:cNvSpPr txBox="1"/>
          <p:nvPr/>
        </p:nvSpPr>
        <p:spPr>
          <a:xfrm>
            <a:off x="7498079" y="1967484"/>
            <a:ext cx="3504895" cy="188976"/>
          </a:xfrm>
          <a:prstGeom prst="rect">
            <a:avLst/>
          </a:prstGeom>
          <a:noFill/>
        </p:spPr>
        <p:txBody>
          <a:bodyPr wrap="square" lIns="0" rIns="0" tIns="0" bIns="0" anchor="t">
            <a:spAutoFit/>
          </a:bodyPr>
          <a:lstStyle/>
          <a:p>
            <a:pPr algn="l"/>
            <a:r>
              <a:rPr sz="1000" b="0" i="0">
                <a:solidFill>
                  <a:srgbClr val="5A6270"/>
                </a:solidFill>
                <a:latin typeface="Times New Roman"/>
                <a:ea typeface="宋体"/>
                <a:cs typeface="Times New Roman"/>
              </a:rPr>
              <a:t>拟采取措施</a:t>
            </a:r>
          </a:p>
        </p:txBody>
      </p:sp>
      <p:sp>
        <p:nvSpPr>
          <p:cNvPr id="14" name="Rectangle 13"/>
          <p:cNvSpPr/>
          <p:nvPr/>
        </p:nvSpPr>
        <p:spPr>
          <a:xfrm>
            <a:off x="914400" y="2260092"/>
            <a:ext cx="10362895"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2397252"/>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空间相关</a:t>
            </a:r>
          </a:p>
        </p:txBody>
      </p:sp>
      <p:sp>
        <p:nvSpPr>
          <p:cNvPr id="16" name="TextBox 15"/>
          <p:cNvSpPr txBox="1"/>
          <p:nvPr/>
        </p:nvSpPr>
        <p:spPr>
          <a:xfrm>
            <a:off x="2651760" y="2397252"/>
            <a:ext cx="4572000" cy="633984"/>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按州聚类只处理同州跨周相关；按周聚类 CI [1.4728, 3.1191]</a:t>
            </a:r>
          </a:p>
        </p:txBody>
      </p:sp>
      <p:sp>
        <p:nvSpPr>
          <p:cNvPr id="17" name="TextBox 16"/>
          <p:cNvSpPr txBox="1"/>
          <p:nvPr/>
        </p:nvSpPr>
        <p:spPr>
          <a:xfrm>
            <a:off x="7498079" y="2397252"/>
            <a:ext cx="350489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空间滞后检验，州×周双向聚类</a:t>
            </a:r>
          </a:p>
        </p:txBody>
      </p:sp>
      <p:sp>
        <p:nvSpPr>
          <p:cNvPr id="18" name="Rectangle 17"/>
          <p:cNvSpPr/>
          <p:nvPr/>
        </p:nvSpPr>
        <p:spPr>
          <a:xfrm>
            <a:off x="914400" y="3223260"/>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3360420"/>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权重与亚型</a:t>
            </a:r>
          </a:p>
        </p:txBody>
      </p:sp>
      <p:sp>
        <p:nvSpPr>
          <p:cNvPr id="20" name="TextBox 19"/>
          <p:cNvSpPr txBox="1"/>
          <p:nvPr/>
        </p:nvSpPr>
        <p:spPr>
          <a:xfrm>
            <a:off x="2651760" y="3360420"/>
            <a:ext cx="457200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m× 随滞后权重在 12.64–45.96 间变动；无亚型字段</a:t>
            </a:r>
          </a:p>
        </p:txBody>
      </p:sp>
      <p:sp>
        <p:nvSpPr>
          <p:cNvPr id="21" name="TextBox 20"/>
          <p:cNvSpPr txBox="1"/>
          <p:nvPr/>
        </p:nvSpPr>
        <p:spPr>
          <a:xfrm>
            <a:off x="7498079" y="3360420"/>
            <a:ext cx="350489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指数衰减权重；按优势亚型分样本</a:t>
            </a:r>
          </a:p>
        </p:txBody>
      </p:sp>
      <p:sp>
        <p:nvSpPr>
          <p:cNvPr id="22" name="Rectangle 21"/>
          <p:cNvSpPr/>
          <p:nvPr/>
        </p:nvSpPr>
        <p:spPr>
          <a:xfrm>
            <a:off x="914400" y="3973068"/>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4400" y="4110228"/>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成本参数</a:t>
            </a:r>
          </a:p>
        </p:txBody>
      </p:sp>
      <p:sp>
        <p:nvSpPr>
          <p:cNvPr id="24" name="TextBox 23"/>
          <p:cNvSpPr txBox="1"/>
          <p:nvPr/>
        </p:nvSpPr>
        <p:spPr>
          <a:xfrm>
            <a:off x="2651760" y="4110228"/>
            <a:ext cx="457200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c0/c1 仅取 10、100 两种情景</a:t>
            </a:r>
          </a:p>
        </p:txBody>
      </p:sp>
      <p:sp>
        <p:nvSpPr>
          <p:cNvPr id="25" name="TextBox 24"/>
          <p:cNvSpPr txBox="1"/>
          <p:nvPr/>
        </p:nvSpPr>
        <p:spPr>
          <a:xfrm>
            <a:off x="7498079" y="4110228"/>
            <a:ext cx="350489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结合疾控哨点监测成本设定参数区间</a:t>
            </a:r>
          </a:p>
        </p:txBody>
      </p:sp>
      <p:sp>
        <p:nvSpPr>
          <p:cNvPr id="26" name="Rectangle 25"/>
          <p:cNvSpPr/>
          <p:nvPr/>
        </p:nvSpPr>
        <p:spPr>
          <a:xfrm>
            <a:off x="914400" y="4722875"/>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14400" y="4860036"/>
            <a:ext cx="1463039" cy="420623"/>
          </a:xfrm>
          <a:prstGeom prst="rect">
            <a:avLst/>
          </a:prstGeom>
          <a:noFill/>
        </p:spPr>
        <p:txBody>
          <a:bodyPr wrap="square" lIns="0" rIns="0" tIns="0" bIns="0" anchor="t">
            <a:spAutoFit/>
          </a:bodyPr>
          <a:lstStyle/>
          <a:p>
            <a:pPr algn="l">
              <a:lnSpc>
                <a:spcPct val="140000"/>
              </a:lnSpc>
            </a:pPr>
            <a:r>
              <a:rPr sz="1800" b="1" i="0">
                <a:solidFill>
                  <a:srgbClr val="1A2030"/>
                </a:solidFill>
                <a:latin typeface="Times New Roman"/>
                <a:ea typeface="宋体"/>
                <a:cs typeface="Times New Roman"/>
              </a:rPr>
              <a:t>识别口径</a:t>
            </a:r>
          </a:p>
        </p:txBody>
      </p:sp>
      <p:sp>
        <p:nvSpPr>
          <p:cNvPr id="28" name="TextBox 27"/>
          <p:cNvSpPr txBox="1"/>
          <p:nvPr/>
        </p:nvSpPr>
        <p:spPr>
          <a:xfrm>
            <a:off x="2651760" y="4860036"/>
            <a:ext cx="4572000" cy="335280"/>
          </a:xfrm>
          <a:prstGeom prst="rect">
            <a:avLst/>
          </a:prstGeom>
          <a:noFill/>
        </p:spPr>
        <p:txBody>
          <a:bodyPr wrap="square" lIns="0" rIns="0" tIns="0" bIns="0" anchor="t">
            <a:spAutoFit/>
          </a:bodyPr>
          <a:lstStyle/>
          <a:p>
            <a:pPr algn="l">
              <a:lnSpc>
                <a:spcPct val="140000"/>
              </a:lnSpc>
            </a:pPr>
            <a:r>
              <a:rPr sz="1400" b="0" i="0">
                <a:solidFill>
                  <a:srgbClr val="5A6270"/>
                </a:solidFill>
                <a:latin typeface="Times New Roman"/>
                <a:ea typeface="宋体"/>
                <a:cs typeface="Times New Roman"/>
              </a:rPr>
              <a:t>截距 a 混合 vR 与平滑偏差；IV 仅证实替代测度下稳健</a:t>
            </a:r>
          </a:p>
        </p:txBody>
      </p:sp>
      <p:sp>
        <p:nvSpPr>
          <p:cNvPr id="29" name="TextBox 28"/>
          <p:cNvSpPr txBox="1"/>
          <p:nvPr/>
        </p:nvSpPr>
        <p:spPr>
          <a:xfrm>
            <a:off x="7498079" y="4860036"/>
            <a:ext cx="3504895" cy="335280"/>
          </a:xfrm>
          <a:prstGeom prst="rect">
            <a:avLst/>
          </a:prstGeom>
          <a:noFill/>
        </p:spPr>
        <p:txBody>
          <a:bodyPr wrap="square" lIns="0" rIns="0" tIns="0" bIns="0" anchor="t">
            <a:spAutoFit/>
          </a:bodyPr>
          <a:lstStyle/>
          <a:p>
            <a:pPr algn="l">
              <a:lnSpc>
                <a:spcPct val="140000"/>
              </a:lnSpc>
            </a:pPr>
            <a:r>
              <a:rPr sz="1400" b="0" i="0">
                <a:solidFill>
                  <a:srgbClr val="1A2030"/>
                </a:solidFill>
                <a:latin typeface="Times New Roman"/>
                <a:ea typeface="宋体"/>
                <a:cs typeface="Times New Roman"/>
              </a:rPr>
              <a:t>在论文中限定结论适用范围</a:t>
            </a:r>
          </a:p>
        </p:txBody>
      </p:sp>
      <p:sp>
        <p:nvSpPr>
          <p:cNvPr id="30" name="Rectangle 29"/>
          <p:cNvSpPr/>
          <p:nvPr/>
        </p:nvSpPr>
        <p:spPr>
          <a:xfrm>
            <a:off x="914400" y="5472683"/>
            <a:ext cx="10362895" cy="12700"/>
          </a:xfrm>
          <a:prstGeom prst="rect">
            <a:avLst/>
          </a:prstGeom>
          <a:solidFill>
            <a:srgbClr val="CAC4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644"/>
        </a:solidFill>
        <a:effectLst/>
      </p:bgPr>
    </p:bg>
    <p:spTree>
      <p:nvGrpSpPr>
        <p:cNvPr id="1" name=""/>
        <p:cNvGrpSpPr/>
        <p:nvPr/>
      </p:nvGrpSpPr>
      <p:grpSpPr/>
      <p:sp>
        <p:nvSpPr>
          <p:cNvPr id="2" name="TextBox 1"/>
          <p:cNvSpPr txBox="1"/>
          <p:nvPr/>
        </p:nvSpPr>
        <p:spPr>
          <a:xfrm>
            <a:off x="914400" y="868680"/>
            <a:ext cx="7315200" cy="188976"/>
          </a:xfrm>
          <a:prstGeom prst="rect">
            <a:avLst/>
          </a:prstGeom>
          <a:noFill/>
        </p:spPr>
        <p:txBody>
          <a:bodyPr wrap="square" lIns="0" rIns="0" tIns="0" bIns="0" anchor="t">
            <a:spAutoFit/>
          </a:bodyPr>
          <a:lstStyle/>
          <a:p>
            <a:pPr algn="l"/>
            <a:r>
              <a:rPr sz="1000" b="0" i="0">
                <a:solidFill>
                  <a:srgbClr val="C8A870"/>
                </a:solidFill>
                <a:latin typeface="Times New Roman"/>
                <a:ea typeface="宋体"/>
                <a:cs typeface="Times New Roman"/>
              </a:rPr>
              <a:t>结论</a:t>
            </a:r>
          </a:p>
        </p:txBody>
      </p:sp>
      <p:sp>
        <p:nvSpPr>
          <p:cNvPr id="3" name="Rectangle 2"/>
          <p:cNvSpPr/>
          <p:nvPr/>
        </p:nvSpPr>
        <p:spPr>
          <a:xfrm>
            <a:off x="914400" y="1115568"/>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14400" y="1280160"/>
            <a:ext cx="10362895" cy="544830"/>
          </a:xfrm>
          <a:prstGeom prst="rect">
            <a:avLst/>
          </a:prstGeom>
          <a:noFill/>
        </p:spPr>
        <p:txBody>
          <a:bodyPr wrap="square" lIns="0" rIns="0" tIns="0" bIns="0" anchor="t">
            <a:spAutoFit/>
          </a:bodyPr>
          <a:lstStyle/>
          <a:p>
            <a:pPr algn="l">
              <a:lnSpc>
                <a:spcPct val="115000"/>
              </a:lnSpc>
            </a:pPr>
            <a:r>
              <a:rPr sz="2900" b="1" i="0">
                <a:solidFill>
                  <a:srgbClr val="E2DCD0"/>
                </a:solidFill>
                <a:latin typeface="Times New Roman"/>
                <a:ea typeface="宋体"/>
                <a:cs typeface="Times New Roman"/>
              </a:rPr>
              <a:t>病例规模收益真实存在，达到数十例后受环境随机性约束而放缓</a:t>
            </a:r>
          </a:p>
        </p:txBody>
      </p:sp>
      <p:sp>
        <p:nvSpPr>
          <p:cNvPr id="5" name="Rectangle 4"/>
          <p:cNvSpPr/>
          <p:nvPr/>
        </p:nvSpPr>
        <p:spPr>
          <a:xfrm>
            <a:off x="914400" y="2327910"/>
            <a:ext cx="10362895" cy="12700"/>
          </a:xfrm>
          <a:prstGeom prst="rect">
            <a:avLst/>
          </a:prstGeom>
          <a:solidFill>
            <a:srgbClr val="2E3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2602230"/>
            <a:ext cx="8778240" cy="2101088"/>
          </a:xfrm>
          <a:prstGeom prst="rect">
            <a:avLst/>
          </a:prstGeom>
          <a:noFill/>
        </p:spPr>
        <p:txBody>
          <a:bodyPr wrap="square" lIns="0" rIns="0" tIns="0" bIns="0">
            <a:spAutoFit/>
          </a:bodyPr>
          <a:lstStyle/>
          <a:p>
            <a:pPr indent="-256032" marL="256032">
              <a:lnSpc>
                <a:spcPct val="160000"/>
              </a:lnSpc>
              <a:spcAft>
                <a:spcPts val="0"/>
              </a:spcAft>
            </a:pPr>
            <a:r>
              <a:rPr sz="1700">
                <a:solidFill>
                  <a:srgbClr val="C8A870"/>
                </a:solidFill>
                <a:latin typeface="Times New Roman"/>
                <a:ea typeface="宋体"/>
                <a:cs typeface="Times New Roman"/>
              </a:rPr>
              <a:t>— </a:t>
            </a:r>
            <a:r>
              <a:rPr sz="1700">
                <a:solidFill>
                  <a:srgbClr val="E2DCD0"/>
                </a:solidFill>
                <a:latin typeface="Times New Roman"/>
                <a:ea typeface="宋体"/>
                <a:cs typeface="Times New Roman"/>
              </a:rPr>
              <a:t>跨期基础水平的估计方差存在环境底板 vR，平衡点 m× = A/vR</a:t>
            </a:r>
          </a:p>
          <a:p>
            <a:pPr indent="-256032" marL="256032">
              <a:lnSpc>
                <a:spcPct val="160000"/>
              </a:lnSpc>
              <a:spcBef>
                <a:spcPts val="1600"/>
              </a:spcBef>
              <a:spcAft>
                <a:spcPts val="0"/>
              </a:spcAft>
            </a:pPr>
            <a:r>
              <a:rPr sz="1700">
                <a:solidFill>
                  <a:srgbClr val="C8A870"/>
                </a:solidFill>
                <a:latin typeface="Times New Roman"/>
                <a:ea typeface="宋体"/>
                <a:cs typeface="Times New Roman"/>
              </a:rPr>
              <a:t>— </a:t>
            </a:r>
            <a:r>
              <a:rPr sz="1700">
                <a:solidFill>
                  <a:srgbClr val="E2DCD0"/>
                </a:solidFill>
                <a:latin typeface="Times New Roman"/>
                <a:ea typeface="宋体"/>
                <a:cs typeface="Times New Roman"/>
              </a:rPr>
              <a:t>NHSN 流行初期 m× ≈ 22.6 例/周，39%–55% 的误差份额与规模无关</a:t>
            </a:r>
          </a:p>
          <a:p>
            <a:pPr indent="-256032" marL="256032">
              <a:lnSpc>
                <a:spcPct val="160000"/>
              </a:lnSpc>
              <a:spcBef>
                <a:spcPts val="1600"/>
              </a:spcBef>
              <a:spcAft>
                <a:spcPts val="0"/>
              </a:spcAft>
            </a:pPr>
            <a:r>
              <a:rPr sz="1700">
                <a:solidFill>
                  <a:srgbClr val="C8A870"/>
                </a:solidFill>
                <a:latin typeface="Times New Roman"/>
                <a:ea typeface="宋体"/>
                <a:cs typeface="Times New Roman"/>
              </a:rPr>
              <a:t>— </a:t>
            </a:r>
            <a:r>
              <a:rPr sz="1700">
                <a:solidFill>
                  <a:srgbClr val="E2DCD0"/>
                </a:solidFill>
                <a:latin typeface="Times New Roman"/>
                <a:ea typeface="宋体"/>
                <a:cs typeface="Times New Roman"/>
              </a:rPr>
              <a:t>越过平衡点后，延长观测期与改进基准模型是降低误差的主要途径；FluSight 集成预测的达峰期偏差占比为 15.5%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644"/>
        </a:solidFill>
        <a:effectLst/>
      </p:bgPr>
    </p:bg>
    <p:spTree>
      <p:nvGrpSpPr>
        <p:cNvPr id="1" name=""/>
        <p:cNvGrpSpPr/>
        <p:nvPr/>
      </p:nvGrpSpPr>
      <p:grpSpPr/>
      <p:sp>
        <p:nvSpPr>
          <p:cNvPr id="2" name="TextBox 1"/>
          <p:cNvSpPr txBox="1"/>
          <p:nvPr/>
        </p:nvSpPr>
        <p:spPr>
          <a:xfrm>
            <a:off x="914400" y="1965960"/>
            <a:ext cx="7315200" cy="188976"/>
          </a:xfrm>
          <a:prstGeom prst="rect">
            <a:avLst/>
          </a:prstGeom>
          <a:noFill/>
        </p:spPr>
        <p:txBody>
          <a:bodyPr wrap="square" lIns="0" rIns="0" tIns="0" bIns="0" anchor="t">
            <a:spAutoFit/>
          </a:bodyPr>
          <a:lstStyle/>
          <a:p>
            <a:pPr algn="l"/>
            <a:r>
              <a:rPr sz="1000" b="0" i="0">
                <a:solidFill>
                  <a:srgbClr val="C8A870"/>
                </a:solidFill>
                <a:latin typeface="Times New Roman"/>
                <a:ea typeface="宋体"/>
                <a:cs typeface="Times New Roman"/>
              </a:rPr>
              <a:t>Q&amp;A · 提问与讨论</a:t>
            </a:r>
          </a:p>
        </p:txBody>
      </p:sp>
      <p:sp>
        <p:nvSpPr>
          <p:cNvPr id="3" name="Rectangle 2"/>
          <p:cNvSpPr/>
          <p:nvPr/>
        </p:nvSpPr>
        <p:spPr>
          <a:xfrm>
            <a:off x="914400" y="2221992"/>
            <a:ext cx="228600" cy="12700"/>
          </a:xfrm>
          <a:prstGeom prst="rect">
            <a:avLst/>
          </a:prstGeom>
          <a:solidFill>
            <a:srgbClr val="C8A8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14400" y="2468880"/>
            <a:ext cx="10362895" cy="798576"/>
          </a:xfrm>
          <a:prstGeom prst="rect">
            <a:avLst/>
          </a:prstGeom>
          <a:noFill/>
        </p:spPr>
        <p:txBody>
          <a:bodyPr wrap="square" lIns="0" rIns="0" tIns="0" bIns="0" anchor="t">
            <a:spAutoFit/>
          </a:bodyPr>
          <a:lstStyle/>
          <a:p>
            <a:pPr algn="l"/>
            <a:r>
              <a:rPr sz="5000" b="1" i="0">
                <a:solidFill>
                  <a:srgbClr val="E2DCD0"/>
                </a:solidFill>
                <a:latin typeface="Times New Roman"/>
                <a:ea typeface="宋体"/>
                <a:cs typeface="Times New Roman"/>
              </a:rPr>
              <a:t>敬请各位老师批评指正</a:t>
            </a:r>
          </a:p>
        </p:txBody>
      </p:sp>
      <p:sp>
        <p:nvSpPr>
          <p:cNvPr id="5" name="Rectangle 4"/>
          <p:cNvSpPr/>
          <p:nvPr/>
        </p:nvSpPr>
        <p:spPr>
          <a:xfrm>
            <a:off x="914400" y="3703320"/>
            <a:ext cx="10362895" cy="12700"/>
          </a:xfrm>
          <a:prstGeom prst="rect">
            <a:avLst/>
          </a:prstGeom>
          <a:solidFill>
            <a:srgbClr val="2E3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3886200"/>
            <a:ext cx="10362895" cy="204216"/>
          </a:xfrm>
          <a:prstGeom prst="rect">
            <a:avLst/>
          </a:prstGeom>
          <a:noFill/>
        </p:spPr>
        <p:txBody>
          <a:bodyPr wrap="square" lIns="0" rIns="0" tIns="0" bIns="0" anchor="t">
            <a:spAutoFit/>
          </a:bodyPr>
          <a:lstStyle/>
          <a:p>
            <a:pPr algn="l"/>
            <a:r>
              <a:rPr sz="1100" b="0" i="0">
                <a:solidFill>
                  <a:srgbClr val="8A96A8"/>
                </a:solidFill>
                <a:latin typeface="Times New Roman"/>
                <a:ea typeface="宋体"/>
                <a:cs typeface="Times New Roman"/>
              </a:rPr>
              <a:t>汇报人：王驰　　校内导师：张仲华　　西安科技大学应用统计硕士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
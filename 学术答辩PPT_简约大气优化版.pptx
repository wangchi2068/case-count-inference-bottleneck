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46.png"/><Relationship Id="rId8" Type="http://schemas.openxmlformats.org/officeDocument/2006/relationships/image" Target="../media/image4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20.png"/><Relationship Id="rId10" Type="http://schemas.openxmlformats.org/officeDocument/2006/relationships/image" Target="../media/image24.png"/><Relationship Id="rId11" Type="http://schemas.openxmlformats.org/officeDocument/2006/relationships/image" Target="../media/image33.png"/><Relationship Id="rId12" Type="http://schemas.openxmlformats.org/officeDocument/2006/relationships/image" Target="../media/image34.png"/><Relationship Id="rId13" Type="http://schemas.openxmlformats.org/officeDocument/2006/relationships/image" Target="../media/image35.png"/><Relationship Id="rId14" Type="http://schemas.openxmlformats.org/officeDocument/2006/relationships/image" Target="../media/image36.png"/><Relationship Id="rId15" Type="http://schemas.openxmlformats.org/officeDocument/2006/relationships/image" Target="../media/image37.png"/><Relationship Id="rId16" Type="http://schemas.openxmlformats.org/officeDocument/2006/relationships/image" Target="../media/image3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39.png"/><Relationship Id="rId10" Type="http://schemas.openxmlformats.org/officeDocument/2006/relationships/image" Target="../media/image4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23.png"/><Relationship Id="rId5" Type="http://schemas.openxmlformats.org/officeDocument/2006/relationships/image" Target="../media/image12.png"/><Relationship Id="rId6" Type="http://schemas.openxmlformats.org/officeDocument/2006/relationships/image" Target="../media/image27.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44.png"/><Relationship Id="rId6" Type="http://schemas.openxmlformats.org/officeDocument/2006/relationships/image" Target="../media/image4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0F172A"/>
          </a:solidFill>
          <a:ln>
            <a:noFill/>
          </a:ln>
          <a:effectLst/>
        </p:spPr>
        <p:txBody>
          <a:bodyPr rtlCol="0" anchor="ctr"/>
          <a:lstStyle/>
          <a:p>
            <a:pPr algn="ctr"/>
          </a:p>
        </p:txBody>
      </p:sp>
      <p:sp>
        <p:nvSpPr>
          <p:cNvPr id="3" name="TextBox 2"/>
          <p:cNvSpPr txBox="1"/>
          <p:nvPr/>
        </p:nvSpPr>
        <p:spPr>
          <a:xfrm>
            <a:off x="900000" y="792000"/>
            <a:ext cx="10393200" cy="288000"/>
          </a:xfrm>
          <a:prstGeom prst="rect">
            <a:avLst/>
          </a:prstGeom>
          <a:noFill/>
          <a:effectLst/>
        </p:spPr>
        <p:txBody>
          <a:bodyPr wrap="none">
            <a:spAutoFit/>
          </a:bodyPr>
          <a:lstStyle/>
          <a:p>
            <a:r>
              <a:rPr sz="1300" b="1">
                <a:solidFill>
                  <a:srgbClr val="93C5FD"/>
                </a:solidFill>
                <a:latin typeface="Segoe UI"/>
                <a:ea typeface="Microsoft YaHei"/>
              </a:rPr>
              <a:t>硕士学位论文中期考核答辩汇报  •  MASTER'S THESIS MID-TERM DEFENSE</a:t>
            </a:r>
          </a:p>
        </p:txBody>
      </p:sp>
      <p:sp>
        <p:nvSpPr>
          <p:cNvPr id="4" name="TextBox 3"/>
          <p:cNvSpPr txBox="1"/>
          <p:nvPr/>
        </p:nvSpPr>
        <p:spPr>
          <a:xfrm>
            <a:off x="900000" y="1224000"/>
            <a:ext cx="10393200" cy="792000"/>
          </a:xfrm>
          <a:prstGeom prst="rect">
            <a:avLst/>
          </a:prstGeom>
          <a:noFill/>
          <a:effectLst/>
        </p:spPr>
        <p:txBody>
          <a:bodyPr wrap="square">
            <a:spAutoFit/>
          </a:bodyPr>
          <a:lstStyle/>
          <a:p>
            <a:pPr>
              <a:lnSpc>
                <a:spcPct val="115000"/>
              </a:lnSpc>
            </a:pPr>
            <a:r>
              <a:rPr sz="3400" b="1">
                <a:solidFill>
                  <a:srgbClr val="FFFFFF"/>
                </a:solidFill>
                <a:latin typeface="Segoe UI"/>
                <a:ea typeface="Microsoft YaHei"/>
              </a:rPr>
              <a:t>疫情监测中的病例规模收益边界：
估计目标、环境随机性与外部验证</a:t>
            </a:r>
          </a:p>
        </p:txBody>
      </p:sp>
      <p:sp>
        <p:nvSpPr>
          <p:cNvPr id="5" name="TextBox 4"/>
          <p:cNvSpPr txBox="1"/>
          <p:nvPr/>
        </p:nvSpPr>
        <p:spPr>
          <a:xfrm>
            <a:off x="900000" y="2304000"/>
            <a:ext cx="10393200" cy="432000"/>
          </a:xfrm>
          <a:prstGeom prst="rect">
            <a:avLst/>
          </a:prstGeom>
          <a:noFill/>
          <a:effectLst/>
        </p:spPr>
        <p:txBody>
          <a:bodyPr wrap="square">
            <a:spAutoFit/>
          </a:bodyPr>
          <a:lstStyle/>
          <a:p>
            <a:r>
              <a:rPr sz="1300">
                <a:solidFill>
                  <a:srgbClr val="64748B"/>
                </a:solidFill>
                <a:latin typeface="Segoe UI"/>
                <a:ea typeface="Microsoft YaHei"/>
              </a:rPr>
              <a:t>Boundaries of Surveillance Scale Returns in Epidemic Monitoring: Estimation Targets, Environmental Stochasticity, and External Validation</a:t>
            </a:r>
          </a:p>
        </p:txBody>
      </p:sp>
      <p:sp>
        <p:nvSpPr>
          <p:cNvPr id="6" name="Rectangle 5"/>
          <p:cNvSpPr/>
          <p:nvPr/>
        </p:nvSpPr>
        <p:spPr>
          <a:xfrm>
            <a:off x="900000" y="2951999"/>
            <a:ext cx="10393200" cy="19050"/>
          </a:xfrm>
          <a:prstGeom prst="rect">
            <a:avLst/>
          </a:prstGeom>
          <a:solidFill>
            <a:srgbClr val="334155"/>
          </a:solidFill>
          <a:ln>
            <a:noFill/>
          </a:ln>
          <a:effectLst/>
        </p:spPr>
        <p:txBody>
          <a:bodyPr rtlCol="0" anchor="ctr"/>
          <a:lstStyle/>
          <a:p>
            <a:pPr algn="ctr"/>
          </a:p>
        </p:txBody>
      </p:sp>
      <p:sp>
        <p:nvSpPr>
          <p:cNvPr id="7" name="Rounded Rectangle 6"/>
          <p:cNvSpPr/>
          <p:nvPr/>
        </p:nvSpPr>
        <p:spPr>
          <a:xfrm>
            <a:off x="900000" y="3311999"/>
            <a:ext cx="2412000" cy="1872000"/>
          </a:xfrm>
          <a:prstGeom prst="roundRect">
            <a:avLst>
              <a:gd name="adj" fmla="val 2000"/>
            </a:avLst>
          </a:prstGeom>
          <a:solidFill>
            <a:srgbClr val="1E293B"/>
          </a:solidFill>
          <a:ln w="12700">
            <a:solidFill>
              <a:srgbClr val="334155"/>
            </a:solidFill>
          </a:ln>
          <a:effectLst/>
        </p:spPr>
        <p:txBody>
          <a:bodyPr rtlCol="0" anchor="ctr"/>
          <a:lstStyle/>
          <a:p>
            <a:pPr algn="ctr"/>
          </a:p>
        </p:txBody>
      </p:sp>
      <p:sp>
        <p:nvSpPr>
          <p:cNvPr id="8" name="TextBox 7"/>
          <p:cNvSpPr txBox="1"/>
          <p:nvPr/>
        </p:nvSpPr>
        <p:spPr>
          <a:xfrm>
            <a:off x="1080000" y="3527999"/>
            <a:ext cx="2052000" cy="1440000"/>
          </a:xfrm>
          <a:prstGeom prst="rect">
            <a:avLst/>
          </a:prstGeom>
          <a:noFill/>
          <a:effectLst/>
        </p:spPr>
        <p:txBody>
          <a:bodyPr wrap="square">
            <a:spAutoFit/>
          </a:bodyPr>
          <a:lstStyle/>
          <a:p>
            <a:r>
              <a:rPr sz="1200" b="1">
                <a:solidFill>
                  <a:srgbClr val="93C5FD"/>
                </a:solidFill>
                <a:latin typeface="Segoe UI"/>
                <a:ea typeface="Microsoft YaHei"/>
              </a:rPr>
              <a:t>学科专业 / 专业领域</a:t>
            </a:r>
          </a:p>
          <a:p>
            <a:pPr>
              <a:lnSpc>
                <a:spcPct val="130000"/>
              </a:lnSpc>
              <a:spcBef>
                <a:spcPts val="800"/>
              </a:spcBef>
            </a:pPr>
            <a:r>
              <a:rPr sz="1150">
                <a:solidFill>
                  <a:srgbClr val="F1F5F9"/>
                </a:solidFill>
                <a:latin typeface="Segoe UI"/>
                <a:ea typeface="Microsoft YaHei"/>
              </a:rPr>
              <a:t>应用统计硕士 (MAS)
流行病学与生物数学建模</a:t>
            </a:r>
          </a:p>
        </p:txBody>
      </p:sp>
      <p:sp>
        <p:nvSpPr>
          <p:cNvPr id="9" name="Rounded Rectangle 8"/>
          <p:cNvSpPr/>
          <p:nvPr/>
        </p:nvSpPr>
        <p:spPr>
          <a:xfrm>
            <a:off x="3560399" y="3311999"/>
            <a:ext cx="2412000" cy="1872000"/>
          </a:xfrm>
          <a:prstGeom prst="roundRect">
            <a:avLst>
              <a:gd name="adj" fmla="val 2000"/>
            </a:avLst>
          </a:prstGeom>
          <a:solidFill>
            <a:srgbClr val="1E293B"/>
          </a:solidFill>
          <a:ln w="12700">
            <a:solidFill>
              <a:srgbClr val="334155"/>
            </a:solidFill>
          </a:ln>
          <a:effectLst/>
        </p:spPr>
        <p:txBody>
          <a:bodyPr rtlCol="0" anchor="ctr"/>
          <a:lstStyle/>
          <a:p>
            <a:pPr algn="ctr"/>
          </a:p>
        </p:txBody>
      </p:sp>
      <p:sp>
        <p:nvSpPr>
          <p:cNvPr id="10" name="TextBox 9"/>
          <p:cNvSpPr txBox="1"/>
          <p:nvPr/>
        </p:nvSpPr>
        <p:spPr>
          <a:xfrm>
            <a:off x="3740399" y="3527999"/>
            <a:ext cx="2052000" cy="1440000"/>
          </a:xfrm>
          <a:prstGeom prst="rect">
            <a:avLst/>
          </a:prstGeom>
          <a:noFill/>
          <a:effectLst/>
        </p:spPr>
        <p:txBody>
          <a:bodyPr wrap="square">
            <a:spAutoFit/>
          </a:bodyPr>
          <a:lstStyle/>
          <a:p>
            <a:r>
              <a:rPr sz="1200" b="1">
                <a:solidFill>
                  <a:srgbClr val="93C5FD"/>
                </a:solidFill>
                <a:latin typeface="Segoe UI"/>
                <a:ea typeface="Microsoft YaHei"/>
              </a:rPr>
              <a:t>课题体量与阶段</a:t>
            </a:r>
          </a:p>
          <a:p>
            <a:pPr>
              <a:lnSpc>
                <a:spcPct val="130000"/>
              </a:lnSpc>
              <a:spcBef>
                <a:spcPts val="800"/>
              </a:spcBef>
            </a:pPr>
            <a:r>
              <a:rPr sz="1150">
                <a:solidFill>
                  <a:srgbClr val="F1F5F9"/>
                </a:solidFill>
                <a:latin typeface="Segoe UI"/>
                <a:ea typeface="Microsoft YaHei"/>
              </a:rPr>
              <a:t>预定大论文篇幅 80~85 页
已成稿 28 页小论文 (213 项检验全过)</a:t>
            </a:r>
          </a:p>
        </p:txBody>
      </p:sp>
      <p:sp>
        <p:nvSpPr>
          <p:cNvPr id="11" name="Rounded Rectangle 10"/>
          <p:cNvSpPr/>
          <p:nvPr/>
        </p:nvSpPr>
        <p:spPr>
          <a:xfrm>
            <a:off x="6220798" y="3311999"/>
            <a:ext cx="2412000" cy="1872000"/>
          </a:xfrm>
          <a:prstGeom prst="roundRect">
            <a:avLst>
              <a:gd name="adj" fmla="val 2000"/>
            </a:avLst>
          </a:prstGeom>
          <a:solidFill>
            <a:srgbClr val="1E293B"/>
          </a:solidFill>
          <a:ln w="12700">
            <a:solidFill>
              <a:srgbClr val="334155"/>
            </a:solidFill>
          </a:ln>
          <a:effectLst/>
        </p:spPr>
        <p:txBody>
          <a:bodyPr rtlCol="0" anchor="ctr"/>
          <a:lstStyle/>
          <a:p>
            <a:pPr algn="ctr"/>
          </a:p>
        </p:txBody>
      </p:sp>
      <p:sp>
        <p:nvSpPr>
          <p:cNvPr id="12" name="TextBox 11"/>
          <p:cNvSpPr txBox="1"/>
          <p:nvPr/>
        </p:nvSpPr>
        <p:spPr>
          <a:xfrm>
            <a:off x="6400798" y="3527999"/>
            <a:ext cx="2052000" cy="1440000"/>
          </a:xfrm>
          <a:prstGeom prst="rect">
            <a:avLst/>
          </a:prstGeom>
          <a:noFill/>
          <a:effectLst/>
        </p:spPr>
        <p:txBody>
          <a:bodyPr wrap="square">
            <a:spAutoFit/>
          </a:bodyPr>
          <a:lstStyle/>
          <a:p>
            <a:r>
              <a:rPr sz="1200" b="1">
                <a:solidFill>
                  <a:srgbClr val="93C5FD"/>
                </a:solidFill>
                <a:latin typeface="Segoe UI"/>
                <a:ea typeface="Microsoft YaHei"/>
              </a:rPr>
              <a:t>指导教师 / 指导小组</a:t>
            </a:r>
          </a:p>
          <a:p>
            <a:pPr>
              <a:lnSpc>
                <a:spcPct val="130000"/>
              </a:lnSpc>
              <a:spcBef>
                <a:spcPts val="800"/>
              </a:spcBef>
            </a:pPr>
            <a:r>
              <a:rPr sz="1150">
                <a:solidFill>
                  <a:srgbClr val="F1F5F9"/>
                </a:solidFill>
                <a:latin typeface="Segoe UI"/>
                <a:ea typeface="Microsoft YaHei"/>
              </a:rPr>
              <a:t>指导小组</a:t>
            </a:r>
          </a:p>
        </p:txBody>
      </p:sp>
      <p:sp>
        <p:nvSpPr>
          <p:cNvPr id="13" name="Rounded Rectangle 12"/>
          <p:cNvSpPr/>
          <p:nvPr/>
        </p:nvSpPr>
        <p:spPr>
          <a:xfrm>
            <a:off x="8881197" y="3311999"/>
            <a:ext cx="2412000" cy="1872000"/>
          </a:xfrm>
          <a:prstGeom prst="roundRect">
            <a:avLst>
              <a:gd name="adj" fmla="val 2000"/>
            </a:avLst>
          </a:prstGeom>
          <a:solidFill>
            <a:srgbClr val="1E293B"/>
          </a:solidFill>
          <a:ln w="12700">
            <a:solidFill>
              <a:srgbClr val="334155"/>
            </a:solidFill>
          </a:ln>
          <a:effectLst/>
        </p:spPr>
        <p:txBody>
          <a:bodyPr rtlCol="0" anchor="ctr"/>
          <a:lstStyle/>
          <a:p>
            <a:pPr algn="ctr"/>
          </a:p>
        </p:txBody>
      </p:sp>
      <p:sp>
        <p:nvSpPr>
          <p:cNvPr id="14" name="TextBox 13"/>
          <p:cNvSpPr txBox="1"/>
          <p:nvPr/>
        </p:nvSpPr>
        <p:spPr>
          <a:xfrm>
            <a:off x="9061197" y="3527999"/>
            <a:ext cx="2052000" cy="1440000"/>
          </a:xfrm>
          <a:prstGeom prst="rect">
            <a:avLst/>
          </a:prstGeom>
          <a:noFill/>
          <a:effectLst/>
        </p:spPr>
        <p:txBody>
          <a:bodyPr wrap="square">
            <a:spAutoFit/>
          </a:bodyPr>
          <a:lstStyle/>
          <a:p>
            <a:r>
              <a:rPr sz="1200" b="1">
                <a:solidFill>
                  <a:srgbClr val="93C5FD"/>
                </a:solidFill>
                <a:latin typeface="Segoe UI"/>
                <a:ea typeface="Microsoft YaHei"/>
              </a:rPr>
              <a:t>答辩汇报人 / 考核时间</a:t>
            </a:r>
          </a:p>
          <a:p>
            <a:pPr>
              <a:lnSpc>
                <a:spcPct val="130000"/>
              </a:lnSpc>
              <a:spcBef>
                <a:spcPts val="800"/>
              </a:spcBef>
            </a:pPr>
            <a:r>
              <a:rPr sz="1150">
                <a:solidFill>
                  <a:srgbClr val="F1F5F9"/>
                </a:solidFill>
                <a:latin typeface="Segoe UI"/>
                <a:ea typeface="Microsoft YaHei"/>
              </a:rPr>
              <a:t>答辩人
2026 年秋季 · 硕士中期考核</a:t>
            </a:r>
          </a:p>
        </p:txBody>
      </p:sp>
      <p:sp>
        <p:nvSpPr>
          <p:cNvPr id="15" name="TextBox 14"/>
          <p:cNvSpPr txBox="1"/>
          <p:nvPr/>
        </p:nvSpPr>
        <p:spPr>
          <a:xfrm>
            <a:off x="900000" y="5760000"/>
            <a:ext cx="10393200" cy="360000"/>
          </a:xfrm>
          <a:prstGeom prst="rect">
            <a:avLst/>
          </a:prstGeom>
          <a:noFill/>
          <a:effectLst/>
        </p:spPr>
        <p:txBody>
          <a:bodyPr wrap="none">
            <a:spAutoFit/>
          </a:bodyPr>
          <a:lstStyle/>
          <a:p>
            <a:r>
              <a:rPr sz="1100">
                <a:solidFill>
                  <a:srgbClr val="94A3B8"/>
                </a:solidFill>
                <a:latin typeface="Segoe UI"/>
                <a:ea typeface="Microsoft YaHei"/>
              </a:rPr>
              <a:t>★ 本课题核心数学推导、全套随机仿真与三大实证数据集检验已全部闭环，当前阶段正系统扩充大论文章节体系。</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251999"/>
            <a:ext cx="7920000" cy="198000"/>
          </a:xfrm>
          <a:prstGeom prst="rect">
            <a:avLst/>
          </a:prstGeom>
          <a:noFill/>
          <a:effectLst/>
        </p:spPr>
        <p:txBody>
          <a:bodyPr wrap="square" lIns="0" rIns="0" tIns="0" bIns="0">
            <a:spAutoFit/>
          </a:bodyPr>
          <a:lstStyle/>
          <a:p>
            <a:pPr>
              <a:lnSpc>
                <a:spcPct val="115000"/>
              </a:lnSpc>
            </a:pPr>
            <a:r>
              <a:rPr sz="1050" b="1">
                <a:solidFill>
                  <a:srgbClr val="2563EB"/>
                </a:solidFill>
                <a:latin typeface="Segoe UI"/>
                <a:ea typeface="Microsoft YaHei"/>
              </a:rPr>
              <a:t>00 / 课题全景与大论文架构  •  THESIS STRUCTURE &amp; MID-TERM PROGRESS</a:t>
            </a:r>
          </a:p>
        </p:txBody>
      </p:sp>
      <p:sp>
        <p:nvSpPr>
          <p:cNvPr id="3" name="TextBox 2"/>
          <p:cNvSpPr txBox="1"/>
          <p:nvPr/>
        </p:nvSpPr>
        <p:spPr>
          <a:xfrm>
            <a:off x="9720000" y="251999"/>
            <a:ext cx="1933200" cy="198000"/>
          </a:xfrm>
          <a:prstGeom prst="rect">
            <a:avLst/>
          </a:prstGeom>
          <a:noFill/>
          <a:effectLst/>
        </p:spPr>
        <p:txBody>
          <a:bodyPr wrap="square" lIns="0" rIns="0" tIns="0" bIns="0">
            <a:spAutoFit/>
          </a:bodyPr>
          <a:lstStyle/>
          <a:p>
            <a:pPr algn="r">
              <a:lnSpc>
                <a:spcPct val="115000"/>
              </a:lnSpc>
            </a:pPr>
            <a:r>
              <a:rPr sz="1100" b="1">
                <a:solidFill>
                  <a:srgbClr val="64748B"/>
                </a:solidFill>
                <a:latin typeface="Segoe UI"/>
                <a:ea typeface="Microsoft YaHei"/>
              </a:rPr>
              <a:t>02 / 11</a:t>
            </a:r>
          </a:p>
        </p:txBody>
      </p:sp>
      <p:sp>
        <p:nvSpPr>
          <p:cNvPr id="4" name="TextBox 3"/>
          <p:cNvSpPr txBox="1"/>
          <p:nvPr/>
        </p:nvSpPr>
        <p:spPr>
          <a:xfrm>
            <a:off x="540000" y="468000"/>
            <a:ext cx="11113200" cy="342000"/>
          </a:xfrm>
          <a:prstGeom prst="rect">
            <a:avLst/>
          </a:prstGeom>
          <a:noFill/>
          <a:effectLst/>
        </p:spPr>
        <p:txBody>
          <a:bodyPr wrap="square" lIns="0" rIns="0" tIns="0" bIns="0">
            <a:spAutoFit/>
          </a:bodyPr>
          <a:lstStyle/>
          <a:p>
            <a:pPr>
              <a:lnSpc>
                <a:spcPct val="115000"/>
              </a:lnSpc>
            </a:pPr>
            <a:r>
              <a:rPr sz="2100" b="1">
                <a:solidFill>
                  <a:srgbClr val="0F172A"/>
                </a:solidFill>
                <a:latin typeface="Segoe UI"/>
                <a:ea typeface="Microsoft YaHei"/>
              </a:rPr>
              <a:t>大论文七章体系与中期进展全景</a:t>
            </a:r>
          </a:p>
        </p:txBody>
      </p:sp>
      <p:sp>
        <p:nvSpPr>
          <p:cNvPr id="5" name="Rectangle 4"/>
          <p:cNvSpPr/>
          <p:nvPr/>
        </p:nvSpPr>
        <p:spPr>
          <a:xfrm>
            <a:off x="540000" y="846000"/>
            <a:ext cx="11113200" cy="12700"/>
          </a:xfrm>
          <a:prstGeom prst="rect">
            <a:avLst/>
          </a:prstGeom>
          <a:solidFill>
            <a:srgbClr val="E2E8F0"/>
          </a:solidFill>
          <a:ln>
            <a:noFill/>
          </a:ln>
          <a:effectLst/>
        </p:spPr>
        <p:txBody>
          <a:bodyPr rtlCol="0" anchor="ctr"/>
          <a:lstStyle/>
          <a:p>
            <a:pPr algn="ctr"/>
          </a:p>
        </p:txBody>
      </p:sp>
      <p:sp>
        <p:nvSpPr>
          <p:cNvPr id="6" name="Rounded Rectangle 5"/>
          <p:cNvSpPr/>
          <p:nvPr/>
        </p:nvSpPr>
        <p:spPr>
          <a:xfrm>
            <a:off x="540000" y="954000"/>
            <a:ext cx="54000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7" name="TextBox 6"/>
          <p:cNvSpPr txBox="1"/>
          <p:nvPr/>
        </p:nvSpPr>
        <p:spPr>
          <a:xfrm>
            <a:off x="756000" y="1116000"/>
            <a:ext cx="4968000" cy="216000"/>
          </a:xfrm>
          <a:prstGeom prst="rect">
            <a:avLst/>
          </a:prstGeom>
          <a:noFill/>
          <a:effectLst/>
        </p:spPr>
        <p:txBody>
          <a:bodyPr wrap="none">
            <a:spAutoFit/>
          </a:bodyPr>
          <a:lstStyle/>
          <a:p>
            <a:r>
              <a:rPr sz="1400" b="1">
                <a:solidFill>
                  <a:srgbClr val="1E3A8A"/>
                </a:solidFill>
                <a:latin typeface="Segoe UI"/>
                <a:ea typeface="Microsoft YaHei"/>
              </a:rPr>
              <a:t>大论文七大主体章节规划（预计 80~85 页）</a:t>
            </a:r>
          </a:p>
        </p:txBody>
      </p:sp>
      <p:sp>
        <p:nvSpPr>
          <p:cNvPr id="8" name="Rounded Rectangle 7"/>
          <p:cNvSpPr/>
          <p:nvPr/>
        </p:nvSpPr>
        <p:spPr>
          <a:xfrm>
            <a:off x="720000" y="1386000"/>
            <a:ext cx="5040000" cy="4860000"/>
          </a:xfrm>
          <a:prstGeom prst="roundRect">
            <a:avLst>
              <a:gd name="adj" fmla="val 2000"/>
            </a:avLst>
          </a:prstGeom>
          <a:solidFill>
            <a:srgbClr val="FFFFFF"/>
          </a:solidFill>
          <a:ln w="12700">
            <a:solidFill>
              <a:srgbClr val="E2E8F0"/>
            </a:solidFill>
          </a:ln>
          <a:effectLst/>
        </p:spPr>
        <p:txBody>
          <a:bodyPr rtlCol="0" anchor="ctr"/>
          <a:lstStyle/>
          <a:p>
            <a:pPr algn="ctr"/>
          </a:p>
        </p:txBody>
      </p:sp>
      <p:pic>
        <p:nvPicPr>
          <p:cNvPr id="9" name="Picture 8" descr="fig0_technical_roadmap.png"/>
          <p:cNvPicPr>
            <a:picLocks noChangeAspect="1"/>
          </p:cNvPicPr>
          <p:nvPr/>
        </p:nvPicPr>
        <p:blipFill>
          <a:blip r:embed="rId8"/>
          <a:stretch>
            <a:fillRect/>
          </a:stretch>
        </p:blipFill>
        <p:spPr>
          <a:xfrm>
            <a:off x="1281568" y="1458000"/>
            <a:ext cx="3916862" cy="4716000"/>
          </a:xfrm>
          <a:prstGeom prst="rect">
            <a:avLst/>
          </a:prstGeom>
          <a:effectLst/>
        </p:spPr>
      </p:pic>
      <p:sp>
        <p:nvSpPr>
          <p:cNvPr id="10" name="Rounded Rectangle 9"/>
          <p:cNvSpPr/>
          <p:nvPr/>
        </p:nvSpPr>
        <p:spPr>
          <a:xfrm>
            <a:off x="6228000" y="954000"/>
            <a:ext cx="54252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11" name="TextBox 10"/>
          <p:cNvSpPr txBox="1"/>
          <p:nvPr/>
        </p:nvSpPr>
        <p:spPr>
          <a:xfrm>
            <a:off x="6444000" y="1116000"/>
            <a:ext cx="4993200" cy="216000"/>
          </a:xfrm>
          <a:prstGeom prst="rect">
            <a:avLst/>
          </a:prstGeom>
          <a:noFill/>
          <a:effectLst/>
        </p:spPr>
        <p:txBody>
          <a:bodyPr wrap="none">
            <a:spAutoFit/>
          </a:bodyPr>
          <a:lstStyle/>
          <a:p>
            <a:r>
              <a:rPr sz="1400" b="1">
                <a:solidFill>
                  <a:srgbClr val="1E3A8A"/>
                </a:solidFill>
                <a:latin typeface="Segoe UI"/>
                <a:ea typeface="Microsoft YaHei"/>
              </a:rPr>
              <a:t>中期完成度指标与核心学术储备</a:t>
            </a:r>
          </a:p>
        </p:txBody>
      </p:sp>
      <p:sp>
        <p:nvSpPr>
          <p:cNvPr id="12" name="Rounded Rectangle 11"/>
          <p:cNvSpPr/>
          <p:nvPr/>
        </p:nvSpPr>
        <p:spPr>
          <a:xfrm>
            <a:off x="6408000" y="1404000"/>
            <a:ext cx="5065200" cy="864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3" name="TextBox 12"/>
          <p:cNvSpPr txBox="1"/>
          <p:nvPr/>
        </p:nvSpPr>
        <p:spPr>
          <a:xfrm>
            <a:off x="6516000" y="1476000"/>
            <a:ext cx="4849200" cy="720000"/>
          </a:xfrm>
          <a:prstGeom prst="rect">
            <a:avLst/>
          </a:prstGeom>
          <a:noFill/>
          <a:effectLst/>
        </p:spPr>
        <p:txBody>
          <a:bodyPr wrap="square">
            <a:spAutoFit/>
          </a:bodyPr>
          <a:lstStyle/>
          <a:p>
            <a:r>
              <a:rPr sz="1100" b="1">
                <a:solidFill>
                  <a:srgbClr val="1E293B"/>
                </a:solidFill>
                <a:latin typeface="Segoe UI"/>
                <a:ea typeface="Microsoft YaHei"/>
              </a:rPr>
              <a:t>理论推导闭环：</a:t>
            </a:r>
            <a:r>
              <a:rPr sz="1150" b="1">
                <a:solidFill>
                  <a:srgbClr val="1E3A8A"/>
                </a:solidFill>
                <a:latin typeface="Segoe UI"/>
                <a:ea typeface="Microsoft YaHei"/>
              </a:rPr>
              <a:t>6 大命题 + 1 核心推论</a:t>
            </a:r>
          </a:p>
          <a:p>
            <a:pPr>
              <a:lnSpc>
                <a:spcPct val="120000"/>
              </a:lnSpc>
              <a:spcBef>
                <a:spcPts val="300"/>
              </a:spcBef>
            </a:pPr>
            <a:r>
              <a:rPr sz="919">
                <a:solidFill>
                  <a:srgbClr val="334155"/>
                </a:solidFill>
                <a:latin typeface="Segoe UI"/>
                <a:ea typeface="Microsoft YaHei"/>
              </a:rPr>
              <a:t>PGF 复合封闭、Score 方程、无偏性验证、Fisher 信息双套算法、Cochran 对偶全闭式解</a:t>
            </a:r>
          </a:p>
        </p:txBody>
      </p:sp>
      <p:sp>
        <p:nvSpPr>
          <p:cNvPr id="14" name="Rounded Rectangle 13"/>
          <p:cNvSpPr/>
          <p:nvPr/>
        </p:nvSpPr>
        <p:spPr>
          <a:xfrm>
            <a:off x="6408000" y="2321999"/>
            <a:ext cx="5065200" cy="864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5" name="TextBox 14"/>
          <p:cNvSpPr txBox="1"/>
          <p:nvPr/>
        </p:nvSpPr>
        <p:spPr>
          <a:xfrm>
            <a:off x="6516000" y="2393999"/>
            <a:ext cx="4849200" cy="720000"/>
          </a:xfrm>
          <a:prstGeom prst="rect">
            <a:avLst/>
          </a:prstGeom>
          <a:noFill/>
          <a:effectLst/>
        </p:spPr>
        <p:txBody>
          <a:bodyPr wrap="square">
            <a:spAutoFit/>
          </a:bodyPr>
          <a:lstStyle/>
          <a:p>
            <a:r>
              <a:rPr sz="1100" b="1">
                <a:solidFill>
                  <a:srgbClr val="1E293B"/>
                </a:solidFill>
                <a:latin typeface="Segoe UI"/>
                <a:ea typeface="Microsoft YaHei"/>
              </a:rPr>
              <a:t>真实实证样本：</a:t>
            </a:r>
            <a:r>
              <a:rPr sz="1150" b="1">
                <a:solidFill>
                  <a:srgbClr val="1E3A8A"/>
                </a:solidFill>
                <a:latin typeface="Segoe UI"/>
                <a:ea typeface="Microsoft YaHei"/>
              </a:rPr>
              <a:t>16,218 原始记录</a:t>
            </a:r>
          </a:p>
          <a:p>
            <a:pPr>
              <a:lnSpc>
                <a:spcPct val="120000"/>
              </a:lnSpc>
              <a:spcBef>
                <a:spcPts val="300"/>
              </a:spcBef>
            </a:pPr>
            <a:r>
              <a:rPr sz="919">
                <a:solidFill>
                  <a:srgbClr val="334155"/>
                </a:solidFill>
                <a:latin typeface="Segoe UI"/>
                <a:ea typeface="Microsoft YaHei"/>
              </a:rPr>
              <a:t>严格客观筛选 D_t ≥ 5，10,303 活跃周样本，三大历史制度期 6009+420+3874 算术严密闭环</a:t>
            </a:r>
          </a:p>
        </p:txBody>
      </p:sp>
      <p:sp>
        <p:nvSpPr>
          <p:cNvPr id="16" name="Rounded Rectangle 15"/>
          <p:cNvSpPr/>
          <p:nvPr/>
        </p:nvSpPr>
        <p:spPr>
          <a:xfrm>
            <a:off x="6408000" y="3239998"/>
            <a:ext cx="5065200" cy="864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7" name="TextBox 16"/>
          <p:cNvSpPr txBox="1"/>
          <p:nvPr/>
        </p:nvSpPr>
        <p:spPr>
          <a:xfrm>
            <a:off x="6516000" y="3311998"/>
            <a:ext cx="4849200" cy="720000"/>
          </a:xfrm>
          <a:prstGeom prst="rect">
            <a:avLst/>
          </a:prstGeom>
          <a:noFill/>
          <a:effectLst/>
        </p:spPr>
        <p:txBody>
          <a:bodyPr wrap="square">
            <a:spAutoFit/>
          </a:bodyPr>
          <a:lstStyle/>
          <a:p>
            <a:r>
              <a:rPr sz="1100" b="1">
                <a:solidFill>
                  <a:srgbClr val="1E293B"/>
                </a:solidFill>
                <a:latin typeface="Segoe UI"/>
                <a:ea typeface="Microsoft YaHei"/>
              </a:rPr>
              <a:t>回归校验套件：</a:t>
            </a:r>
            <a:r>
              <a:rPr sz="1150" b="1">
                <a:solidFill>
                  <a:srgbClr val="1E3A8A"/>
                </a:solidFill>
                <a:latin typeface="Segoe UI"/>
                <a:ea typeface="Microsoft YaHei"/>
              </a:rPr>
              <a:t>213 项全域数字检验</a:t>
            </a:r>
          </a:p>
          <a:p>
            <a:pPr>
              <a:lnSpc>
                <a:spcPct val="120000"/>
              </a:lnSpc>
              <a:spcBef>
                <a:spcPts val="300"/>
              </a:spcBef>
            </a:pPr>
            <a:r>
              <a:rPr sz="919">
                <a:solidFill>
                  <a:srgbClr val="334155"/>
                </a:solidFill>
                <a:latin typeface="Segoe UI"/>
                <a:ea typeface="Microsoft YaHei"/>
              </a:rPr>
              <a:t>包含多重聚类 Bootstrap CI [-2.33, 0.59]、仿射参数 22.6 等全量测试 100% 绿色通过</a:t>
            </a:r>
          </a:p>
        </p:txBody>
      </p:sp>
      <p:sp>
        <p:nvSpPr>
          <p:cNvPr id="18" name="Rounded Rectangle 17"/>
          <p:cNvSpPr/>
          <p:nvPr/>
        </p:nvSpPr>
        <p:spPr>
          <a:xfrm>
            <a:off x="6408000" y="4157997"/>
            <a:ext cx="5065200" cy="864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9" name="TextBox 18"/>
          <p:cNvSpPr txBox="1"/>
          <p:nvPr/>
        </p:nvSpPr>
        <p:spPr>
          <a:xfrm>
            <a:off x="6516000" y="4229997"/>
            <a:ext cx="4849200" cy="720000"/>
          </a:xfrm>
          <a:prstGeom prst="rect">
            <a:avLst/>
          </a:prstGeom>
          <a:noFill/>
          <a:effectLst/>
        </p:spPr>
        <p:txBody>
          <a:bodyPr wrap="square">
            <a:spAutoFit/>
          </a:bodyPr>
          <a:lstStyle/>
          <a:p>
            <a:r>
              <a:rPr sz="1100" b="1">
                <a:solidFill>
                  <a:srgbClr val="1E293B"/>
                </a:solidFill>
                <a:latin typeface="Segoe UI"/>
                <a:ea typeface="Microsoft YaHei"/>
              </a:rPr>
              <a:t>前期成果基础：</a:t>
            </a:r>
            <a:r>
              <a:rPr sz="1150" b="1">
                <a:solidFill>
                  <a:srgbClr val="1E3A8A"/>
                </a:solidFill>
                <a:latin typeface="Segoe UI"/>
                <a:ea typeface="Microsoft YaHei"/>
              </a:rPr>
              <a:t>28 页高水平期刊稿</a:t>
            </a:r>
          </a:p>
          <a:p>
            <a:pPr>
              <a:lnSpc>
                <a:spcPct val="120000"/>
              </a:lnSpc>
              <a:spcBef>
                <a:spcPts val="300"/>
              </a:spcBef>
            </a:pPr>
            <a:r>
              <a:rPr sz="919">
                <a:solidFill>
                  <a:srgbClr val="334155"/>
                </a:solidFill>
                <a:latin typeface="Segoe UI"/>
                <a:ea typeface="Microsoft YaHei"/>
              </a:rPr>
              <a:t>小论文全文定稿，获高分审稿评价；大论文框架已成型，已具备 80 页展开的坚实基石</a:t>
            </a:r>
          </a:p>
        </p:txBody>
      </p:sp>
      <p:sp>
        <p:nvSpPr>
          <p:cNvPr id="20" name="Rounded Rectangle 19"/>
          <p:cNvSpPr/>
          <p:nvPr/>
        </p:nvSpPr>
        <p:spPr>
          <a:xfrm>
            <a:off x="6408000" y="5202000"/>
            <a:ext cx="5065200" cy="1044000"/>
          </a:xfrm>
          <a:prstGeom prst="roundRect">
            <a:avLst>
              <a:gd name="adj" fmla="val 2000"/>
            </a:avLst>
          </a:prstGeom>
          <a:solidFill>
            <a:srgbClr val="EFF6FF"/>
          </a:solidFill>
          <a:ln w="9525">
            <a:solidFill>
              <a:srgbClr val="BFDBFE"/>
            </a:solidFill>
          </a:ln>
          <a:effectLst/>
        </p:spPr>
        <p:txBody>
          <a:bodyPr rtlCol="0" anchor="ctr"/>
          <a:lstStyle/>
          <a:p>
            <a:pPr algn="ctr"/>
          </a:p>
        </p:txBody>
      </p:sp>
      <p:sp>
        <p:nvSpPr>
          <p:cNvPr id="21" name="TextBox 20"/>
          <p:cNvSpPr txBox="1"/>
          <p:nvPr/>
        </p:nvSpPr>
        <p:spPr>
          <a:xfrm>
            <a:off x="6552000" y="5274000"/>
            <a:ext cx="4777200" cy="900000"/>
          </a:xfrm>
          <a:prstGeom prst="rect">
            <a:avLst/>
          </a:prstGeom>
          <a:noFill/>
          <a:effectLst/>
        </p:spPr>
        <p:txBody>
          <a:bodyPr wrap="square" lIns="0" rIns="0" tIns="0" bIns="0">
            <a:spAutoFit/>
          </a:bodyPr>
          <a:lstStyle/>
          <a:p>
            <a:pPr>
              <a:lnSpc>
                <a:spcPct val="115000"/>
              </a:lnSpc>
            </a:pPr>
            <a:r>
              <a:rPr sz="1080" b="1">
                <a:solidFill>
                  <a:srgbClr val="1E3A8A"/>
                </a:solidFill>
                <a:latin typeface="Segoe UI"/>
                <a:ea typeface="Microsoft YaHei"/>
              </a:rPr>
              <a:t>【中期考核自评与工作定位】</a:t>
            </a:r>
          </a:p>
          <a:p>
            <a:pPr>
              <a:lnSpc>
                <a:spcPct val="118000"/>
              </a:lnSpc>
              <a:spcBef>
                <a:spcPts val="300"/>
              </a:spcBef>
            </a:pPr>
            <a:r>
              <a:rPr sz="950">
                <a:solidFill>
                  <a:srgbClr val="334155"/>
                </a:solidFill>
                <a:latin typeface="Segoe UI"/>
                <a:ea typeface="Microsoft YaHei"/>
              </a:rPr>
              <a:t>本课题已完成全部数学命题定理推导、蒙特卡洛数值仿真及全美流感与欧洲 COVID-19 实证检验，工作量高度饱满。目前已全面启动 80~85 页大论文分章撰写，各章节内容骨架扎实，完全符合硕士研究生中期考核与优秀学位论文培养标准。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251999"/>
            <a:ext cx="7920000" cy="198000"/>
          </a:xfrm>
          <a:prstGeom prst="rect">
            <a:avLst/>
          </a:prstGeom>
          <a:noFill/>
          <a:effectLst/>
        </p:spPr>
        <p:txBody>
          <a:bodyPr wrap="square" lIns="0" rIns="0" tIns="0" bIns="0">
            <a:spAutoFit/>
          </a:bodyPr>
          <a:lstStyle/>
          <a:p>
            <a:pPr>
              <a:lnSpc>
                <a:spcPct val="115000"/>
              </a:lnSpc>
            </a:pPr>
            <a:r>
              <a:rPr sz="1050" b="1">
                <a:solidFill>
                  <a:srgbClr val="2563EB"/>
                </a:solidFill>
                <a:latin typeface="Segoe UI"/>
                <a:ea typeface="Microsoft YaHei"/>
              </a:rPr>
              <a:t>01 / 绪论：研究背景与核心设问  •  RESEARCH MOTIVATION &amp; OBJECTIVES</a:t>
            </a:r>
          </a:p>
        </p:txBody>
      </p:sp>
      <p:sp>
        <p:nvSpPr>
          <p:cNvPr id="3" name="TextBox 2"/>
          <p:cNvSpPr txBox="1"/>
          <p:nvPr/>
        </p:nvSpPr>
        <p:spPr>
          <a:xfrm>
            <a:off x="9720000" y="251999"/>
            <a:ext cx="1933200" cy="198000"/>
          </a:xfrm>
          <a:prstGeom prst="rect">
            <a:avLst/>
          </a:prstGeom>
          <a:noFill/>
          <a:effectLst/>
        </p:spPr>
        <p:txBody>
          <a:bodyPr wrap="square" lIns="0" rIns="0" tIns="0" bIns="0">
            <a:spAutoFit/>
          </a:bodyPr>
          <a:lstStyle/>
          <a:p>
            <a:pPr algn="r">
              <a:lnSpc>
                <a:spcPct val="115000"/>
              </a:lnSpc>
            </a:pPr>
            <a:r>
              <a:rPr sz="1100" b="1">
                <a:solidFill>
                  <a:srgbClr val="64748B"/>
                </a:solidFill>
                <a:latin typeface="Segoe UI"/>
                <a:ea typeface="Microsoft YaHei"/>
              </a:rPr>
              <a:t>03 / 11</a:t>
            </a:r>
          </a:p>
        </p:txBody>
      </p:sp>
      <p:sp>
        <p:nvSpPr>
          <p:cNvPr id="4" name="TextBox 3"/>
          <p:cNvSpPr txBox="1"/>
          <p:nvPr/>
        </p:nvSpPr>
        <p:spPr>
          <a:xfrm>
            <a:off x="540000" y="468000"/>
            <a:ext cx="11113200" cy="342000"/>
          </a:xfrm>
          <a:prstGeom prst="rect">
            <a:avLst/>
          </a:prstGeom>
          <a:noFill/>
          <a:effectLst/>
        </p:spPr>
        <p:txBody>
          <a:bodyPr wrap="square" lIns="0" rIns="0" tIns="0" bIns="0">
            <a:spAutoFit/>
          </a:bodyPr>
          <a:lstStyle/>
          <a:p>
            <a:pPr>
              <a:lnSpc>
                <a:spcPct val="115000"/>
              </a:lnSpc>
            </a:pPr>
            <a:r>
              <a:rPr sz="2100" b="1">
                <a:solidFill>
                  <a:srgbClr val="0F172A"/>
                </a:solidFill>
                <a:latin typeface="Segoe UI"/>
                <a:ea typeface="Microsoft YaHei"/>
              </a:rPr>
              <a:t>常识直觉与统计本质：监测规模越大越好吗？</a:t>
            </a:r>
          </a:p>
        </p:txBody>
      </p:sp>
      <p:sp>
        <p:nvSpPr>
          <p:cNvPr id="5" name="Rectangle 4"/>
          <p:cNvSpPr/>
          <p:nvPr/>
        </p:nvSpPr>
        <p:spPr>
          <a:xfrm>
            <a:off x="540000" y="846000"/>
            <a:ext cx="11113200" cy="12700"/>
          </a:xfrm>
          <a:prstGeom prst="rect">
            <a:avLst/>
          </a:prstGeom>
          <a:solidFill>
            <a:srgbClr val="E2E8F0"/>
          </a:solidFill>
          <a:ln>
            <a:noFill/>
          </a:ln>
          <a:effectLst/>
        </p:spPr>
        <p:txBody>
          <a:bodyPr rtlCol="0" anchor="ctr"/>
          <a:lstStyle/>
          <a:p>
            <a:pPr algn="ctr"/>
          </a:p>
        </p:txBody>
      </p:sp>
      <p:sp>
        <p:nvSpPr>
          <p:cNvPr id="6" name="Rounded Rectangle 5"/>
          <p:cNvSpPr/>
          <p:nvPr/>
        </p:nvSpPr>
        <p:spPr>
          <a:xfrm>
            <a:off x="540000" y="954000"/>
            <a:ext cx="51120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7" name="TextBox 6"/>
          <p:cNvSpPr txBox="1"/>
          <p:nvPr/>
        </p:nvSpPr>
        <p:spPr>
          <a:xfrm>
            <a:off x="756000" y="1116000"/>
            <a:ext cx="4680000" cy="216000"/>
          </a:xfrm>
          <a:prstGeom prst="rect">
            <a:avLst/>
          </a:prstGeom>
          <a:noFill/>
          <a:effectLst/>
        </p:spPr>
        <p:txBody>
          <a:bodyPr wrap="none">
            <a:spAutoFit/>
          </a:bodyPr>
          <a:lstStyle/>
          <a:p>
            <a:r>
              <a:rPr sz="1400" b="1">
                <a:solidFill>
                  <a:srgbClr val="1E3A8A"/>
                </a:solidFill>
                <a:latin typeface="Segoe UI"/>
                <a:ea typeface="Microsoft YaHei"/>
              </a:rPr>
              <a:t>公共卫生监测的经验直觉与现实盲区</a:t>
            </a:r>
          </a:p>
        </p:txBody>
      </p:sp>
      <p:sp>
        <p:nvSpPr>
          <p:cNvPr id="8" name="Rounded Rectangle 7"/>
          <p:cNvSpPr/>
          <p:nvPr/>
        </p:nvSpPr>
        <p:spPr>
          <a:xfrm>
            <a:off x="756000" y="1404000"/>
            <a:ext cx="4680000" cy="864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9" name="TextBox 8"/>
          <p:cNvSpPr txBox="1"/>
          <p:nvPr/>
        </p:nvSpPr>
        <p:spPr>
          <a:xfrm>
            <a:off x="846000" y="1457999"/>
            <a:ext cx="4500000" cy="756000"/>
          </a:xfrm>
          <a:prstGeom prst="rect">
            <a:avLst/>
          </a:prstGeom>
          <a:noFill/>
          <a:effectLst/>
        </p:spPr>
        <p:txBody>
          <a:bodyPr wrap="square">
            <a:spAutoFit/>
          </a:bodyPr>
          <a:lstStyle/>
          <a:p>
            <a:pPr>
              <a:lnSpc>
                <a:spcPct val="122000"/>
              </a:lnSpc>
            </a:pPr>
            <a:r>
              <a:rPr sz="1100" b="1">
                <a:solidFill>
                  <a:srgbClr val="1E293B"/>
                </a:solidFill>
                <a:latin typeface="Segoe UI"/>
                <a:ea typeface="Microsoft YaHei"/>
              </a:rPr>
              <a:t>• 监测直觉的经验预设（“规模崇拜”）：
</a:t>
            </a:r>
            <a:r>
              <a:rPr sz="980">
                <a:solidFill>
                  <a:srgbClr val="334155"/>
                </a:solidFill>
                <a:latin typeface="Segoe UI"/>
                <a:ea typeface="Microsoft YaHei"/>
              </a:rPr>
              <a:t>传统公卫常预设推断精度随监测规模 m 无界提升（盲目追求更多哨点与更高上报率），然而大规模扩建面临极高的边际成本与资源瓶颈。</a:t>
            </a:r>
          </a:p>
        </p:txBody>
      </p:sp>
      <p:sp>
        <p:nvSpPr>
          <p:cNvPr id="10" name="Rounded Rectangle 9"/>
          <p:cNvSpPr/>
          <p:nvPr/>
        </p:nvSpPr>
        <p:spPr>
          <a:xfrm>
            <a:off x="756000" y="2358000"/>
            <a:ext cx="4680000" cy="1332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1" name="TextBox 10"/>
          <p:cNvSpPr txBox="1"/>
          <p:nvPr/>
        </p:nvSpPr>
        <p:spPr>
          <a:xfrm>
            <a:off x="846000" y="2412000"/>
            <a:ext cx="4500000" cy="1224000"/>
          </a:xfrm>
          <a:prstGeom prst="rect">
            <a:avLst/>
          </a:prstGeom>
          <a:noFill/>
          <a:effectLst/>
        </p:spPr>
        <p:txBody>
          <a:bodyPr wrap="square">
            <a:spAutoFit/>
          </a:bodyPr>
          <a:lstStyle/>
          <a:p>
            <a:pPr>
              <a:lnSpc>
                <a:spcPct val="122000"/>
              </a:lnSpc>
            </a:pPr>
            <a:r>
              <a:rPr sz="1100" b="1">
                <a:solidFill>
                  <a:srgbClr val="1E293B"/>
                </a:solidFill>
                <a:latin typeface="Segoe UI"/>
                <a:ea typeface="Microsoft YaHei"/>
              </a:rPr>
              <a:t>• 真实传播与观测的双重复杂性：
</a:t>
            </a:r>
            <a:r>
              <a:rPr sz="980">
                <a:solidFill>
                  <a:srgbClr val="334155"/>
                </a:solidFill>
                <a:latin typeface="Segoe UI"/>
                <a:ea typeface="Microsoft YaHei"/>
              </a:rPr>
              <a:t>1. 微观生物学超传播： 极少数个体引发绝大多数二次感染（负二项分布重尾特征，k ≪ 1）；
</a:t>
            </a:r>
            <a:r>
              <a:rPr sz="980">
                <a:solidFill>
                  <a:srgbClr val="334155"/>
                </a:solidFill>
                <a:latin typeface="Segoe UI"/>
                <a:ea typeface="Microsoft YaHei"/>
              </a:rPr>
              <a:t>2. 宏观观测系统稀疏性： 报告率低下（二项抽稀过程）且伴随强烈的宏观外部环境随机扰动（不可约环境变异 v_R）。</a:t>
            </a:r>
          </a:p>
        </p:txBody>
      </p:sp>
      <p:sp>
        <p:nvSpPr>
          <p:cNvPr id="12" name="Rounded Rectangle 11"/>
          <p:cNvSpPr/>
          <p:nvPr/>
        </p:nvSpPr>
        <p:spPr>
          <a:xfrm>
            <a:off x="756000" y="3780000"/>
            <a:ext cx="4680000" cy="1242000"/>
          </a:xfrm>
          <a:prstGeom prst="roundRect">
            <a:avLst>
              <a:gd name="adj" fmla="val 2000"/>
            </a:avLst>
          </a:prstGeom>
          <a:solidFill>
            <a:srgbClr val="EFF6FF"/>
          </a:solidFill>
          <a:ln w="9525">
            <a:solidFill>
              <a:srgbClr val="BFDBFE"/>
            </a:solidFill>
          </a:ln>
          <a:effectLst/>
        </p:spPr>
        <p:txBody>
          <a:bodyPr rtlCol="0" anchor="ctr"/>
          <a:lstStyle/>
          <a:p>
            <a:pPr algn="ctr"/>
          </a:p>
        </p:txBody>
      </p:sp>
      <p:sp>
        <p:nvSpPr>
          <p:cNvPr id="13" name="TextBox 12"/>
          <p:cNvSpPr txBox="1"/>
          <p:nvPr/>
        </p:nvSpPr>
        <p:spPr>
          <a:xfrm>
            <a:off x="900000" y="3852000"/>
            <a:ext cx="4392000" cy="1098000"/>
          </a:xfrm>
          <a:prstGeom prst="rect">
            <a:avLst/>
          </a:prstGeom>
          <a:noFill/>
          <a:effectLst/>
        </p:spPr>
        <p:txBody>
          <a:bodyPr wrap="square" lIns="0" rIns="0" tIns="0" bIns="0">
            <a:spAutoFit/>
          </a:bodyPr>
          <a:lstStyle/>
          <a:p>
            <a:pPr>
              <a:lnSpc>
                <a:spcPct val="115000"/>
              </a:lnSpc>
            </a:pPr>
            <a:r>
              <a:rPr sz="1080" b="1">
                <a:solidFill>
                  <a:srgbClr val="1E3A8A"/>
                </a:solidFill>
                <a:latin typeface="Segoe UI"/>
                <a:ea typeface="Microsoft YaHei"/>
              </a:rPr>
              <a:t>【核心科学设问 (Core Research Question)】</a:t>
            </a:r>
          </a:p>
          <a:p>
            <a:pPr>
              <a:lnSpc>
                <a:spcPct val="118000"/>
              </a:lnSpc>
              <a:spcBef>
                <a:spcPts val="300"/>
              </a:spcBef>
            </a:pPr>
            <a:r>
              <a:rPr sz="950">
                <a:solidFill>
                  <a:srgbClr val="334155"/>
                </a:solidFill>
                <a:latin typeface="Segoe UI"/>
                <a:ea typeface="Microsoft YaHei"/>
              </a:rPr>
              <a:t>在资源受限情境下，无限扩大病例报告规模的边际方差收益何时递减？微观抽样误差与宏观环境噪声如何抗衡？是否存在明确且可计算的特征规模平衡点 m_×？大论文立足此问题展开系统论证。</a:t>
            </a:r>
          </a:p>
        </p:txBody>
      </p:sp>
      <p:sp>
        <p:nvSpPr>
          <p:cNvPr id="14" name="Rounded Rectangle 13"/>
          <p:cNvSpPr/>
          <p:nvPr/>
        </p:nvSpPr>
        <p:spPr>
          <a:xfrm>
            <a:off x="756000" y="5112000"/>
            <a:ext cx="4680000" cy="1170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5" name="TextBox 14"/>
          <p:cNvSpPr txBox="1"/>
          <p:nvPr/>
        </p:nvSpPr>
        <p:spPr>
          <a:xfrm>
            <a:off x="846000" y="5184000"/>
            <a:ext cx="4500000" cy="1026000"/>
          </a:xfrm>
          <a:prstGeom prst="rect">
            <a:avLst/>
          </a:prstGeom>
          <a:noFill/>
          <a:effectLst/>
        </p:spPr>
        <p:txBody>
          <a:bodyPr wrap="square">
            <a:spAutoFit/>
          </a:bodyPr>
          <a:lstStyle/>
          <a:p>
            <a:pPr>
              <a:lnSpc>
                <a:spcPct val="122000"/>
              </a:lnSpc>
            </a:pPr>
            <a:r>
              <a:rPr sz="1100" b="1">
                <a:solidFill>
                  <a:srgbClr val="1E3A8A"/>
                </a:solidFill>
                <a:latin typeface="Segoe UI"/>
                <a:ea typeface="Microsoft YaHei"/>
              </a:rPr>
              <a:t>本文研究定位与技术路径：
</a:t>
            </a:r>
            <a:r>
              <a:rPr sz="960">
                <a:solidFill>
                  <a:srgbClr val="334155"/>
                </a:solidFill>
                <a:latin typeface="Segoe UI"/>
                <a:ea typeface="Microsoft YaHei"/>
              </a:rPr>
              <a:t>构建两阶段分层随机推断模型，严格推导三类推断目标的误差下界，通过大规模蒙特卡洛模拟验证，并基于全美真实流感住院监测数据（NHSN 16,218 州-周）与欧洲 COVID-19 数据完成严格计量检验与机制证伪。</a:t>
            </a:r>
          </a:p>
        </p:txBody>
      </p:sp>
      <p:sp>
        <p:nvSpPr>
          <p:cNvPr id="16" name="Rounded Rectangle 15"/>
          <p:cNvSpPr/>
          <p:nvPr/>
        </p:nvSpPr>
        <p:spPr>
          <a:xfrm>
            <a:off x="5832000" y="954000"/>
            <a:ext cx="58212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17" name="TextBox 16"/>
          <p:cNvSpPr txBox="1"/>
          <p:nvPr/>
        </p:nvSpPr>
        <p:spPr>
          <a:xfrm>
            <a:off x="6048000" y="1116000"/>
            <a:ext cx="5389200" cy="216000"/>
          </a:xfrm>
          <a:prstGeom prst="rect">
            <a:avLst/>
          </a:prstGeom>
          <a:noFill/>
          <a:effectLst/>
        </p:spPr>
        <p:txBody>
          <a:bodyPr wrap="none">
            <a:spAutoFit/>
          </a:bodyPr>
          <a:lstStyle/>
          <a:p>
            <a:r>
              <a:rPr sz="1400" b="1">
                <a:solidFill>
                  <a:srgbClr val="1E3A8A"/>
                </a:solidFill>
                <a:latin typeface="Segoe UI"/>
                <a:ea typeface="Microsoft YaHei"/>
              </a:rPr>
              <a:t>不同统计推断目标的维度分化与理论映射</a:t>
            </a:r>
          </a:p>
        </p:txBody>
      </p:sp>
      <p:sp>
        <p:nvSpPr>
          <p:cNvPr id="18" name="Rounded Rectangle 17"/>
          <p:cNvSpPr/>
          <p:nvPr/>
        </p:nvSpPr>
        <p:spPr>
          <a:xfrm>
            <a:off x="6048000" y="1404000"/>
            <a:ext cx="5389200" cy="1152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9" name="TextBox 18"/>
          <p:cNvSpPr txBox="1"/>
          <p:nvPr/>
        </p:nvSpPr>
        <p:spPr>
          <a:xfrm>
            <a:off x="6138000" y="1476000"/>
            <a:ext cx="5209200" cy="1007999"/>
          </a:xfrm>
          <a:prstGeom prst="rect">
            <a:avLst/>
          </a:prstGeom>
          <a:noFill/>
          <a:effectLst/>
        </p:spPr>
        <p:txBody>
          <a:bodyPr wrap="square">
            <a:spAutoFit/>
          </a:bodyPr>
          <a:lstStyle/>
          <a:p>
            <a:pPr>
              <a:lnSpc>
                <a:spcPct val="115000"/>
              </a:lnSpc>
            </a:pPr>
            <a:r>
              <a:rPr sz="1150" b="1">
                <a:solidFill>
                  <a:srgbClr val="1E3A8A"/>
                </a:solidFill>
                <a:latin typeface="Segoe UI"/>
                <a:ea typeface="Microsoft YaHei"/>
              </a:rPr>
              <a:t>目标一：单代点估计（Rt 瞬时推断）
</a:t>
            </a:r>
            <a:r>
              <a:rPr sz="950" b="1">
                <a:solidFill>
                  <a:srgbClr val="2563EB"/>
                </a:solidFill>
                <a:latin typeface="Segoe UI"/>
                <a:ea typeface="Microsoft YaHei"/>
              </a:rPr>
              <a:t>对应大论文第 03 节 • 单期瞬时再生数测量精度
</a:t>
            </a:r>
          </a:p>
          <a:p>
            <a:pPr>
              <a:lnSpc>
                <a:spcPct val="122000"/>
              </a:lnSpc>
              <a:spcBef>
                <a:spcPts val="300"/>
              </a:spcBef>
            </a:pPr>
            <a:r>
              <a:rPr sz="980">
                <a:solidFill>
                  <a:srgbClr val="334155"/>
                </a:solidFill>
                <a:latin typeface="Segoe UI"/>
                <a:ea typeface="Microsoft YaHei"/>
              </a:rPr>
              <a:t>关注单期测量精度。样本量扩大能否直接消除离散噪声？方差衰减阶数如何？理论证明方差严格按 O(1/m) 衰减，在单代视角下规模收益无界。</a:t>
            </a:r>
          </a:p>
        </p:txBody>
      </p:sp>
      <p:sp>
        <p:nvSpPr>
          <p:cNvPr id="20" name="Rounded Rectangle 19"/>
          <p:cNvSpPr/>
          <p:nvPr/>
        </p:nvSpPr>
        <p:spPr>
          <a:xfrm>
            <a:off x="6048000" y="2646000"/>
            <a:ext cx="5389200" cy="1152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21" name="TextBox 20"/>
          <p:cNvSpPr txBox="1"/>
          <p:nvPr/>
        </p:nvSpPr>
        <p:spPr>
          <a:xfrm>
            <a:off x="6138000" y="2718000"/>
            <a:ext cx="5209200" cy="1007999"/>
          </a:xfrm>
          <a:prstGeom prst="rect">
            <a:avLst/>
          </a:prstGeom>
          <a:noFill/>
          <a:effectLst/>
        </p:spPr>
        <p:txBody>
          <a:bodyPr wrap="square">
            <a:spAutoFit/>
          </a:bodyPr>
          <a:lstStyle/>
          <a:p>
            <a:pPr>
              <a:lnSpc>
                <a:spcPct val="115000"/>
              </a:lnSpc>
            </a:pPr>
            <a:r>
              <a:rPr sz="1150" b="1">
                <a:solidFill>
                  <a:srgbClr val="1E3A8A"/>
                </a:solidFill>
                <a:latin typeface="Segoe UI"/>
                <a:ea typeface="Microsoft YaHei"/>
              </a:rPr>
              <a:t>目标二：增长假设检验（疫情爆发早期预警）
</a:t>
            </a:r>
            <a:r>
              <a:rPr sz="950" b="1">
                <a:solidFill>
                  <a:srgbClr val="2563EB"/>
                </a:solidFill>
                <a:latin typeface="Segoe UI"/>
                <a:ea typeface="Microsoft YaHei"/>
              </a:rPr>
              <a:t>对应大论文第 04 节 • H0: Rt ≤ 1 vs H1: Rt &gt; 1 早期预警功效
</a:t>
            </a:r>
          </a:p>
          <a:p>
            <a:pPr>
              <a:lnSpc>
                <a:spcPct val="122000"/>
              </a:lnSpc>
              <a:spcBef>
                <a:spcPts val="300"/>
              </a:spcBef>
            </a:pPr>
            <a:r>
              <a:rPr sz="980">
                <a:solidFill>
                  <a:srgbClr val="334155"/>
                </a:solidFill>
                <a:latin typeface="Segoe UI"/>
                <a:ea typeface="Microsoft YaHei"/>
              </a:rPr>
              <a:t>关注检验检出功效与第 I 类错误控制。在非对称离散跳跃下，增加样本量何时使功效饱和？解析揭示 80% 功效阈值 m_{80%}，证实存在天然天花板。</a:t>
            </a:r>
          </a:p>
        </p:txBody>
      </p:sp>
      <p:sp>
        <p:nvSpPr>
          <p:cNvPr id="22" name="Rounded Rectangle 21"/>
          <p:cNvSpPr/>
          <p:nvPr/>
        </p:nvSpPr>
        <p:spPr>
          <a:xfrm>
            <a:off x="6048000" y="3888000"/>
            <a:ext cx="5389200" cy="1152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23" name="TextBox 22"/>
          <p:cNvSpPr txBox="1"/>
          <p:nvPr/>
        </p:nvSpPr>
        <p:spPr>
          <a:xfrm>
            <a:off x="6138000" y="3960000"/>
            <a:ext cx="5209200" cy="1007999"/>
          </a:xfrm>
          <a:prstGeom prst="rect">
            <a:avLst/>
          </a:prstGeom>
          <a:noFill/>
          <a:effectLst/>
        </p:spPr>
        <p:txBody>
          <a:bodyPr wrap="square">
            <a:spAutoFit/>
          </a:bodyPr>
          <a:lstStyle/>
          <a:p>
            <a:pPr>
              <a:lnSpc>
                <a:spcPct val="115000"/>
              </a:lnSpc>
            </a:pPr>
            <a:r>
              <a:rPr sz="1150" b="1">
                <a:solidFill>
                  <a:srgbClr val="1E3A8A"/>
                </a:solidFill>
                <a:latin typeface="Segoe UI"/>
                <a:ea typeface="Microsoft YaHei"/>
              </a:rPr>
              <a:t>目标三：跨期外推预测（多步动态外推预警）
</a:t>
            </a:r>
            <a:r>
              <a:rPr sz="950" b="1">
                <a:solidFill>
                  <a:srgbClr val="2563EB"/>
                </a:solidFill>
                <a:latin typeface="Segoe UI"/>
                <a:ea typeface="Microsoft YaHei"/>
              </a:rPr>
              <a:t>对应大论文第 05 节 • 宏观不可约变异与微观抽样误差竞争
</a:t>
            </a:r>
          </a:p>
          <a:p>
            <a:pPr>
              <a:lnSpc>
                <a:spcPct val="122000"/>
              </a:lnSpc>
              <a:spcBef>
                <a:spcPts val="300"/>
              </a:spcBef>
            </a:pPr>
            <a:r>
              <a:rPr sz="980">
                <a:solidFill>
                  <a:srgbClr val="334155"/>
                </a:solidFill>
                <a:latin typeface="Segoe UI"/>
                <a:ea typeface="Microsoft YaHei"/>
              </a:rPr>
              <a:t>当存在宏观环境随机性（不可约方差 v_R）时，微观抽样误差与宏观环境误差如何竞争？严格导出内生方差平衡点 m_× ≡ b/a，刻画精度平台期。</a:t>
            </a:r>
          </a:p>
        </p:txBody>
      </p:sp>
      <p:sp>
        <p:nvSpPr>
          <p:cNvPr id="24" name="Rounded Rectangle 23"/>
          <p:cNvSpPr/>
          <p:nvPr/>
        </p:nvSpPr>
        <p:spPr>
          <a:xfrm>
            <a:off x="6048000" y="5256000"/>
            <a:ext cx="5389200" cy="1026000"/>
          </a:xfrm>
          <a:prstGeom prst="roundRect">
            <a:avLst>
              <a:gd name="adj" fmla="val 2000"/>
            </a:avLst>
          </a:prstGeom>
          <a:solidFill>
            <a:srgbClr val="EFF6FF"/>
          </a:solidFill>
          <a:ln w="12700">
            <a:solidFill>
              <a:srgbClr val="BFDBFE"/>
            </a:solidFill>
          </a:ln>
          <a:effectLst/>
        </p:spPr>
        <p:txBody>
          <a:bodyPr rtlCol="0" anchor="ctr"/>
          <a:lstStyle/>
          <a:p>
            <a:pPr algn="ctr"/>
          </a:p>
        </p:txBody>
      </p:sp>
      <p:sp>
        <p:nvSpPr>
          <p:cNvPr id="25" name="TextBox 24"/>
          <p:cNvSpPr txBox="1"/>
          <p:nvPr/>
        </p:nvSpPr>
        <p:spPr>
          <a:xfrm>
            <a:off x="6138000" y="5328000"/>
            <a:ext cx="5209200" cy="882000"/>
          </a:xfrm>
          <a:prstGeom prst="rect">
            <a:avLst/>
          </a:prstGeom>
          <a:noFill/>
          <a:effectLst/>
        </p:spPr>
        <p:txBody>
          <a:bodyPr wrap="square">
            <a:spAutoFit/>
          </a:bodyPr>
          <a:lstStyle/>
          <a:p>
            <a:pPr>
              <a:lnSpc>
                <a:spcPct val="122000"/>
              </a:lnSpc>
            </a:pPr>
            <a:r>
              <a:rPr sz="1100" b="1">
                <a:solidFill>
                  <a:srgbClr val="1E3A8A"/>
                </a:solidFill>
                <a:latin typeface="Segoe UI"/>
                <a:ea typeface="Microsoft YaHei"/>
              </a:rPr>
              <a:t>【核心学术贡献综述】
</a:t>
            </a:r>
            <a:r>
              <a:rPr sz="980">
                <a:solidFill>
                  <a:srgbClr val="0F172A"/>
                </a:solidFill>
                <a:latin typeface="Segoe UI"/>
                <a:ea typeface="Microsoft YaHei"/>
              </a:rPr>
              <a:t>首次从统计理论上澄清了监测规模在‘点估计’、‘假设检验’与‘外推预测’三种不同目标下的收益分化规律，打破了‘规模越大越好’的传统单一教条，为公卫监测资源优化提供了量化基准。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251999"/>
            <a:ext cx="7920000" cy="198000"/>
          </a:xfrm>
          <a:prstGeom prst="rect">
            <a:avLst/>
          </a:prstGeom>
          <a:noFill/>
          <a:effectLst/>
        </p:spPr>
        <p:txBody>
          <a:bodyPr wrap="square" lIns="0" rIns="0" tIns="0" bIns="0">
            <a:spAutoFit/>
          </a:bodyPr>
          <a:lstStyle/>
          <a:p>
            <a:pPr>
              <a:lnSpc>
                <a:spcPct val="115000"/>
              </a:lnSpc>
            </a:pPr>
            <a:r>
              <a:rPr sz="1050" b="1">
                <a:solidFill>
                  <a:srgbClr val="2563EB"/>
                </a:solidFill>
                <a:latin typeface="Segoe UI"/>
                <a:ea typeface="Microsoft YaHei"/>
              </a:rPr>
              <a:t>02 / 微观机制：分支过程与报告抽稀  •  DYNAMICAL MODEL &amp; OBSERVATION PROCESS</a:t>
            </a:r>
          </a:p>
        </p:txBody>
      </p:sp>
      <p:sp>
        <p:nvSpPr>
          <p:cNvPr id="3" name="TextBox 2"/>
          <p:cNvSpPr txBox="1"/>
          <p:nvPr/>
        </p:nvSpPr>
        <p:spPr>
          <a:xfrm>
            <a:off x="9720000" y="251999"/>
            <a:ext cx="1933200" cy="198000"/>
          </a:xfrm>
          <a:prstGeom prst="rect">
            <a:avLst/>
          </a:prstGeom>
          <a:noFill/>
          <a:effectLst/>
        </p:spPr>
        <p:txBody>
          <a:bodyPr wrap="square" lIns="0" rIns="0" tIns="0" bIns="0">
            <a:spAutoFit/>
          </a:bodyPr>
          <a:lstStyle/>
          <a:p>
            <a:pPr algn="r">
              <a:lnSpc>
                <a:spcPct val="115000"/>
              </a:lnSpc>
            </a:pPr>
            <a:r>
              <a:rPr sz="1100" b="1">
                <a:solidFill>
                  <a:srgbClr val="64748B"/>
                </a:solidFill>
                <a:latin typeface="Segoe UI"/>
                <a:ea typeface="Microsoft YaHei"/>
              </a:rPr>
              <a:t>04 / 11</a:t>
            </a:r>
          </a:p>
        </p:txBody>
      </p:sp>
      <p:sp>
        <p:nvSpPr>
          <p:cNvPr id="4" name="TextBox 3"/>
          <p:cNvSpPr txBox="1"/>
          <p:nvPr/>
        </p:nvSpPr>
        <p:spPr>
          <a:xfrm>
            <a:off x="540000" y="468000"/>
            <a:ext cx="11113200" cy="342000"/>
          </a:xfrm>
          <a:prstGeom prst="rect">
            <a:avLst/>
          </a:prstGeom>
          <a:noFill/>
          <a:effectLst/>
        </p:spPr>
        <p:txBody>
          <a:bodyPr wrap="square" lIns="0" rIns="0" tIns="0" bIns="0">
            <a:spAutoFit/>
          </a:bodyPr>
          <a:lstStyle/>
          <a:p>
            <a:pPr>
              <a:lnSpc>
                <a:spcPct val="115000"/>
              </a:lnSpc>
            </a:pPr>
            <a:r>
              <a:rPr sz="2100" b="1">
                <a:solidFill>
                  <a:srgbClr val="0F172A"/>
                </a:solidFill>
                <a:latin typeface="Segoe UI"/>
                <a:ea typeface="Microsoft YaHei"/>
              </a:rPr>
              <a:t>两阶段分层抽稀：从微观超传播到宏观报告</a:t>
            </a:r>
          </a:p>
        </p:txBody>
      </p:sp>
      <p:sp>
        <p:nvSpPr>
          <p:cNvPr id="5" name="Rectangle 4"/>
          <p:cNvSpPr/>
          <p:nvPr/>
        </p:nvSpPr>
        <p:spPr>
          <a:xfrm>
            <a:off x="540000" y="846000"/>
            <a:ext cx="11113200" cy="12700"/>
          </a:xfrm>
          <a:prstGeom prst="rect">
            <a:avLst/>
          </a:prstGeom>
          <a:solidFill>
            <a:srgbClr val="E2E8F0"/>
          </a:solidFill>
          <a:ln>
            <a:noFill/>
          </a:ln>
          <a:effectLst/>
        </p:spPr>
        <p:txBody>
          <a:bodyPr rtlCol="0" anchor="ctr"/>
          <a:lstStyle/>
          <a:p>
            <a:pPr algn="ctr"/>
          </a:p>
        </p:txBody>
      </p:sp>
      <p:sp>
        <p:nvSpPr>
          <p:cNvPr id="6" name="Rounded Rectangle 5"/>
          <p:cNvSpPr/>
          <p:nvPr/>
        </p:nvSpPr>
        <p:spPr>
          <a:xfrm>
            <a:off x="540000" y="954000"/>
            <a:ext cx="54648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7" name="TextBox 6"/>
          <p:cNvSpPr txBox="1"/>
          <p:nvPr/>
        </p:nvSpPr>
        <p:spPr>
          <a:xfrm>
            <a:off x="756000" y="1116000"/>
            <a:ext cx="5032800" cy="198000"/>
          </a:xfrm>
          <a:prstGeom prst="rect">
            <a:avLst/>
          </a:prstGeom>
          <a:noFill/>
          <a:effectLst/>
        </p:spPr>
        <p:txBody>
          <a:bodyPr wrap="none">
            <a:spAutoFit/>
          </a:bodyPr>
          <a:lstStyle/>
          <a:p>
            <a:r>
              <a:rPr sz="1400" b="1">
                <a:solidFill>
                  <a:srgbClr val="1E3A8A"/>
                </a:solidFill>
                <a:latin typeface="Segoe UI"/>
                <a:ea typeface="Microsoft YaHei"/>
              </a:rPr>
              <a:t>两阶段分层数据生成机制</a:t>
            </a:r>
          </a:p>
        </p:txBody>
      </p:sp>
      <p:sp>
        <p:nvSpPr>
          <p:cNvPr id="8" name="TextBox 7"/>
          <p:cNvSpPr txBox="1"/>
          <p:nvPr/>
        </p:nvSpPr>
        <p:spPr>
          <a:xfrm>
            <a:off x="756000" y="1367999"/>
            <a:ext cx="5032800" cy="396000"/>
          </a:xfrm>
          <a:prstGeom prst="rect">
            <a:avLst/>
          </a:prstGeom>
          <a:noFill/>
          <a:effectLst/>
        </p:spPr>
        <p:txBody>
          <a:bodyPr wrap="square" lIns="0" rIns="0" tIns="0" bIns="0">
            <a:spAutoFit/>
          </a:bodyPr>
          <a:lstStyle/>
          <a:p>
            <a:pPr>
              <a:lnSpc>
                <a:spcPct val="115000"/>
              </a:lnSpc>
            </a:pPr>
            <a:r>
              <a:rPr sz="1120" b="1">
                <a:solidFill>
                  <a:srgbClr val="1E293B"/>
                </a:solidFill>
                <a:latin typeface="Segoe UI"/>
                <a:ea typeface="Microsoft YaHei"/>
              </a:rPr>
              <a:t>• 第一阶段：微观传播层（负二项分支过程）</a:t>
            </a:r>
          </a:p>
          <a:p>
            <a:pPr>
              <a:lnSpc>
                <a:spcPct val="115000"/>
              </a:lnSpc>
              <a:spcBef>
                <a:spcPts val="200"/>
              </a:spcBef>
            </a:pPr>
            <a:r>
              <a:rPr sz="960">
                <a:solidFill>
                  <a:srgbClr val="334155"/>
                </a:solidFill>
                <a:latin typeface="Segoe UI"/>
                <a:ea typeface="Microsoft YaHei"/>
              </a:rPr>
              <a:t>每个感染者的次级传播数服从 Gamma-Poisson 混合模型（二阶矩如下）：</a:t>
            </a:r>
          </a:p>
        </p:txBody>
      </p:sp>
      <p:sp>
        <p:nvSpPr>
          <p:cNvPr id="9" name="Rounded Rectangle 8"/>
          <p:cNvSpPr/>
          <p:nvPr/>
        </p:nvSpPr>
        <p:spPr>
          <a:xfrm>
            <a:off x="756000" y="1800000"/>
            <a:ext cx="50328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0" name="Picture 9" descr="image.png"/>
          <p:cNvPicPr>
            <a:picLocks noChangeAspect="1"/>
          </p:cNvPicPr>
          <p:nvPr/>
        </p:nvPicPr>
        <p:blipFill>
          <a:blip r:embed="rId10"/>
          <a:stretch>
            <a:fillRect/>
          </a:stretch>
        </p:blipFill>
        <p:spPr>
          <a:xfrm>
            <a:off x="2051802" y="1843200"/>
            <a:ext cx="2441195" cy="291600"/>
          </a:xfrm>
          <a:prstGeom prst="rect">
            <a:avLst/>
          </a:prstGeom>
          <a:effectLst/>
        </p:spPr>
      </p:pic>
      <p:sp>
        <p:nvSpPr>
          <p:cNvPr id="11" name="Rounded Rectangle 10"/>
          <p:cNvSpPr/>
          <p:nvPr/>
        </p:nvSpPr>
        <p:spPr>
          <a:xfrm>
            <a:off x="756000" y="2232000"/>
            <a:ext cx="50328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2" name="Picture 11" descr="image.png"/>
          <p:cNvPicPr>
            <a:picLocks noChangeAspect="1"/>
          </p:cNvPicPr>
          <p:nvPr/>
        </p:nvPicPr>
        <p:blipFill>
          <a:blip r:embed="rId11"/>
          <a:stretch>
            <a:fillRect/>
          </a:stretch>
        </p:blipFill>
        <p:spPr>
          <a:xfrm>
            <a:off x="2335768" y="2275200"/>
            <a:ext cx="1873262" cy="291600"/>
          </a:xfrm>
          <a:prstGeom prst="rect">
            <a:avLst/>
          </a:prstGeom>
          <a:effectLst/>
        </p:spPr>
      </p:pic>
      <p:sp>
        <p:nvSpPr>
          <p:cNvPr id="13" name="TextBox 12"/>
          <p:cNvSpPr txBox="1"/>
          <p:nvPr/>
        </p:nvSpPr>
        <p:spPr>
          <a:xfrm>
            <a:off x="756000" y="2682000"/>
            <a:ext cx="5032800" cy="396000"/>
          </a:xfrm>
          <a:prstGeom prst="rect">
            <a:avLst/>
          </a:prstGeom>
          <a:noFill/>
          <a:effectLst/>
        </p:spPr>
        <p:txBody>
          <a:bodyPr wrap="square" lIns="0" rIns="0" tIns="0" bIns="0">
            <a:spAutoFit/>
          </a:bodyPr>
          <a:lstStyle/>
          <a:p>
            <a:pPr>
              <a:lnSpc>
                <a:spcPct val="115000"/>
              </a:lnSpc>
            </a:pPr>
            <a:r>
              <a:rPr sz="1120" b="1">
                <a:solidFill>
                  <a:srgbClr val="1E293B"/>
                </a:solidFill>
                <a:latin typeface="Segoe UI"/>
                <a:ea typeface="Microsoft YaHei"/>
              </a:rPr>
              <a:t>• 第二阶段：宏观观测层（条件二项抽稀）</a:t>
            </a:r>
          </a:p>
          <a:p>
            <a:pPr>
              <a:lnSpc>
                <a:spcPct val="115000"/>
              </a:lnSpc>
              <a:spcBef>
                <a:spcPts val="200"/>
              </a:spcBef>
            </a:pPr>
            <a:r>
              <a:rPr sz="960">
                <a:solidFill>
                  <a:srgbClr val="334155"/>
                </a:solidFill>
                <a:latin typeface="Segoe UI"/>
                <a:ea typeface="Microsoft YaHei"/>
              </a:rPr>
              <a:t>潜在感染者独立以概率 ρ 被上报，基准规模为 m（期望报告人数）：</a:t>
            </a:r>
          </a:p>
        </p:txBody>
      </p:sp>
      <p:sp>
        <p:nvSpPr>
          <p:cNvPr id="14" name="Rounded Rectangle 13"/>
          <p:cNvSpPr/>
          <p:nvPr/>
        </p:nvSpPr>
        <p:spPr>
          <a:xfrm>
            <a:off x="756000" y="3114000"/>
            <a:ext cx="50328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5" name="Picture 14" descr="image.png"/>
          <p:cNvPicPr>
            <a:picLocks noChangeAspect="1"/>
          </p:cNvPicPr>
          <p:nvPr/>
        </p:nvPicPr>
        <p:blipFill>
          <a:blip r:embed="rId12"/>
          <a:stretch>
            <a:fillRect/>
          </a:stretch>
        </p:blipFill>
        <p:spPr>
          <a:xfrm>
            <a:off x="1980810" y="3157200"/>
            <a:ext cx="2583179" cy="291600"/>
          </a:xfrm>
          <a:prstGeom prst="rect">
            <a:avLst/>
          </a:prstGeom>
          <a:effectLst/>
        </p:spPr>
      </p:pic>
      <p:sp>
        <p:nvSpPr>
          <p:cNvPr id="16" name="Rounded Rectangle 15"/>
          <p:cNvSpPr/>
          <p:nvPr/>
        </p:nvSpPr>
        <p:spPr>
          <a:xfrm>
            <a:off x="756000" y="3564000"/>
            <a:ext cx="5032800" cy="846000"/>
          </a:xfrm>
          <a:prstGeom prst="roundRect">
            <a:avLst>
              <a:gd name="adj" fmla="val 2000"/>
            </a:avLst>
          </a:prstGeom>
          <a:solidFill>
            <a:srgbClr val="EFF6FF"/>
          </a:solidFill>
          <a:ln w="9525">
            <a:solidFill>
              <a:srgbClr val="BFDBFE"/>
            </a:solidFill>
          </a:ln>
          <a:effectLst/>
        </p:spPr>
        <p:txBody>
          <a:bodyPr rtlCol="0" anchor="ctr"/>
          <a:lstStyle/>
          <a:p>
            <a:pPr algn="ctr"/>
          </a:p>
        </p:txBody>
      </p:sp>
      <p:sp>
        <p:nvSpPr>
          <p:cNvPr id="17" name="TextBox 16"/>
          <p:cNvSpPr txBox="1"/>
          <p:nvPr/>
        </p:nvSpPr>
        <p:spPr>
          <a:xfrm>
            <a:off x="900000" y="3636000"/>
            <a:ext cx="4744800" cy="702000"/>
          </a:xfrm>
          <a:prstGeom prst="rect">
            <a:avLst/>
          </a:prstGeom>
          <a:noFill/>
          <a:effectLst/>
        </p:spPr>
        <p:txBody>
          <a:bodyPr wrap="square" lIns="0" rIns="0" tIns="0" bIns="0">
            <a:spAutoFit/>
          </a:bodyPr>
          <a:lstStyle/>
          <a:p>
            <a:pPr>
              <a:lnSpc>
                <a:spcPct val="115000"/>
              </a:lnSpc>
            </a:pPr>
            <a:r>
              <a:rPr sz="1080" b="1">
                <a:solidFill>
                  <a:srgbClr val="1E3A8A"/>
                </a:solidFill>
                <a:latin typeface="Segoe UI"/>
                <a:ea typeface="Microsoft YaHei"/>
              </a:rPr>
              <a:t>【成功概率 p 的统计物理顿悟】</a:t>
            </a:r>
          </a:p>
          <a:p>
            <a:pPr>
              <a:lnSpc>
                <a:spcPct val="118000"/>
              </a:lnSpc>
              <a:spcBef>
                <a:spcPts val="300"/>
              </a:spcBef>
            </a:pPr>
            <a:r>
              <a:rPr sz="950">
                <a:solidFill>
                  <a:srgbClr val="334155"/>
                </a:solidFill>
                <a:latin typeface="Segoe UI"/>
                <a:ea typeface="Microsoft YaHei"/>
              </a:rPr>
              <a:t>在负二项掷硬币试验中，累计 k 次“成功”之前的“失败数”服从 NB。在疫情中，传人是失败，终止是成功！p = k/(k+Rt)。病毒越强终止概率越低，失败数越暴增！二项抽稀后有效成功概率自动调整为 p* = k/(k+ρRt)。</a:t>
            </a:r>
          </a:p>
        </p:txBody>
      </p:sp>
      <p:sp>
        <p:nvSpPr>
          <p:cNvPr id="18" name="Rounded Rectangle 17"/>
          <p:cNvSpPr/>
          <p:nvPr/>
        </p:nvSpPr>
        <p:spPr>
          <a:xfrm>
            <a:off x="756000" y="4482000"/>
            <a:ext cx="5032800" cy="1745999"/>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9" name="TextBox 18"/>
          <p:cNvSpPr txBox="1"/>
          <p:nvPr/>
        </p:nvSpPr>
        <p:spPr>
          <a:xfrm>
            <a:off x="864000" y="4554000"/>
            <a:ext cx="4816800" cy="1602000"/>
          </a:xfrm>
          <a:prstGeom prst="rect">
            <a:avLst/>
          </a:prstGeom>
          <a:noFill/>
          <a:effectLst/>
        </p:spPr>
        <p:txBody>
          <a:bodyPr wrap="square">
            <a:spAutoFit/>
          </a:bodyPr>
          <a:lstStyle/>
          <a:p>
            <a:pPr>
              <a:lnSpc>
                <a:spcPct val="115000"/>
              </a:lnSpc>
            </a:pPr>
            <a:r>
              <a:rPr sz="1120" b="1">
                <a:solidFill>
                  <a:srgbClr val="1E3A8A"/>
                </a:solidFill>
                <a:latin typeface="Segoe UI"/>
                <a:ea typeface="Microsoft YaHei"/>
              </a:rPr>
              <a:t>动力学模型的核心统计特征：</a:t>
            </a:r>
          </a:p>
          <a:p>
            <a:pPr>
              <a:lnSpc>
                <a:spcPct val="118000"/>
              </a:lnSpc>
              <a:spcBef>
                <a:spcPts val="400"/>
              </a:spcBef>
            </a:pPr>
            <a:r>
              <a:rPr sz="1000" b="1">
                <a:solidFill>
                  <a:srgbClr val="1E293B"/>
                </a:solidFill>
                <a:latin typeface="Segoe UI"/>
                <a:ea typeface="Microsoft YaHei"/>
              </a:rPr>
              <a:t>• 方差均值比（离散指数）：
</a:t>
            </a:r>
            <a:r>
              <a:rPr sz="950">
                <a:solidFill>
                  <a:srgbClr val="334155"/>
                </a:solidFill>
                <a:latin typeface="Segoe UI"/>
                <a:ea typeface="Microsoft YaHei"/>
              </a:rPr>
              <a:t>  Var(Y) / E[Y] = 1 + Rt / k &gt; 1，体现极强超离散特征。</a:t>
            </a:r>
          </a:p>
          <a:p>
            <a:pPr>
              <a:lnSpc>
                <a:spcPct val="118000"/>
              </a:lnSpc>
              <a:spcBef>
                <a:spcPts val="400"/>
              </a:spcBef>
            </a:pPr>
            <a:r>
              <a:rPr sz="1000" b="1">
                <a:solidFill>
                  <a:srgbClr val="1E293B"/>
                </a:solidFill>
                <a:latin typeface="Segoe UI"/>
                <a:ea typeface="Microsoft YaHei"/>
              </a:rPr>
              <a:t>• 稀疏抽稀效应：
</a:t>
            </a:r>
            <a:r>
              <a:rPr sz="950">
                <a:solidFill>
                  <a:srgbClr val="334155"/>
                </a:solidFill>
                <a:latin typeface="Segoe UI"/>
                <a:ea typeface="Microsoft YaHei"/>
              </a:rPr>
              <a:t>  报告率 ρ 仅缩放观测期望均值，但不改变负二项分布族系属性。</a:t>
            </a:r>
          </a:p>
          <a:p>
            <a:pPr>
              <a:lnSpc>
                <a:spcPct val="118000"/>
              </a:lnSpc>
              <a:spcBef>
                <a:spcPts val="400"/>
              </a:spcBef>
            </a:pPr>
            <a:r>
              <a:rPr sz="1000" b="1">
                <a:solidFill>
                  <a:srgbClr val="1E293B"/>
                </a:solidFill>
                <a:latin typeface="Segoe UI"/>
                <a:ea typeface="Microsoft YaHei"/>
              </a:rPr>
              <a:t>• 尺度映射关系：
</a:t>
            </a:r>
            <a:r>
              <a:rPr sz="950">
                <a:solidFill>
                  <a:srgbClr val="334155"/>
                </a:solidFill>
                <a:latin typeface="Segoe UI"/>
                <a:ea typeface="Microsoft YaHei"/>
              </a:rPr>
              <a:t>  报告病例 Ct 的有效规模直接决定了后验推断的信息下界。</a:t>
            </a:r>
          </a:p>
        </p:txBody>
      </p:sp>
      <p:sp>
        <p:nvSpPr>
          <p:cNvPr id="20" name="Rounded Rectangle 19"/>
          <p:cNvSpPr/>
          <p:nvPr/>
        </p:nvSpPr>
        <p:spPr>
          <a:xfrm>
            <a:off x="6184800" y="954000"/>
            <a:ext cx="54648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21" name="TextBox 20"/>
          <p:cNvSpPr txBox="1"/>
          <p:nvPr/>
        </p:nvSpPr>
        <p:spPr>
          <a:xfrm>
            <a:off x="6400800" y="1116000"/>
            <a:ext cx="5032800" cy="198000"/>
          </a:xfrm>
          <a:prstGeom prst="rect">
            <a:avLst/>
          </a:prstGeom>
          <a:noFill/>
          <a:effectLst/>
        </p:spPr>
        <p:txBody>
          <a:bodyPr wrap="none">
            <a:spAutoFit/>
          </a:bodyPr>
          <a:lstStyle/>
          <a:p>
            <a:r>
              <a:rPr sz="1400" b="1">
                <a:solidFill>
                  <a:srgbClr val="1E3A8A"/>
                </a:solidFill>
                <a:latin typeface="Segoe UI"/>
                <a:ea typeface="Microsoft YaHei"/>
              </a:rPr>
              <a:t>概率母函数保族性与观测分布</a:t>
            </a:r>
          </a:p>
        </p:txBody>
      </p:sp>
      <p:sp>
        <p:nvSpPr>
          <p:cNvPr id="22" name="TextBox 21"/>
          <p:cNvSpPr txBox="1"/>
          <p:nvPr/>
        </p:nvSpPr>
        <p:spPr>
          <a:xfrm>
            <a:off x="6400800" y="1367999"/>
            <a:ext cx="5032800" cy="396000"/>
          </a:xfrm>
          <a:prstGeom prst="rect">
            <a:avLst/>
          </a:prstGeom>
          <a:noFill/>
          <a:effectLst/>
        </p:spPr>
        <p:txBody>
          <a:bodyPr wrap="square" lIns="0" rIns="0" tIns="0" bIns="0">
            <a:spAutoFit/>
          </a:bodyPr>
          <a:lstStyle/>
          <a:p>
            <a:pPr>
              <a:lnSpc>
                <a:spcPct val="115000"/>
              </a:lnSpc>
            </a:pPr>
            <a:r>
              <a:rPr sz="1120" b="1">
                <a:solidFill>
                  <a:srgbClr val="1E293B"/>
                </a:solidFill>
                <a:latin typeface="Segoe UI"/>
                <a:ea typeface="Microsoft YaHei"/>
              </a:rPr>
              <a:t>• 严格保族性定理（PGF 复合闭合）</a:t>
            </a:r>
          </a:p>
          <a:p>
            <a:pPr>
              <a:lnSpc>
                <a:spcPct val="115000"/>
              </a:lnSpc>
              <a:spcBef>
                <a:spcPts val="200"/>
              </a:spcBef>
            </a:pPr>
            <a:r>
              <a:rPr sz="960">
                <a:solidFill>
                  <a:srgbClr val="334155"/>
                </a:solidFill>
                <a:latin typeface="Segoe UI"/>
                <a:ea typeface="Microsoft YaHei"/>
              </a:rPr>
              <a:t>通过概率母函数复合运算，严密证明观测数严格保持负二项分布族闭合：</a:t>
            </a:r>
          </a:p>
        </p:txBody>
      </p:sp>
      <p:sp>
        <p:nvSpPr>
          <p:cNvPr id="23" name="Rounded Rectangle 22"/>
          <p:cNvSpPr/>
          <p:nvPr/>
        </p:nvSpPr>
        <p:spPr>
          <a:xfrm>
            <a:off x="6400800" y="1800000"/>
            <a:ext cx="5032800" cy="413999"/>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24" name="Picture 23" descr="image.png"/>
          <p:cNvPicPr>
            <a:picLocks noChangeAspect="1"/>
          </p:cNvPicPr>
          <p:nvPr/>
        </p:nvPicPr>
        <p:blipFill>
          <a:blip r:embed="rId13"/>
          <a:stretch>
            <a:fillRect/>
          </a:stretch>
        </p:blipFill>
        <p:spPr>
          <a:xfrm>
            <a:off x="7905244" y="1843200"/>
            <a:ext cx="2023910" cy="327599"/>
          </a:xfrm>
          <a:prstGeom prst="rect">
            <a:avLst/>
          </a:prstGeom>
          <a:effectLst/>
        </p:spPr>
      </p:pic>
      <p:sp>
        <p:nvSpPr>
          <p:cNvPr id="25" name="TextBox 24"/>
          <p:cNvSpPr txBox="1"/>
          <p:nvPr/>
        </p:nvSpPr>
        <p:spPr>
          <a:xfrm>
            <a:off x="6400800" y="2304000"/>
            <a:ext cx="5032800" cy="396000"/>
          </a:xfrm>
          <a:prstGeom prst="rect">
            <a:avLst/>
          </a:prstGeom>
          <a:noFill/>
          <a:effectLst/>
        </p:spPr>
        <p:txBody>
          <a:bodyPr wrap="square" lIns="0" rIns="0" tIns="0" bIns="0">
            <a:spAutoFit/>
          </a:bodyPr>
          <a:lstStyle/>
          <a:p>
            <a:pPr>
              <a:lnSpc>
                <a:spcPct val="115000"/>
              </a:lnSpc>
            </a:pPr>
            <a:r>
              <a:rPr sz="1120" b="1">
                <a:solidFill>
                  <a:srgbClr val="1E293B"/>
                </a:solidFill>
                <a:latin typeface="Segoe UI"/>
                <a:ea typeface="Microsoft YaHei"/>
              </a:rPr>
              <a:t>• 统计参数内涵与二阶矩结构</a:t>
            </a:r>
          </a:p>
          <a:p>
            <a:pPr>
              <a:lnSpc>
                <a:spcPct val="115000"/>
              </a:lnSpc>
              <a:spcBef>
                <a:spcPts val="200"/>
              </a:spcBef>
            </a:pPr>
            <a:r>
              <a:rPr sz="960">
                <a:solidFill>
                  <a:srgbClr val="334155"/>
                </a:solidFill>
                <a:latin typeface="Segoe UI"/>
                <a:ea typeface="Microsoft YaHei"/>
              </a:rPr>
              <a:t>形状参数 r = km 由报告基数 m 与离散度 k 调控，观测条件方差为：</a:t>
            </a:r>
          </a:p>
        </p:txBody>
      </p:sp>
      <p:sp>
        <p:nvSpPr>
          <p:cNvPr id="26" name="Rounded Rectangle 25"/>
          <p:cNvSpPr/>
          <p:nvPr/>
        </p:nvSpPr>
        <p:spPr>
          <a:xfrm>
            <a:off x="6400800" y="2736000"/>
            <a:ext cx="5032800" cy="413999"/>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27" name="Picture 26" descr="image.png"/>
          <p:cNvPicPr>
            <a:picLocks noChangeAspect="1"/>
          </p:cNvPicPr>
          <p:nvPr/>
        </p:nvPicPr>
        <p:blipFill>
          <a:blip r:embed="rId14"/>
          <a:stretch>
            <a:fillRect/>
          </a:stretch>
        </p:blipFill>
        <p:spPr>
          <a:xfrm>
            <a:off x="7905244" y="2779200"/>
            <a:ext cx="2023910" cy="327599"/>
          </a:xfrm>
          <a:prstGeom prst="rect">
            <a:avLst/>
          </a:prstGeom>
          <a:effectLst/>
        </p:spPr>
      </p:pic>
      <p:sp>
        <p:nvSpPr>
          <p:cNvPr id="28" name="Rounded Rectangle 27"/>
          <p:cNvSpPr/>
          <p:nvPr/>
        </p:nvSpPr>
        <p:spPr>
          <a:xfrm>
            <a:off x="6400800" y="3240000"/>
            <a:ext cx="5032800" cy="2988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29" name="TextBox 28"/>
          <p:cNvSpPr txBox="1"/>
          <p:nvPr/>
        </p:nvSpPr>
        <p:spPr>
          <a:xfrm>
            <a:off x="6508800" y="3312000"/>
            <a:ext cx="4816800" cy="2844000"/>
          </a:xfrm>
          <a:prstGeom prst="rect">
            <a:avLst/>
          </a:prstGeom>
          <a:noFill/>
          <a:effectLst/>
        </p:spPr>
        <p:txBody>
          <a:bodyPr wrap="square">
            <a:spAutoFit/>
          </a:bodyPr>
          <a:lstStyle/>
          <a:p>
            <a:pPr>
              <a:lnSpc>
                <a:spcPct val="115000"/>
              </a:lnSpc>
            </a:pPr>
            <a:r>
              <a:rPr sz="1120" b="1">
                <a:solidFill>
                  <a:srgbClr val="1E3A8A"/>
                </a:solidFill>
                <a:latin typeface="Segoe UI"/>
                <a:ea typeface="Microsoft YaHei"/>
              </a:rPr>
              <a:t>二阶矩结构的统计内涵与理论价值：</a:t>
            </a:r>
          </a:p>
          <a:p>
            <a:pPr>
              <a:lnSpc>
                <a:spcPct val="118000"/>
              </a:lnSpc>
              <a:spcBef>
                <a:spcPts val="400"/>
              </a:spcBef>
            </a:pPr>
            <a:r>
              <a:rPr sz="1000" b="1">
                <a:solidFill>
                  <a:srgbClr val="1E293B"/>
                </a:solidFill>
                <a:latin typeface="Segoe UI"/>
                <a:ea typeface="Microsoft YaHei"/>
              </a:rPr>
              <a:t>• 期望均值线性响应：
</a:t>
            </a:r>
            <a:r>
              <a:rPr sz="950">
                <a:solidFill>
                  <a:srgbClr val="334155"/>
                </a:solidFill>
                <a:latin typeface="Segoe UI"/>
                <a:ea typeface="Microsoft YaHei"/>
              </a:rPr>
              <a:t>  E[Ct | m] = ρ m Rt，保证单代估计的一致无偏性。</a:t>
            </a:r>
          </a:p>
          <a:p>
            <a:pPr>
              <a:lnSpc>
                <a:spcPct val="118000"/>
              </a:lnSpc>
              <a:spcBef>
                <a:spcPts val="400"/>
              </a:spcBef>
            </a:pPr>
            <a:r>
              <a:rPr sz="1000" b="1">
                <a:solidFill>
                  <a:srgbClr val="1E293B"/>
                </a:solidFill>
                <a:latin typeface="Segoe UI"/>
                <a:ea typeface="Microsoft YaHei"/>
              </a:rPr>
              <a:t>• 方差精确双项解构：
</a:t>
            </a:r>
            <a:r>
              <a:rPr sz="950">
                <a:solidFill>
                  <a:srgbClr val="334155"/>
                </a:solidFill>
                <a:latin typeface="Segoe UI"/>
                <a:ea typeface="Microsoft YaHei"/>
              </a:rPr>
              <a:t>  方差精确由‘泊松抽样基准项’与‘个体超传播膨胀项’线性叠加。</a:t>
            </a:r>
          </a:p>
          <a:p>
            <a:pPr>
              <a:lnSpc>
                <a:spcPct val="118000"/>
              </a:lnSpc>
              <a:spcBef>
                <a:spcPts val="400"/>
              </a:spcBef>
            </a:pPr>
            <a:r>
              <a:rPr sz="1000" b="1">
                <a:solidFill>
                  <a:srgbClr val="1E293B"/>
                </a:solidFill>
                <a:latin typeface="Segoe UI"/>
                <a:ea typeface="Microsoft YaHei"/>
              </a:rPr>
              <a:t>• 超传播乘性放大：
</a:t>
            </a:r>
            <a:r>
              <a:rPr sz="950">
                <a:solidFill>
                  <a:srgbClr val="334155"/>
                </a:solidFill>
                <a:latin typeface="Segoe UI"/>
                <a:ea typeface="Microsoft YaHei"/>
              </a:rPr>
              <a:t>  超传播项 (ρ Rt)^2 m / k 随 Rt 平方增加，在高传播期成为方差主导源。</a:t>
            </a:r>
          </a:p>
          <a:p>
            <a:pPr>
              <a:lnSpc>
                <a:spcPct val="118000"/>
              </a:lnSpc>
              <a:spcBef>
                <a:spcPts val="400"/>
              </a:spcBef>
            </a:pPr>
            <a:r>
              <a:rPr sz="1000" b="1">
                <a:solidFill>
                  <a:srgbClr val="1E293B"/>
                </a:solidFill>
                <a:latin typeface="Segoe UI"/>
                <a:ea typeface="Microsoft YaHei"/>
              </a:rPr>
              <a:t>• 严格解析基准：
</a:t>
            </a:r>
            <a:r>
              <a:rPr sz="950">
                <a:solidFill>
                  <a:srgbClr val="334155"/>
                </a:solidFill>
                <a:latin typeface="Segoe UI"/>
                <a:ea typeface="Microsoft YaHei"/>
              </a:rPr>
              <a:t>  为后续单代无偏推断与多步预测方差分解提供了严格的理论解析基准。</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251999"/>
            <a:ext cx="7920000" cy="198000"/>
          </a:xfrm>
          <a:prstGeom prst="rect">
            <a:avLst/>
          </a:prstGeom>
          <a:noFill/>
          <a:effectLst/>
        </p:spPr>
        <p:txBody>
          <a:bodyPr wrap="square" lIns="0" rIns="0" tIns="0" bIns="0">
            <a:spAutoFit/>
          </a:bodyPr>
          <a:lstStyle/>
          <a:p>
            <a:pPr>
              <a:lnSpc>
                <a:spcPct val="115000"/>
              </a:lnSpc>
            </a:pPr>
            <a:r>
              <a:rPr sz="1050" b="1">
                <a:solidFill>
                  <a:srgbClr val="2563EB"/>
                </a:solidFill>
                <a:latin typeface="Segoe UI"/>
                <a:ea typeface="Microsoft YaHei"/>
              </a:rPr>
              <a:t>03 / 理论推断：渐近方差分解与杠杆非对称性  •  ASYMPTOTIC VARIANCE &amp; LEVERS</a:t>
            </a:r>
          </a:p>
        </p:txBody>
      </p:sp>
      <p:sp>
        <p:nvSpPr>
          <p:cNvPr id="3" name="TextBox 2"/>
          <p:cNvSpPr txBox="1"/>
          <p:nvPr/>
        </p:nvSpPr>
        <p:spPr>
          <a:xfrm>
            <a:off x="9720000" y="251999"/>
            <a:ext cx="1933200" cy="198000"/>
          </a:xfrm>
          <a:prstGeom prst="rect">
            <a:avLst/>
          </a:prstGeom>
          <a:noFill/>
          <a:effectLst/>
        </p:spPr>
        <p:txBody>
          <a:bodyPr wrap="square" lIns="0" rIns="0" tIns="0" bIns="0">
            <a:spAutoFit/>
          </a:bodyPr>
          <a:lstStyle/>
          <a:p>
            <a:pPr algn="r">
              <a:lnSpc>
                <a:spcPct val="115000"/>
              </a:lnSpc>
            </a:pPr>
            <a:r>
              <a:rPr sz="1100" b="1">
                <a:solidFill>
                  <a:srgbClr val="64748B"/>
                </a:solidFill>
                <a:latin typeface="Segoe UI"/>
                <a:ea typeface="Microsoft YaHei"/>
              </a:rPr>
              <a:t>05 / 11</a:t>
            </a:r>
          </a:p>
        </p:txBody>
      </p:sp>
      <p:sp>
        <p:nvSpPr>
          <p:cNvPr id="4" name="TextBox 3"/>
          <p:cNvSpPr txBox="1"/>
          <p:nvPr/>
        </p:nvSpPr>
        <p:spPr>
          <a:xfrm>
            <a:off x="540000" y="468000"/>
            <a:ext cx="11113200" cy="342000"/>
          </a:xfrm>
          <a:prstGeom prst="rect">
            <a:avLst/>
          </a:prstGeom>
          <a:noFill/>
          <a:effectLst/>
        </p:spPr>
        <p:txBody>
          <a:bodyPr wrap="square" lIns="0" rIns="0" tIns="0" bIns="0">
            <a:spAutoFit/>
          </a:bodyPr>
          <a:lstStyle/>
          <a:p>
            <a:pPr>
              <a:lnSpc>
                <a:spcPct val="115000"/>
              </a:lnSpc>
            </a:pPr>
            <a:r>
              <a:rPr sz="2100" b="1">
                <a:solidFill>
                  <a:srgbClr val="0F172A"/>
                </a:solidFill>
                <a:latin typeface="Segoe UI"/>
                <a:ea typeface="Microsoft YaHei"/>
              </a:rPr>
              <a:t>瞬时再生数与跨期基准估计：全方差分解与 CRLB 达到</a:t>
            </a:r>
          </a:p>
        </p:txBody>
      </p:sp>
      <p:sp>
        <p:nvSpPr>
          <p:cNvPr id="5" name="Rectangle 4"/>
          <p:cNvSpPr/>
          <p:nvPr/>
        </p:nvSpPr>
        <p:spPr>
          <a:xfrm>
            <a:off x="540000" y="846000"/>
            <a:ext cx="11113200" cy="12700"/>
          </a:xfrm>
          <a:prstGeom prst="rect">
            <a:avLst/>
          </a:prstGeom>
          <a:solidFill>
            <a:srgbClr val="E2E8F0"/>
          </a:solidFill>
          <a:ln>
            <a:noFill/>
          </a:ln>
          <a:effectLst/>
        </p:spPr>
        <p:txBody>
          <a:bodyPr rtlCol="0" anchor="ctr"/>
          <a:lstStyle/>
          <a:p>
            <a:pPr algn="ctr"/>
          </a:p>
        </p:txBody>
      </p:sp>
      <p:sp>
        <p:nvSpPr>
          <p:cNvPr id="6" name="Rounded Rectangle 5"/>
          <p:cNvSpPr/>
          <p:nvPr/>
        </p:nvSpPr>
        <p:spPr>
          <a:xfrm>
            <a:off x="540000" y="954000"/>
            <a:ext cx="54648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7" name="TextBox 6"/>
          <p:cNvSpPr txBox="1"/>
          <p:nvPr/>
        </p:nvSpPr>
        <p:spPr>
          <a:xfrm>
            <a:off x="756000" y="1116000"/>
            <a:ext cx="5032800" cy="198000"/>
          </a:xfrm>
          <a:prstGeom prst="rect">
            <a:avLst/>
          </a:prstGeom>
          <a:noFill/>
          <a:effectLst/>
        </p:spPr>
        <p:txBody>
          <a:bodyPr wrap="none">
            <a:spAutoFit/>
          </a:bodyPr>
          <a:lstStyle/>
          <a:p>
            <a:r>
              <a:rPr sz="1350" b="1">
                <a:solidFill>
                  <a:srgbClr val="1E3A8A"/>
                </a:solidFill>
                <a:latin typeface="Segoe UI"/>
                <a:ea typeface="Microsoft YaHei"/>
              </a:rPr>
              <a:t>目标一：当期瞬态 Rt 点估计与 CRLB 达到（命题 1）</a:t>
            </a:r>
          </a:p>
        </p:txBody>
      </p:sp>
      <p:sp>
        <p:nvSpPr>
          <p:cNvPr id="8" name="TextBox 7"/>
          <p:cNvSpPr txBox="1"/>
          <p:nvPr/>
        </p:nvSpPr>
        <p:spPr>
          <a:xfrm>
            <a:off x="756000" y="1367999"/>
            <a:ext cx="5032800" cy="378000"/>
          </a:xfrm>
          <a:prstGeom prst="rect">
            <a:avLst/>
          </a:prstGeom>
          <a:noFill/>
          <a:effectLst/>
        </p:spPr>
        <p:txBody>
          <a:bodyPr wrap="square" lIns="0" rIns="0" tIns="0" bIns="0">
            <a:spAutoFit/>
          </a:bodyPr>
          <a:lstStyle/>
          <a:p>
            <a:pPr>
              <a:lnSpc>
                <a:spcPct val="115000"/>
              </a:lnSpc>
            </a:pPr>
            <a:r>
              <a:rPr sz="1100" b="1">
                <a:solidFill>
                  <a:srgbClr val="1E293B"/>
                </a:solidFill>
                <a:latin typeface="Segoe UI"/>
                <a:ea typeface="Microsoft YaHei"/>
              </a:rPr>
              <a:t>• 矩估计量定义与双层全期望无偏性（塔式法则）：</a:t>
            </a:r>
          </a:p>
          <a:p>
            <a:pPr>
              <a:lnSpc>
                <a:spcPct val="115000"/>
              </a:lnSpc>
              <a:spcBef>
                <a:spcPts val="200"/>
              </a:spcBef>
            </a:pPr>
            <a:r>
              <a:rPr sz="950">
                <a:solidFill>
                  <a:srgbClr val="334155"/>
                </a:solidFill>
                <a:latin typeface="Segoe UI"/>
                <a:ea typeface="Microsoft YaHei"/>
              </a:rPr>
              <a:t>在已知风险集 n 下，矩估计量恰为极大似然估计量，全期望展开证明其严格无偏：</a:t>
            </a:r>
          </a:p>
        </p:txBody>
      </p:sp>
      <p:sp>
        <p:nvSpPr>
          <p:cNvPr id="9" name="Rounded Rectangle 8"/>
          <p:cNvSpPr/>
          <p:nvPr/>
        </p:nvSpPr>
        <p:spPr>
          <a:xfrm>
            <a:off x="756000" y="1764000"/>
            <a:ext cx="50328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0" name="Picture 9" descr="image.png"/>
          <p:cNvPicPr>
            <a:picLocks noChangeAspect="1"/>
          </p:cNvPicPr>
          <p:nvPr/>
        </p:nvPicPr>
        <p:blipFill>
          <a:blip r:embed="rId11"/>
          <a:stretch>
            <a:fillRect/>
          </a:stretch>
        </p:blipFill>
        <p:spPr>
          <a:xfrm>
            <a:off x="2406760" y="1807200"/>
            <a:ext cx="1731279" cy="291600"/>
          </a:xfrm>
          <a:prstGeom prst="rect">
            <a:avLst/>
          </a:prstGeom>
          <a:effectLst/>
        </p:spPr>
      </p:pic>
      <p:sp>
        <p:nvSpPr>
          <p:cNvPr id="11" name="TextBox 10"/>
          <p:cNvSpPr txBox="1"/>
          <p:nvPr/>
        </p:nvSpPr>
        <p:spPr>
          <a:xfrm>
            <a:off x="756000" y="2196000"/>
            <a:ext cx="5032800" cy="378000"/>
          </a:xfrm>
          <a:prstGeom prst="rect">
            <a:avLst/>
          </a:prstGeom>
          <a:noFill/>
          <a:effectLst/>
        </p:spPr>
        <p:txBody>
          <a:bodyPr wrap="square" lIns="0" rIns="0" tIns="0" bIns="0">
            <a:spAutoFit/>
          </a:bodyPr>
          <a:lstStyle/>
          <a:p>
            <a:pPr>
              <a:lnSpc>
                <a:spcPct val="115000"/>
              </a:lnSpc>
            </a:pPr>
            <a:r>
              <a:rPr sz="1100" b="1">
                <a:solidFill>
                  <a:srgbClr val="1E293B"/>
                </a:solidFill>
                <a:latin typeface="Segoe UI"/>
                <a:ea typeface="Microsoft YaHei"/>
              </a:rPr>
              <a:t>• 条件方差展开与无界 O(1/m) 衰减：</a:t>
            </a:r>
          </a:p>
          <a:p>
            <a:pPr>
              <a:lnSpc>
                <a:spcPct val="115000"/>
              </a:lnSpc>
              <a:spcBef>
                <a:spcPts val="200"/>
              </a:spcBef>
            </a:pPr>
            <a:r>
              <a:rPr sz="950">
                <a:solidFill>
                  <a:srgbClr val="334155"/>
                </a:solidFill>
                <a:latin typeface="Segoe UI"/>
                <a:ea typeface="Microsoft YaHei"/>
              </a:rPr>
              <a:t>微观抽样与超传播两项方差均与期望规模 m 成反比，样本量无穷时方差趋于零：</a:t>
            </a:r>
          </a:p>
        </p:txBody>
      </p:sp>
      <p:sp>
        <p:nvSpPr>
          <p:cNvPr id="12" name="Rounded Rectangle 11"/>
          <p:cNvSpPr/>
          <p:nvPr/>
        </p:nvSpPr>
        <p:spPr>
          <a:xfrm>
            <a:off x="756000" y="2592000"/>
            <a:ext cx="50328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3" name="Picture 12" descr="image.png"/>
          <p:cNvPicPr>
            <a:picLocks noChangeAspect="1"/>
          </p:cNvPicPr>
          <p:nvPr/>
        </p:nvPicPr>
        <p:blipFill>
          <a:blip r:embed="rId12"/>
          <a:stretch>
            <a:fillRect/>
          </a:stretch>
        </p:blipFill>
        <p:spPr>
          <a:xfrm>
            <a:off x="2229662" y="2635200"/>
            <a:ext cx="2085474" cy="291600"/>
          </a:xfrm>
          <a:prstGeom prst="rect">
            <a:avLst/>
          </a:prstGeom>
          <a:effectLst/>
        </p:spPr>
      </p:pic>
      <p:sp>
        <p:nvSpPr>
          <p:cNvPr id="14" name="TextBox 13"/>
          <p:cNvSpPr txBox="1"/>
          <p:nvPr/>
        </p:nvSpPr>
        <p:spPr>
          <a:xfrm>
            <a:off x="756000" y="3024000"/>
            <a:ext cx="5032800" cy="378000"/>
          </a:xfrm>
          <a:prstGeom prst="rect">
            <a:avLst/>
          </a:prstGeom>
          <a:noFill/>
          <a:effectLst/>
        </p:spPr>
        <p:txBody>
          <a:bodyPr wrap="square" lIns="0" rIns="0" tIns="0" bIns="0">
            <a:spAutoFit/>
          </a:bodyPr>
          <a:lstStyle/>
          <a:p>
            <a:pPr>
              <a:lnSpc>
                <a:spcPct val="115000"/>
              </a:lnSpc>
            </a:pPr>
            <a:r>
              <a:rPr sz="1100" b="1">
                <a:solidFill>
                  <a:srgbClr val="1E293B"/>
                </a:solidFill>
                <a:latin typeface="Segoe UI"/>
                <a:ea typeface="Microsoft YaHei"/>
              </a:rPr>
              <a:t>• Fisher 信息量与 Cramér–Rao 下界确立（UMVUE）：</a:t>
            </a:r>
          </a:p>
          <a:p>
            <a:pPr>
              <a:lnSpc>
                <a:spcPct val="115000"/>
              </a:lnSpc>
              <a:spcBef>
                <a:spcPts val="200"/>
              </a:spcBef>
            </a:pPr>
            <a:r>
              <a:rPr sz="950">
                <a:solidFill>
                  <a:srgbClr val="334155"/>
                </a:solidFill>
                <a:latin typeface="Segoe UI"/>
                <a:ea typeface="Microsoft YaHei"/>
              </a:rPr>
              <a:t>通过得分方差法与负二阶导期望法双重验证，方差严格达到信息量倒数下界：</a:t>
            </a:r>
          </a:p>
        </p:txBody>
      </p:sp>
      <p:sp>
        <p:nvSpPr>
          <p:cNvPr id="15" name="Rounded Rectangle 14"/>
          <p:cNvSpPr/>
          <p:nvPr/>
        </p:nvSpPr>
        <p:spPr>
          <a:xfrm>
            <a:off x="756000" y="3420000"/>
            <a:ext cx="50328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6" name="Picture 15" descr="image.png"/>
          <p:cNvPicPr>
            <a:picLocks noChangeAspect="1"/>
          </p:cNvPicPr>
          <p:nvPr/>
        </p:nvPicPr>
        <p:blipFill>
          <a:blip r:embed="rId13"/>
          <a:stretch>
            <a:fillRect/>
          </a:stretch>
        </p:blipFill>
        <p:spPr>
          <a:xfrm>
            <a:off x="1969360" y="3463200"/>
            <a:ext cx="2606079" cy="291600"/>
          </a:xfrm>
          <a:prstGeom prst="rect">
            <a:avLst/>
          </a:prstGeom>
          <a:effectLst/>
        </p:spPr>
      </p:pic>
      <p:sp>
        <p:nvSpPr>
          <p:cNvPr id="17" name="Rounded Rectangle 16"/>
          <p:cNvSpPr/>
          <p:nvPr/>
        </p:nvSpPr>
        <p:spPr>
          <a:xfrm>
            <a:off x="756000" y="3870000"/>
            <a:ext cx="5032800" cy="2376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8" name="TextBox 17"/>
          <p:cNvSpPr txBox="1"/>
          <p:nvPr/>
        </p:nvSpPr>
        <p:spPr>
          <a:xfrm>
            <a:off x="864000" y="3942000"/>
            <a:ext cx="4816800" cy="2232000"/>
          </a:xfrm>
          <a:prstGeom prst="rect">
            <a:avLst/>
          </a:prstGeom>
          <a:noFill/>
          <a:effectLst/>
        </p:spPr>
        <p:txBody>
          <a:bodyPr wrap="square">
            <a:spAutoFit/>
          </a:bodyPr>
          <a:lstStyle/>
          <a:p>
            <a:pPr>
              <a:lnSpc>
                <a:spcPct val="115000"/>
              </a:lnSpc>
            </a:pPr>
            <a:r>
              <a:rPr sz="1120" b="1">
                <a:solidFill>
                  <a:srgbClr val="1E3A8A"/>
                </a:solidFill>
                <a:latin typeface="Segoe UI"/>
                <a:ea typeface="Microsoft YaHei"/>
              </a:rPr>
              <a:t>核心理论发现与渐近有效性启示：</a:t>
            </a:r>
          </a:p>
          <a:p>
            <a:pPr>
              <a:lnSpc>
                <a:spcPct val="118000"/>
              </a:lnSpc>
              <a:spcBef>
                <a:spcPts val="400"/>
              </a:spcBef>
            </a:pPr>
            <a:r>
              <a:rPr sz="1000" b="1">
                <a:solidFill>
                  <a:srgbClr val="1E293B"/>
                </a:solidFill>
                <a:latin typeface="Segoe UI"/>
                <a:ea typeface="Microsoft YaHei"/>
              </a:rPr>
              <a:t>• 无界方差衰减：
</a:t>
            </a:r>
            <a:r>
              <a:rPr sz="950">
                <a:solidFill>
                  <a:srgbClr val="334155"/>
                </a:solidFill>
                <a:latin typeface="Segoe UI"/>
                <a:ea typeface="Microsoft YaHei"/>
              </a:rPr>
              <a:t>  在静态单代信息集下，测量瞬态 Rt 时方差不存在不可约底板，增大样本 m 可使方差任意逼近零。</a:t>
            </a:r>
          </a:p>
          <a:p>
            <a:pPr>
              <a:lnSpc>
                <a:spcPct val="118000"/>
              </a:lnSpc>
              <a:spcBef>
                <a:spcPts val="400"/>
              </a:spcBef>
            </a:pPr>
            <a:r>
              <a:rPr sz="1000" b="1">
                <a:solidFill>
                  <a:srgbClr val="1E293B"/>
                </a:solidFill>
                <a:latin typeface="Segoe UI"/>
                <a:ea typeface="Microsoft YaHei"/>
              </a:rPr>
              <a:t>• 异质性乘性惩罚：
</a:t>
            </a:r>
            <a:r>
              <a:rPr sz="950">
                <a:solidFill>
                  <a:srgbClr val="334155"/>
                </a:solidFill>
                <a:latin typeface="Segoe UI"/>
                <a:ea typeface="Microsoft YaHei"/>
              </a:rPr>
              <a:t>  强超传播（低 k）显著抬高方差系数，但该惩罚可被大样本 m 等比例稀释。</a:t>
            </a:r>
          </a:p>
          <a:p>
            <a:pPr>
              <a:lnSpc>
                <a:spcPct val="118000"/>
              </a:lnSpc>
              <a:spcBef>
                <a:spcPts val="400"/>
              </a:spcBef>
            </a:pPr>
            <a:r>
              <a:rPr sz="1000" b="1">
                <a:solidFill>
                  <a:srgbClr val="1E293B"/>
                </a:solidFill>
                <a:latin typeface="Segoe UI"/>
                <a:ea typeface="Microsoft YaHei"/>
              </a:rPr>
              <a:t>• UMVUE 优良性质：
</a:t>
            </a:r>
            <a:r>
              <a:rPr sz="950">
                <a:solidFill>
                  <a:srgbClr val="334155"/>
                </a:solidFill>
                <a:latin typeface="Segoe UI"/>
                <a:ea typeface="Microsoft YaHei"/>
              </a:rPr>
              <a:t>  证明估计量达到 Cramér–Rao 下界，在有限样本与大样本下皆为最优无偏估计量。</a:t>
            </a:r>
          </a:p>
        </p:txBody>
      </p:sp>
      <p:sp>
        <p:nvSpPr>
          <p:cNvPr id="19" name="Rounded Rectangle 18"/>
          <p:cNvSpPr/>
          <p:nvPr/>
        </p:nvSpPr>
        <p:spPr>
          <a:xfrm>
            <a:off x="6184800" y="954000"/>
            <a:ext cx="54648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20" name="TextBox 19"/>
          <p:cNvSpPr txBox="1"/>
          <p:nvPr/>
        </p:nvSpPr>
        <p:spPr>
          <a:xfrm>
            <a:off x="6400800" y="1116000"/>
            <a:ext cx="5032800" cy="198000"/>
          </a:xfrm>
          <a:prstGeom prst="rect">
            <a:avLst/>
          </a:prstGeom>
          <a:noFill/>
          <a:effectLst/>
        </p:spPr>
        <p:txBody>
          <a:bodyPr wrap="none">
            <a:spAutoFit/>
          </a:bodyPr>
          <a:lstStyle/>
          <a:p>
            <a:r>
              <a:rPr sz="1350" b="1">
                <a:solidFill>
                  <a:srgbClr val="1E3A8A"/>
                </a:solidFill>
                <a:latin typeface="Segoe UI"/>
                <a:ea typeface="Microsoft YaHei"/>
              </a:rPr>
              <a:t>目标三：跨期基准估计与监测杠杆非对称性（命题 2 &amp; 3）</a:t>
            </a:r>
          </a:p>
        </p:txBody>
      </p:sp>
      <p:sp>
        <p:nvSpPr>
          <p:cNvPr id="21" name="TextBox 20"/>
          <p:cNvSpPr txBox="1"/>
          <p:nvPr/>
        </p:nvSpPr>
        <p:spPr>
          <a:xfrm>
            <a:off x="6400800" y="1367999"/>
            <a:ext cx="5032800" cy="378000"/>
          </a:xfrm>
          <a:prstGeom prst="rect">
            <a:avLst/>
          </a:prstGeom>
          <a:noFill/>
          <a:effectLst/>
        </p:spPr>
        <p:txBody>
          <a:bodyPr wrap="square" lIns="0" rIns="0" tIns="0" bIns="0">
            <a:spAutoFit/>
          </a:bodyPr>
          <a:lstStyle/>
          <a:p>
            <a:pPr>
              <a:lnSpc>
                <a:spcPct val="115000"/>
              </a:lnSpc>
            </a:pPr>
            <a:r>
              <a:rPr sz="1100" b="1">
                <a:solidFill>
                  <a:srgbClr val="1E293B"/>
                </a:solidFill>
                <a:latin typeface="Segoe UI"/>
                <a:ea typeface="Microsoft YaHei"/>
              </a:rPr>
              <a:t>• 跨期基准全方差分解与仿射损失结构（命题 2）：</a:t>
            </a:r>
          </a:p>
          <a:p>
            <a:pPr>
              <a:lnSpc>
                <a:spcPct val="115000"/>
              </a:lnSpc>
              <a:spcBef>
                <a:spcPts val="200"/>
              </a:spcBef>
            </a:pPr>
            <a:r>
              <a:rPr sz="950">
                <a:solidFill>
                  <a:srgbClr val="334155"/>
                </a:solidFill>
                <a:latin typeface="Segoe UI"/>
                <a:ea typeface="Microsoft YaHei"/>
              </a:rPr>
              <a:t>存在宏观不可约环境方差 v_R 时，单期样本再大也无法突破底板，呈现仿射形态：</a:t>
            </a:r>
          </a:p>
        </p:txBody>
      </p:sp>
      <p:sp>
        <p:nvSpPr>
          <p:cNvPr id="22" name="Rounded Rectangle 21"/>
          <p:cNvSpPr/>
          <p:nvPr/>
        </p:nvSpPr>
        <p:spPr>
          <a:xfrm>
            <a:off x="6400800" y="1764000"/>
            <a:ext cx="50328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23" name="Picture 22" descr="image.png"/>
          <p:cNvPicPr>
            <a:picLocks noChangeAspect="1"/>
          </p:cNvPicPr>
          <p:nvPr/>
        </p:nvPicPr>
        <p:blipFill>
          <a:blip r:embed="rId14"/>
          <a:stretch>
            <a:fillRect/>
          </a:stretch>
        </p:blipFill>
        <p:spPr>
          <a:xfrm>
            <a:off x="7803471" y="1807200"/>
            <a:ext cx="2227457" cy="291600"/>
          </a:xfrm>
          <a:prstGeom prst="rect">
            <a:avLst/>
          </a:prstGeom>
          <a:effectLst/>
        </p:spPr>
      </p:pic>
      <p:sp>
        <p:nvSpPr>
          <p:cNvPr id="24" name="Rounded Rectangle 23"/>
          <p:cNvSpPr/>
          <p:nvPr/>
        </p:nvSpPr>
        <p:spPr>
          <a:xfrm>
            <a:off x="6400800" y="2196000"/>
            <a:ext cx="50328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25" name="Picture 24" descr="image.png"/>
          <p:cNvPicPr>
            <a:picLocks noChangeAspect="1"/>
          </p:cNvPicPr>
          <p:nvPr/>
        </p:nvPicPr>
        <p:blipFill>
          <a:blip r:embed="rId15"/>
          <a:stretch>
            <a:fillRect/>
          </a:stretch>
        </p:blipFill>
        <p:spPr>
          <a:xfrm>
            <a:off x="7980568" y="2239200"/>
            <a:ext cx="1873262" cy="291600"/>
          </a:xfrm>
          <a:prstGeom prst="rect">
            <a:avLst/>
          </a:prstGeom>
          <a:effectLst/>
        </p:spPr>
      </p:pic>
      <p:sp>
        <p:nvSpPr>
          <p:cNvPr id="26" name="TextBox 25"/>
          <p:cNvSpPr txBox="1"/>
          <p:nvPr/>
        </p:nvSpPr>
        <p:spPr>
          <a:xfrm>
            <a:off x="6400800" y="2628000"/>
            <a:ext cx="5032800" cy="378000"/>
          </a:xfrm>
          <a:prstGeom prst="rect">
            <a:avLst/>
          </a:prstGeom>
          <a:noFill/>
          <a:effectLst/>
        </p:spPr>
        <p:txBody>
          <a:bodyPr wrap="square" lIns="0" rIns="0" tIns="0" bIns="0">
            <a:spAutoFit/>
          </a:bodyPr>
          <a:lstStyle/>
          <a:p>
            <a:pPr>
              <a:lnSpc>
                <a:spcPct val="115000"/>
              </a:lnSpc>
            </a:pPr>
            <a:r>
              <a:rPr sz="1100" b="1">
                <a:solidFill>
                  <a:srgbClr val="1E3A8A"/>
                </a:solidFill>
                <a:latin typeface="Segoe UI"/>
                <a:ea typeface="Microsoft YaHei"/>
              </a:rPr>
              <a:t>• 命题 3：监测杠杆的理论非对称性定理：</a:t>
            </a:r>
          </a:p>
          <a:p>
            <a:pPr>
              <a:lnSpc>
                <a:spcPct val="115000"/>
              </a:lnSpc>
              <a:spcBef>
                <a:spcPts val="200"/>
              </a:spcBef>
            </a:pPr>
            <a:r>
              <a:rPr sz="950">
                <a:solidFill>
                  <a:srgbClr val="334155"/>
                </a:solidFill>
                <a:latin typeface="Segoe UI"/>
                <a:ea typeface="Microsoft YaHei"/>
              </a:rPr>
              <a:t>将抽样项拆为漏报项与计数项，比较提高报告率 ρ 与扩大风险基数 n 的渐近极限：</a:t>
            </a:r>
          </a:p>
        </p:txBody>
      </p:sp>
      <p:sp>
        <p:nvSpPr>
          <p:cNvPr id="27" name="Rounded Rectangle 26"/>
          <p:cNvSpPr/>
          <p:nvPr/>
        </p:nvSpPr>
        <p:spPr>
          <a:xfrm>
            <a:off x="6400800" y="3024000"/>
            <a:ext cx="5032800" cy="413999"/>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28" name="Picture 27" descr="image.png"/>
          <p:cNvPicPr>
            <a:picLocks noChangeAspect="1"/>
          </p:cNvPicPr>
          <p:nvPr/>
        </p:nvPicPr>
        <p:blipFill>
          <a:blip r:embed="rId16"/>
          <a:stretch>
            <a:fillRect/>
          </a:stretch>
        </p:blipFill>
        <p:spPr>
          <a:xfrm>
            <a:off x="7386403" y="3067200"/>
            <a:ext cx="3061592" cy="327599"/>
          </a:xfrm>
          <a:prstGeom prst="rect">
            <a:avLst/>
          </a:prstGeom>
          <a:effectLst/>
        </p:spPr>
      </p:pic>
      <p:sp>
        <p:nvSpPr>
          <p:cNvPr id="29" name="Rounded Rectangle 28"/>
          <p:cNvSpPr/>
          <p:nvPr/>
        </p:nvSpPr>
        <p:spPr>
          <a:xfrm>
            <a:off x="6400800" y="3510000"/>
            <a:ext cx="5032800" cy="2736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30" name="TextBox 29"/>
          <p:cNvSpPr txBox="1"/>
          <p:nvPr/>
        </p:nvSpPr>
        <p:spPr>
          <a:xfrm>
            <a:off x="6508800" y="3582000"/>
            <a:ext cx="4816800" cy="2592000"/>
          </a:xfrm>
          <a:prstGeom prst="rect">
            <a:avLst/>
          </a:prstGeom>
          <a:noFill/>
          <a:effectLst/>
        </p:spPr>
        <p:txBody>
          <a:bodyPr wrap="square">
            <a:spAutoFit/>
          </a:bodyPr>
          <a:lstStyle/>
          <a:p>
            <a:pPr>
              <a:lnSpc>
                <a:spcPct val="115000"/>
              </a:lnSpc>
            </a:pPr>
            <a:r>
              <a:rPr sz="1120" b="1">
                <a:solidFill>
                  <a:srgbClr val="1E3A8A"/>
                </a:solidFill>
                <a:latin typeface="Segoe UI"/>
                <a:ea typeface="Microsoft YaHei"/>
              </a:rPr>
              <a:t>监测杠杆非对称性的深层公卫启示：</a:t>
            </a:r>
          </a:p>
          <a:p>
            <a:pPr>
              <a:lnSpc>
                <a:spcPct val="118000"/>
              </a:lnSpc>
              <a:spcBef>
                <a:spcPts val="400"/>
              </a:spcBef>
            </a:pPr>
            <a:r>
              <a:rPr sz="1000" b="1">
                <a:solidFill>
                  <a:srgbClr val="1E293B"/>
                </a:solidFill>
                <a:latin typeface="Segoe UI"/>
                <a:ea typeface="Microsoft YaHei"/>
              </a:rPr>
              <a:t>• 报告率极限局限（ρ → 1）：
</a:t>
            </a:r>
            <a:r>
              <a:rPr sz="950">
                <a:solidFill>
                  <a:srgbClr val="334155"/>
                </a:solidFill>
                <a:latin typeface="Segoe UI"/>
                <a:ea typeface="Microsoft YaHei"/>
              </a:rPr>
              <a:t>  即便完全消除漏报（ρ=1），也只能剔除漏报抽稀噪声，人群内部固有的泊松计数波动 R̄/n 与超传播方差依然存在，方差永远无法降至 v_R！</a:t>
            </a:r>
          </a:p>
          <a:p>
            <a:pPr>
              <a:lnSpc>
                <a:spcPct val="118000"/>
              </a:lnSpc>
              <a:spcBef>
                <a:spcPts val="400"/>
              </a:spcBef>
            </a:pPr>
            <a:r>
              <a:rPr sz="1000" b="1">
                <a:solidFill>
                  <a:srgbClr val="1E293B"/>
                </a:solidFill>
                <a:latin typeface="Segoe UI"/>
                <a:ea typeface="Microsoft YaHei"/>
              </a:rPr>
              <a:t>• 人群基数统摄消除（n → ∞）：
</a:t>
            </a:r>
            <a:r>
              <a:rPr sz="950">
                <a:solidFill>
                  <a:srgbClr val="334155"/>
                </a:solidFill>
                <a:latin typeface="Segoe UI"/>
                <a:ea typeface="Microsoft YaHei"/>
              </a:rPr>
              <a:t>  扩大监测人群基数 n，利用大数定律分母趋于无穷，能够同时消除全部微观噪声，方差严格收敛到不可约环境底板 v_R。</a:t>
            </a:r>
          </a:p>
          <a:p>
            <a:pPr>
              <a:lnSpc>
                <a:spcPct val="118000"/>
              </a:lnSpc>
              <a:spcBef>
                <a:spcPts val="400"/>
              </a:spcBef>
            </a:pPr>
            <a:r>
              <a:rPr sz="1000" b="1">
                <a:solidFill>
                  <a:srgbClr val="1E293B"/>
                </a:solidFill>
                <a:latin typeface="Segoe UI"/>
                <a:ea typeface="Microsoft YaHei"/>
              </a:rPr>
              <a:t>• 政策决策启示：
</a:t>
            </a:r>
            <a:r>
              <a:rPr sz="950">
                <a:solidFill>
                  <a:srgbClr val="334155"/>
                </a:solidFill>
                <a:latin typeface="Segoe UI"/>
                <a:ea typeface="Microsoft YaHei"/>
              </a:rPr>
              <a:t>  盲目追求高检测率不能替代地理覆盖面的扩大；监测网络的空间广度比局部的报告饱和度更具信息价值。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251999"/>
            <a:ext cx="7920000" cy="198000"/>
          </a:xfrm>
          <a:prstGeom prst="rect">
            <a:avLst/>
          </a:prstGeom>
          <a:noFill/>
          <a:effectLst/>
        </p:spPr>
        <p:txBody>
          <a:bodyPr wrap="square" lIns="0" rIns="0" tIns="0" bIns="0">
            <a:spAutoFit/>
          </a:bodyPr>
          <a:lstStyle/>
          <a:p>
            <a:pPr>
              <a:lnSpc>
                <a:spcPct val="115000"/>
              </a:lnSpc>
            </a:pPr>
            <a:r>
              <a:rPr sz="1050" b="1">
                <a:solidFill>
                  <a:srgbClr val="2563EB"/>
                </a:solidFill>
                <a:latin typeface="Segoe UI"/>
                <a:ea typeface="Microsoft YaHei"/>
              </a:rPr>
              <a:t>04 / 运筹设计：多期时间抽样与 Cochran 对偶  •  MULTI-PERIOD DESIGN &amp; COCHRAN DUAL</a:t>
            </a:r>
          </a:p>
        </p:txBody>
      </p:sp>
      <p:sp>
        <p:nvSpPr>
          <p:cNvPr id="3" name="TextBox 2"/>
          <p:cNvSpPr txBox="1"/>
          <p:nvPr/>
        </p:nvSpPr>
        <p:spPr>
          <a:xfrm>
            <a:off x="9720000" y="251999"/>
            <a:ext cx="1933200" cy="198000"/>
          </a:xfrm>
          <a:prstGeom prst="rect">
            <a:avLst/>
          </a:prstGeom>
          <a:noFill/>
          <a:effectLst/>
        </p:spPr>
        <p:txBody>
          <a:bodyPr wrap="square" lIns="0" rIns="0" tIns="0" bIns="0">
            <a:spAutoFit/>
          </a:bodyPr>
          <a:lstStyle/>
          <a:p>
            <a:pPr algn="r">
              <a:lnSpc>
                <a:spcPct val="115000"/>
              </a:lnSpc>
            </a:pPr>
            <a:r>
              <a:rPr sz="1100" b="1">
                <a:solidFill>
                  <a:srgbClr val="64748B"/>
                </a:solidFill>
                <a:latin typeface="Segoe UI"/>
                <a:ea typeface="Microsoft YaHei"/>
              </a:rPr>
              <a:t>06 / 11</a:t>
            </a:r>
          </a:p>
        </p:txBody>
      </p:sp>
      <p:sp>
        <p:nvSpPr>
          <p:cNvPr id="4" name="TextBox 3"/>
          <p:cNvSpPr txBox="1"/>
          <p:nvPr/>
        </p:nvSpPr>
        <p:spPr>
          <a:xfrm>
            <a:off x="540000" y="468000"/>
            <a:ext cx="11113200" cy="342000"/>
          </a:xfrm>
          <a:prstGeom prst="rect">
            <a:avLst/>
          </a:prstGeom>
          <a:noFill/>
          <a:effectLst/>
        </p:spPr>
        <p:txBody>
          <a:bodyPr wrap="square" lIns="0" rIns="0" tIns="0" bIns="0">
            <a:spAutoFit/>
          </a:bodyPr>
          <a:lstStyle/>
          <a:p>
            <a:pPr>
              <a:lnSpc>
                <a:spcPct val="115000"/>
              </a:lnSpc>
            </a:pPr>
            <a:r>
              <a:rPr sz="2100" b="1">
                <a:solidFill>
                  <a:srgbClr val="0F172A"/>
                </a:solidFill>
                <a:latin typeface="Segoe UI"/>
                <a:ea typeface="Microsoft YaHei"/>
              </a:rPr>
              <a:t>监测资源运筹优化：样本预算恒常性与二阶导严格凸性</a:t>
            </a:r>
          </a:p>
        </p:txBody>
      </p:sp>
      <p:sp>
        <p:nvSpPr>
          <p:cNvPr id="5" name="Rectangle 4"/>
          <p:cNvSpPr/>
          <p:nvPr/>
        </p:nvSpPr>
        <p:spPr>
          <a:xfrm>
            <a:off x="540000" y="846000"/>
            <a:ext cx="11113200" cy="12700"/>
          </a:xfrm>
          <a:prstGeom prst="rect">
            <a:avLst/>
          </a:prstGeom>
          <a:solidFill>
            <a:srgbClr val="E2E8F0"/>
          </a:solidFill>
          <a:ln>
            <a:noFill/>
          </a:ln>
          <a:effectLst/>
        </p:spPr>
        <p:txBody>
          <a:bodyPr rtlCol="0" anchor="ctr"/>
          <a:lstStyle/>
          <a:p>
            <a:pPr algn="ctr"/>
          </a:p>
        </p:txBody>
      </p:sp>
      <p:sp>
        <p:nvSpPr>
          <p:cNvPr id="6" name="Rounded Rectangle 5"/>
          <p:cNvSpPr/>
          <p:nvPr/>
        </p:nvSpPr>
        <p:spPr>
          <a:xfrm>
            <a:off x="540000" y="954000"/>
            <a:ext cx="54648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7" name="TextBox 6"/>
          <p:cNvSpPr txBox="1"/>
          <p:nvPr/>
        </p:nvSpPr>
        <p:spPr>
          <a:xfrm>
            <a:off x="756000" y="1116000"/>
            <a:ext cx="5032800" cy="198000"/>
          </a:xfrm>
          <a:prstGeom prst="rect">
            <a:avLst/>
          </a:prstGeom>
          <a:noFill/>
          <a:effectLst/>
        </p:spPr>
        <p:txBody>
          <a:bodyPr wrap="none">
            <a:spAutoFit/>
          </a:bodyPr>
          <a:lstStyle/>
          <a:p>
            <a:r>
              <a:rPr sz="1350" b="1">
                <a:solidFill>
                  <a:srgbClr val="1E3A8A"/>
                </a:solidFill>
                <a:latin typeface="Segoe UI"/>
                <a:ea typeface="Microsoft YaHei"/>
              </a:rPr>
              <a:t>命题 4：多期样本均值方差与样本预算恒常性</a:t>
            </a:r>
          </a:p>
        </p:txBody>
      </p:sp>
      <p:sp>
        <p:nvSpPr>
          <p:cNvPr id="8" name="TextBox 7"/>
          <p:cNvSpPr txBox="1"/>
          <p:nvPr/>
        </p:nvSpPr>
        <p:spPr>
          <a:xfrm>
            <a:off x="756000" y="1367999"/>
            <a:ext cx="5032800" cy="378000"/>
          </a:xfrm>
          <a:prstGeom prst="rect">
            <a:avLst/>
          </a:prstGeom>
          <a:noFill/>
          <a:effectLst/>
        </p:spPr>
        <p:txBody>
          <a:bodyPr wrap="square" lIns="0" rIns="0" tIns="0" bIns="0">
            <a:spAutoFit/>
          </a:bodyPr>
          <a:lstStyle/>
          <a:p>
            <a:pPr>
              <a:lnSpc>
                <a:spcPct val="115000"/>
              </a:lnSpc>
            </a:pPr>
            <a:r>
              <a:rPr sz="1100" b="1">
                <a:solidFill>
                  <a:srgbClr val="1E293B"/>
                </a:solidFill>
                <a:latin typeface="Segoe UI"/>
                <a:ea typeface="Microsoft YaHei"/>
              </a:rPr>
              <a:t>• 固定总样本规模预算 B = T · m 下的方差解构：</a:t>
            </a:r>
          </a:p>
          <a:p>
            <a:pPr>
              <a:lnSpc>
                <a:spcPct val="115000"/>
              </a:lnSpc>
              <a:spcBef>
                <a:spcPts val="200"/>
              </a:spcBef>
            </a:pPr>
            <a:r>
              <a:rPr sz="960">
                <a:solidFill>
                  <a:srgbClr val="334155"/>
                </a:solidFill>
                <a:latin typeface="Segoe UI"/>
                <a:ea typeface="Microsoft YaHei"/>
              </a:rPr>
              <a:t>在整个周期总病例预算 B = T·m 约束下，跨期均值方差呈现惊人的代数特性：</a:t>
            </a:r>
          </a:p>
        </p:txBody>
      </p:sp>
      <p:sp>
        <p:nvSpPr>
          <p:cNvPr id="9" name="Rounded Rectangle 8"/>
          <p:cNvSpPr/>
          <p:nvPr/>
        </p:nvSpPr>
        <p:spPr>
          <a:xfrm>
            <a:off x="756000" y="1764000"/>
            <a:ext cx="5032800" cy="413999"/>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0" name="Picture 9" descr="image.png"/>
          <p:cNvPicPr>
            <a:picLocks noChangeAspect="1"/>
          </p:cNvPicPr>
          <p:nvPr/>
        </p:nvPicPr>
        <p:blipFill>
          <a:blip r:embed="rId9"/>
          <a:stretch>
            <a:fillRect/>
          </a:stretch>
        </p:blipFill>
        <p:spPr>
          <a:xfrm>
            <a:off x="2031094" y="1807200"/>
            <a:ext cx="2482610" cy="327599"/>
          </a:xfrm>
          <a:prstGeom prst="rect">
            <a:avLst/>
          </a:prstGeom>
          <a:effectLst/>
        </p:spPr>
      </p:pic>
      <p:sp>
        <p:nvSpPr>
          <p:cNvPr id="11" name="Rounded Rectangle 10"/>
          <p:cNvSpPr/>
          <p:nvPr/>
        </p:nvSpPr>
        <p:spPr>
          <a:xfrm>
            <a:off x="756000" y="2250000"/>
            <a:ext cx="5032800" cy="1098000"/>
          </a:xfrm>
          <a:prstGeom prst="roundRect">
            <a:avLst>
              <a:gd name="adj" fmla="val 2000"/>
            </a:avLst>
          </a:prstGeom>
          <a:solidFill>
            <a:srgbClr val="EFF6FF"/>
          </a:solidFill>
          <a:ln w="9525">
            <a:solidFill>
              <a:srgbClr val="BFDBFE"/>
            </a:solidFill>
          </a:ln>
          <a:effectLst/>
        </p:spPr>
        <p:txBody>
          <a:bodyPr rtlCol="0" anchor="ctr"/>
          <a:lstStyle/>
          <a:p>
            <a:pPr algn="ctr"/>
          </a:p>
        </p:txBody>
      </p:sp>
      <p:sp>
        <p:nvSpPr>
          <p:cNvPr id="12" name="TextBox 11"/>
          <p:cNvSpPr txBox="1"/>
          <p:nvPr/>
        </p:nvSpPr>
        <p:spPr>
          <a:xfrm>
            <a:off x="900000" y="2322000"/>
            <a:ext cx="4744800" cy="954000"/>
          </a:xfrm>
          <a:prstGeom prst="rect">
            <a:avLst/>
          </a:prstGeom>
          <a:noFill/>
          <a:effectLst/>
        </p:spPr>
        <p:txBody>
          <a:bodyPr wrap="square" lIns="0" rIns="0" tIns="0" bIns="0">
            <a:spAutoFit/>
          </a:bodyPr>
          <a:lstStyle/>
          <a:p>
            <a:pPr>
              <a:lnSpc>
                <a:spcPct val="115000"/>
              </a:lnSpc>
            </a:pPr>
            <a:r>
              <a:rPr sz="1080" b="1">
                <a:solidFill>
                  <a:srgbClr val="1E3A8A"/>
                </a:solidFill>
                <a:latin typeface="Segoe UI"/>
                <a:ea typeface="Microsoft YaHei"/>
              </a:rPr>
              <a:t>【样本预算恒常性定理 (Invariance of Sampling Variance)】</a:t>
            </a:r>
          </a:p>
          <a:p>
            <a:pPr>
              <a:lnSpc>
                <a:spcPct val="118000"/>
              </a:lnSpc>
              <a:spcBef>
                <a:spcPts val="300"/>
              </a:spcBef>
            </a:pPr>
            <a:r>
              <a:rPr sz="950">
                <a:solidFill>
                  <a:srgbClr val="334155"/>
                </a:solidFill>
                <a:latin typeface="Segoe UI"/>
                <a:ea typeface="Microsoft YaHei"/>
              </a:rPr>
              <a:t>第二项抽样误差恒为常数 A/B！无论你怎么分配 T 和 m，只要总人数 B 固定，微观抽样误差永远不变！要想降低总方差，单期拼命堆人数毫无用处，唯一的路径是拉长观测周期 T 去平滑宏观不可约环境变异 v_R！</a:t>
            </a:r>
          </a:p>
        </p:txBody>
      </p:sp>
      <p:sp>
        <p:nvSpPr>
          <p:cNvPr id="13" name="Rounded Rectangle 12"/>
          <p:cNvSpPr/>
          <p:nvPr/>
        </p:nvSpPr>
        <p:spPr>
          <a:xfrm>
            <a:off x="756000" y="3420000"/>
            <a:ext cx="5032800" cy="2826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4" name="TextBox 13"/>
          <p:cNvSpPr txBox="1"/>
          <p:nvPr/>
        </p:nvSpPr>
        <p:spPr>
          <a:xfrm>
            <a:off x="864000" y="3492000"/>
            <a:ext cx="4816800" cy="2682000"/>
          </a:xfrm>
          <a:prstGeom prst="rect">
            <a:avLst/>
          </a:prstGeom>
          <a:noFill/>
          <a:effectLst/>
        </p:spPr>
        <p:txBody>
          <a:bodyPr wrap="square">
            <a:spAutoFit/>
          </a:bodyPr>
          <a:lstStyle/>
          <a:p>
            <a:pPr>
              <a:lnSpc>
                <a:spcPct val="115000"/>
              </a:lnSpc>
            </a:pPr>
            <a:r>
              <a:rPr sz="1120" b="1">
                <a:solidFill>
                  <a:srgbClr val="1E3A8A"/>
                </a:solidFill>
                <a:latin typeface="Segoe UI"/>
                <a:ea typeface="Microsoft YaHei"/>
              </a:rPr>
              <a:t>AR(1) 自相关环境求和与有效独立期数：</a:t>
            </a:r>
          </a:p>
          <a:p>
            <a:pPr>
              <a:lnSpc>
                <a:spcPct val="118000"/>
              </a:lnSpc>
              <a:spcBef>
                <a:spcPts val="400"/>
              </a:spcBef>
            </a:pPr>
            <a:r>
              <a:rPr sz="1000" b="1">
                <a:solidFill>
                  <a:srgbClr val="1E293B"/>
                </a:solidFill>
                <a:latin typeface="Segoe UI"/>
                <a:ea typeface="Microsoft YaHei"/>
              </a:rPr>
              <a:t>• 自相关双重级数求和：
</a:t>
            </a:r>
            <a:r>
              <a:rPr sz="950">
                <a:solidFill>
                  <a:srgbClr val="334155"/>
                </a:solidFill>
                <a:latin typeface="Segoe UI"/>
                <a:ea typeface="Microsoft YaHei"/>
              </a:rPr>
              <a:t>  假定滞后 s 阶环境协方差为 v_R r^s，总方差含级数 S = ∑_{s=1}^{T-1}(T-s)r^s。利用错位相减法求出精确闭式解：S = Tr/(1-r) - r(1-r^T)/(1-r)^2。</a:t>
            </a:r>
          </a:p>
          <a:p>
            <a:pPr>
              <a:lnSpc>
                <a:spcPct val="118000"/>
              </a:lnSpc>
              <a:spcBef>
                <a:spcPts val="400"/>
              </a:spcBef>
            </a:pPr>
            <a:r>
              <a:rPr sz="1000" b="1">
                <a:solidFill>
                  <a:srgbClr val="1E293B"/>
                </a:solidFill>
                <a:latin typeface="Segoe UI"/>
                <a:ea typeface="Microsoft YaHei"/>
              </a:rPr>
              <a:t>• 有效独立期数折减：
</a:t>
            </a:r>
            <a:r>
              <a:rPr sz="950">
                <a:solidFill>
                  <a:srgbClr val="334155"/>
                </a:solidFill>
                <a:latin typeface="Segoe UI"/>
                <a:ea typeface="Microsoft YaHei"/>
              </a:rPr>
              <a:t>  当观测期远大于环境自相关记忆时长（T ≫ 1/(1-r)）时，有效独立期数渐近退化为 T_eff ≈ T (1-r)/(1+r)。</a:t>
            </a:r>
          </a:p>
          <a:p>
            <a:pPr>
              <a:lnSpc>
                <a:spcPct val="118000"/>
              </a:lnSpc>
              <a:spcBef>
                <a:spcPts val="400"/>
              </a:spcBef>
            </a:pPr>
            <a:r>
              <a:rPr sz="1000" b="1">
                <a:solidFill>
                  <a:srgbClr val="1E293B"/>
                </a:solidFill>
                <a:latin typeface="Segoe UI"/>
                <a:ea typeface="Microsoft YaHei"/>
              </a:rPr>
              <a:t>• 大论文理论价值：
</a:t>
            </a:r>
            <a:r>
              <a:rPr sz="950">
                <a:solidFill>
                  <a:srgbClr val="334155"/>
                </a:solidFill>
                <a:latin typeface="Segoe UI"/>
                <a:ea typeface="Microsoft YaHei"/>
              </a:rPr>
              <a:t>  将经典的独立环境同构扩展至真实传染病存在时间记忆的连续状态，给出了时间平滑降差的精确物理折减率。</a:t>
            </a:r>
          </a:p>
        </p:txBody>
      </p:sp>
      <p:sp>
        <p:nvSpPr>
          <p:cNvPr id="15" name="Rounded Rectangle 14"/>
          <p:cNvSpPr/>
          <p:nvPr/>
        </p:nvSpPr>
        <p:spPr>
          <a:xfrm>
            <a:off x="6184800" y="954000"/>
            <a:ext cx="54648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16" name="TextBox 15"/>
          <p:cNvSpPr txBox="1"/>
          <p:nvPr/>
        </p:nvSpPr>
        <p:spPr>
          <a:xfrm>
            <a:off x="6400800" y="1116000"/>
            <a:ext cx="5032800" cy="198000"/>
          </a:xfrm>
          <a:prstGeom prst="rect">
            <a:avLst/>
          </a:prstGeom>
          <a:noFill/>
          <a:effectLst/>
        </p:spPr>
        <p:txBody>
          <a:bodyPr wrap="none">
            <a:spAutoFit/>
          </a:bodyPr>
          <a:lstStyle/>
          <a:p>
            <a:r>
              <a:rPr sz="1350" b="1">
                <a:solidFill>
                  <a:srgbClr val="1E3A8A"/>
                </a:solidFill>
                <a:latin typeface="Segoe UI"/>
                <a:ea typeface="Microsoft YaHei"/>
              </a:rPr>
              <a:t>推论 1：显式经费约束下凸优化与 Cochran 抽样对偶</a:t>
            </a:r>
          </a:p>
        </p:txBody>
      </p:sp>
      <p:sp>
        <p:nvSpPr>
          <p:cNvPr id="17" name="TextBox 16"/>
          <p:cNvSpPr txBox="1"/>
          <p:nvPr/>
        </p:nvSpPr>
        <p:spPr>
          <a:xfrm>
            <a:off x="6400800" y="1367999"/>
            <a:ext cx="5032800" cy="378000"/>
          </a:xfrm>
          <a:prstGeom prst="rect">
            <a:avLst/>
          </a:prstGeom>
          <a:noFill/>
          <a:effectLst/>
        </p:spPr>
        <p:txBody>
          <a:bodyPr wrap="square" lIns="0" rIns="0" tIns="0" bIns="0">
            <a:spAutoFit/>
          </a:bodyPr>
          <a:lstStyle/>
          <a:p>
            <a:pPr>
              <a:lnSpc>
                <a:spcPct val="115000"/>
              </a:lnSpc>
            </a:pPr>
            <a:r>
              <a:rPr sz="1100" b="1">
                <a:solidFill>
                  <a:srgbClr val="1E293B"/>
                </a:solidFill>
                <a:latin typeface="Segoe UI"/>
                <a:ea typeface="Microsoft YaHei"/>
              </a:rPr>
              <a:t>• 显式经济成本模型与目标方差函数：</a:t>
            </a:r>
          </a:p>
          <a:p>
            <a:pPr>
              <a:lnSpc>
                <a:spcPct val="115000"/>
              </a:lnSpc>
              <a:spcBef>
                <a:spcPts val="200"/>
              </a:spcBef>
            </a:pPr>
            <a:r>
              <a:rPr sz="960">
                <a:solidFill>
                  <a:srgbClr val="334155"/>
                </a:solidFill>
                <a:latin typeface="Segoe UI"/>
                <a:ea typeface="Microsoft YaHei"/>
              </a:rPr>
              <a:t>设每期固定运转维持成本 c_0，单例报告边际成本 c_1。总经费预算 ℬ = T(c_0 + c_1 m)：</a:t>
            </a:r>
          </a:p>
        </p:txBody>
      </p:sp>
      <p:sp>
        <p:nvSpPr>
          <p:cNvPr id="18" name="Rounded Rectangle 17"/>
          <p:cNvSpPr/>
          <p:nvPr/>
        </p:nvSpPr>
        <p:spPr>
          <a:xfrm>
            <a:off x="6400800" y="1764000"/>
            <a:ext cx="5032800" cy="413999"/>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9" name="Picture 18" descr="image.png"/>
          <p:cNvPicPr>
            <a:picLocks noChangeAspect="1"/>
          </p:cNvPicPr>
          <p:nvPr/>
        </p:nvPicPr>
        <p:blipFill>
          <a:blip r:embed="rId10"/>
          <a:stretch>
            <a:fillRect/>
          </a:stretch>
        </p:blipFill>
        <p:spPr>
          <a:xfrm>
            <a:off x="7545057" y="1807200"/>
            <a:ext cx="2744284" cy="327599"/>
          </a:xfrm>
          <a:prstGeom prst="rect">
            <a:avLst/>
          </a:prstGeom>
          <a:effectLst/>
        </p:spPr>
      </p:pic>
      <p:sp>
        <p:nvSpPr>
          <p:cNvPr id="20" name="Rounded Rectangle 19"/>
          <p:cNvSpPr/>
          <p:nvPr/>
        </p:nvSpPr>
        <p:spPr>
          <a:xfrm>
            <a:off x="6400800" y="2250000"/>
            <a:ext cx="5032800" cy="3996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21" name="TextBox 20"/>
          <p:cNvSpPr txBox="1"/>
          <p:nvPr/>
        </p:nvSpPr>
        <p:spPr>
          <a:xfrm>
            <a:off x="6508800" y="2322000"/>
            <a:ext cx="4816800" cy="3851999"/>
          </a:xfrm>
          <a:prstGeom prst="rect">
            <a:avLst/>
          </a:prstGeom>
          <a:noFill/>
          <a:effectLst/>
        </p:spPr>
        <p:txBody>
          <a:bodyPr wrap="square">
            <a:spAutoFit/>
          </a:bodyPr>
          <a:lstStyle/>
          <a:p>
            <a:pPr>
              <a:lnSpc>
                <a:spcPct val="115000"/>
              </a:lnSpc>
            </a:pPr>
            <a:r>
              <a:rPr sz="1120" b="1">
                <a:solidFill>
                  <a:srgbClr val="1E3A8A"/>
                </a:solidFill>
                <a:latin typeface="Segoe UI"/>
                <a:ea typeface="Microsoft YaHei"/>
              </a:rPr>
              <a:t>凸优化闭式解与 Cochran (1977) 抽样理论对偶：</a:t>
            </a:r>
          </a:p>
          <a:p>
            <a:pPr>
              <a:lnSpc>
                <a:spcPct val="118000"/>
              </a:lnSpc>
              <a:spcBef>
                <a:spcPts val="400"/>
              </a:spcBef>
            </a:pPr>
            <a:r>
              <a:rPr sz="1000" b="1">
                <a:solidFill>
                  <a:srgbClr val="1E293B"/>
                </a:solidFill>
                <a:latin typeface="Segoe UI"/>
                <a:ea typeface="Microsoft YaHei"/>
              </a:rPr>
              <a:t>• 一阶导求驻点：
</a:t>
            </a:r>
            <a:r>
              <a:rPr sz="950">
                <a:solidFill>
                  <a:srgbClr val="334155"/>
                </a:solidFill>
                <a:latin typeface="Segoe UI"/>
                <a:ea typeface="Microsoft YaHei"/>
              </a:rPr>
              <a:t>  目标函数 f(m) = (c_0 + c_1 m)(v_R + A/m)/ℬ。令 f'(m) = (c_1 v_R - c_0 A/m^2)/ℬ = 0，解得唯一正根：m^* = sqrt(c_0/c_1 · m_×)。</a:t>
            </a:r>
          </a:p>
          <a:p>
            <a:pPr>
              <a:lnSpc>
                <a:spcPct val="118000"/>
              </a:lnSpc>
              <a:spcBef>
                <a:spcPts val="400"/>
              </a:spcBef>
            </a:pPr>
            <a:r>
              <a:rPr sz="1000" b="1">
                <a:solidFill>
                  <a:srgbClr val="1E293B"/>
                </a:solidFill>
                <a:latin typeface="Segoe UI"/>
                <a:ea typeface="Microsoft YaHei"/>
              </a:rPr>
              <a:t>• 二阶导严格凸性：
</a:t>
            </a:r>
            <a:r>
              <a:rPr sz="950">
                <a:solidFill>
                  <a:srgbClr val="334155"/>
                </a:solidFill>
                <a:latin typeface="Segoe UI"/>
                <a:ea typeface="Microsoft YaHei"/>
              </a:rPr>
              <a:t>  计算二阶导得 f''(m) = 2 c_0 A / (ℬ m^3) &gt; 0（对一切正规模 m 恒正）。目标函数在定义域内严格凸，保证了驻点为唯一的全局极小值点！</a:t>
            </a:r>
          </a:p>
          <a:p>
            <a:pPr>
              <a:lnSpc>
                <a:spcPct val="118000"/>
              </a:lnSpc>
              <a:spcBef>
                <a:spcPts val="400"/>
              </a:spcBef>
            </a:pPr>
            <a:r>
              <a:rPr sz="1000" b="1">
                <a:solidFill>
                  <a:srgbClr val="1E293B"/>
                </a:solidFill>
                <a:latin typeface="Segoe UI"/>
                <a:ea typeface="Microsoft YaHei"/>
              </a:rPr>
              <a:t>• Cochran (1977) 抽样对偶：
</a:t>
            </a:r>
            <a:r>
              <a:rPr sz="950">
                <a:solidFill>
                  <a:srgbClr val="334155"/>
                </a:solidFill>
                <a:latin typeface="Segoe UI"/>
                <a:ea typeface="Microsoft YaHei"/>
              </a:rPr>
              <a:t>  这一结果在数学形式上与调查抽样鼻祖 Cochran 第 10 章的两阶段抽样最优分配模型完全同构！期数 T 对应初级抽样单元（PSU），单期规模 m 对应次级抽样单元（SSU）。</a:t>
            </a:r>
          </a:p>
          <a:p>
            <a:pPr>
              <a:lnSpc>
                <a:spcPct val="118000"/>
              </a:lnSpc>
              <a:spcBef>
                <a:spcPts val="400"/>
              </a:spcBef>
            </a:pPr>
            <a:r>
              <a:rPr sz="1000" b="1">
                <a:solidFill>
                  <a:srgbClr val="1E293B"/>
                </a:solidFill>
                <a:latin typeface="Segoe UI"/>
                <a:ea typeface="Microsoft YaHei"/>
              </a:rPr>
              <a:t>• 边角解判定与工程约束：
</a:t>
            </a:r>
            <a:r>
              <a:rPr sz="950">
                <a:solidFill>
                  <a:srgbClr val="334155"/>
                </a:solidFill>
                <a:latin typeface="Segoe UI"/>
                <a:ea typeface="Microsoft YaHei"/>
              </a:rPr>
              <a:t>  若求解的规模超出可行上界 m_max，由严格凸性直接导出最优解退化为边界点，具备完备的运筹操作可行性。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251999"/>
            <a:ext cx="7920000" cy="198000"/>
          </a:xfrm>
          <a:prstGeom prst="rect">
            <a:avLst/>
          </a:prstGeom>
          <a:noFill/>
          <a:effectLst/>
        </p:spPr>
        <p:txBody>
          <a:bodyPr wrap="square" lIns="0" rIns="0" tIns="0" bIns="0">
            <a:spAutoFit/>
          </a:bodyPr>
          <a:lstStyle/>
          <a:p>
            <a:pPr>
              <a:lnSpc>
                <a:spcPct val="115000"/>
              </a:lnSpc>
            </a:pPr>
            <a:r>
              <a:rPr sz="1050" b="1">
                <a:solidFill>
                  <a:srgbClr val="2563EB"/>
                </a:solidFill>
                <a:latin typeface="Segoe UI"/>
                <a:ea typeface="Microsoft YaHei"/>
              </a:rPr>
              <a:t>05 / 数值模拟：假设检验功效与更新过程预测  •  SIMULATION &amp; HYPOTHESIS TESTING</a:t>
            </a:r>
          </a:p>
        </p:txBody>
      </p:sp>
      <p:sp>
        <p:nvSpPr>
          <p:cNvPr id="3" name="TextBox 2"/>
          <p:cNvSpPr txBox="1"/>
          <p:nvPr/>
        </p:nvSpPr>
        <p:spPr>
          <a:xfrm>
            <a:off x="9720000" y="251999"/>
            <a:ext cx="1933200" cy="198000"/>
          </a:xfrm>
          <a:prstGeom prst="rect">
            <a:avLst/>
          </a:prstGeom>
          <a:noFill/>
          <a:effectLst/>
        </p:spPr>
        <p:txBody>
          <a:bodyPr wrap="square" lIns="0" rIns="0" tIns="0" bIns="0">
            <a:spAutoFit/>
          </a:bodyPr>
          <a:lstStyle/>
          <a:p>
            <a:pPr algn="r">
              <a:lnSpc>
                <a:spcPct val="115000"/>
              </a:lnSpc>
            </a:pPr>
            <a:r>
              <a:rPr sz="1100" b="1">
                <a:solidFill>
                  <a:srgbClr val="64748B"/>
                </a:solidFill>
                <a:latin typeface="Segoe UI"/>
                <a:ea typeface="Microsoft YaHei"/>
              </a:rPr>
              <a:t>07 / 11</a:t>
            </a:r>
          </a:p>
        </p:txBody>
      </p:sp>
      <p:sp>
        <p:nvSpPr>
          <p:cNvPr id="4" name="TextBox 3"/>
          <p:cNvSpPr txBox="1"/>
          <p:nvPr/>
        </p:nvSpPr>
        <p:spPr>
          <a:xfrm>
            <a:off x="540000" y="468000"/>
            <a:ext cx="11113200" cy="342000"/>
          </a:xfrm>
          <a:prstGeom prst="rect">
            <a:avLst/>
          </a:prstGeom>
          <a:noFill/>
          <a:effectLst/>
        </p:spPr>
        <p:txBody>
          <a:bodyPr wrap="square" lIns="0" rIns="0" tIns="0" bIns="0">
            <a:spAutoFit/>
          </a:bodyPr>
          <a:lstStyle/>
          <a:p>
            <a:pPr>
              <a:lnSpc>
                <a:spcPct val="115000"/>
              </a:lnSpc>
            </a:pPr>
            <a:r>
              <a:rPr sz="2100" b="1">
                <a:solidFill>
                  <a:srgbClr val="0F172A"/>
                </a:solidFill>
                <a:latin typeface="Segoe UI"/>
                <a:ea typeface="Microsoft YaHei"/>
              </a:rPr>
              <a:t>离散功效锯齿波、Wald 检验失真与更新过程预测偏差</a:t>
            </a:r>
          </a:p>
        </p:txBody>
      </p:sp>
      <p:sp>
        <p:nvSpPr>
          <p:cNvPr id="5" name="Rectangle 4"/>
          <p:cNvSpPr/>
          <p:nvPr/>
        </p:nvSpPr>
        <p:spPr>
          <a:xfrm>
            <a:off x="540000" y="846000"/>
            <a:ext cx="11113200" cy="12700"/>
          </a:xfrm>
          <a:prstGeom prst="rect">
            <a:avLst/>
          </a:prstGeom>
          <a:solidFill>
            <a:srgbClr val="E2E8F0"/>
          </a:solidFill>
          <a:ln>
            <a:noFill/>
          </a:ln>
          <a:effectLst/>
        </p:spPr>
        <p:txBody>
          <a:bodyPr rtlCol="0" anchor="ctr"/>
          <a:lstStyle/>
          <a:p>
            <a:pPr algn="ctr"/>
          </a:p>
        </p:txBody>
      </p:sp>
      <p:sp>
        <p:nvSpPr>
          <p:cNvPr id="6" name="Rounded Rectangle 5"/>
          <p:cNvSpPr/>
          <p:nvPr/>
        </p:nvSpPr>
        <p:spPr>
          <a:xfrm>
            <a:off x="540000" y="954000"/>
            <a:ext cx="46080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7" name="TextBox 6"/>
          <p:cNvSpPr txBox="1"/>
          <p:nvPr/>
        </p:nvSpPr>
        <p:spPr>
          <a:xfrm>
            <a:off x="756000" y="1116000"/>
            <a:ext cx="4176000" cy="198000"/>
          </a:xfrm>
          <a:prstGeom prst="rect">
            <a:avLst/>
          </a:prstGeom>
          <a:noFill/>
          <a:effectLst/>
        </p:spPr>
        <p:txBody>
          <a:bodyPr wrap="none">
            <a:spAutoFit/>
          </a:bodyPr>
          <a:lstStyle/>
          <a:p>
            <a:r>
              <a:rPr sz="1350" b="1">
                <a:solidFill>
                  <a:srgbClr val="1E3A8A"/>
                </a:solidFill>
                <a:latin typeface="Segoe UI"/>
                <a:ea typeface="Microsoft YaHei"/>
              </a:rPr>
              <a:t>爆发检测形式化检验与更新过程分解</a:t>
            </a:r>
          </a:p>
        </p:txBody>
      </p:sp>
      <p:sp>
        <p:nvSpPr>
          <p:cNvPr id="8" name="TextBox 7"/>
          <p:cNvSpPr txBox="1"/>
          <p:nvPr/>
        </p:nvSpPr>
        <p:spPr>
          <a:xfrm>
            <a:off x="756000" y="1367999"/>
            <a:ext cx="4176000" cy="162000"/>
          </a:xfrm>
          <a:prstGeom prst="rect">
            <a:avLst/>
          </a:prstGeom>
          <a:noFill/>
          <a:effectLst/>
        </p:spPr>
        <p:txBody>
          <a:bodyPr wrap="none">
            <a:spAutoFit/>
          </a:bodyPr>
          <a:lstStyle/>
          <a:p>
            <a:r>
              <a:rPr sz="1100" b="1">
                <a:solidFill>
                  <a:srgbClr val="1E293B"/>
                </a:solidFill>
                <a:latin typeface="Segoe UI"/>
                <a:ea typeface="Microsoft YaHei"/>
              </a:rPr>
              <a:t>• 假设检验设定与单调似然比（MLR 一阶差分 &gt; 0）：</a:t>
            </a:r>
          </a:p>
        </p:txBody>
      </p:sp>
      <p:sp>
        <p:nvSpPr>
          <p:cNvPr id="9" name="Rounded Rectangle 8"/>
          <p:cNvSpPr/>
          <p:nvPr/>
        </p:nvSpPr>
        <p:spPr>
          <a:xfrm>
            <a:off x="756000" y="1548000"/>
            <a:ext cx="41760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0" name="Picture 9" descr="image.png"/>
          <p:cNvPicPr>
            <a:picLocks noChangeAspect="1"/>
          </p:cNvPicPr>
          <p:nvPr/>
        </p:nvPicPr>
        <p:blipFill>
          <a:blip r:embed="rId7"/>
          <a:stretch>
            <a:fillRect/>
          </a:stretch>
        </p:blipFill>
        <p:spPr>
          <a:xfrm>
            <a:off x="1534853" y="1591200"/>
            <a:ext cx="2618293" cy="291600"/>
          </a:xfrm>
          <a:prstGeom prst="rect">
            <a:avLst/>
          </a:prstGeom>
          <a:effectLst/>
        </p:spPr>
      </p:pic>
      <p:sp>
        <p:nvSpPr>
          <p:cNvPr id="11" name="TextBox 10"/>
          <p:cNvSpPr txBox="1"/>
          <p:nvPr/>
        </p:nvSpPr>
        <p:spPr>
          <a:xfrm>
            <a:off x="756000" y="1961999"/>
            <a:ext cx="4176000" cy="162000"/>
          </a:xfrm>
          <a:prstGeom prst="rect">
            <a:avLst/>
          </a:prstGeom>
          <a:noFill/>
          <a:effectLst/>
        </p:spPr>
        <p:txBody>
          <a:bodyPr wrap="none">
            <a:spAutoFit/>
          </a:bodyPr>
          <a:lstStyle/>
          <a:p>
            <a:r>
              <a:rPr sz="1100" b="1">
                <a:solidFill>
                  <a:srgbClr val="1E293B"/>
                </a:solidFill>
                <a:latin typeface="Segoe UI"/>
                <a:ea typeface="Microsoft YaHei"/>
              </a:rPr>
              <a:t>• 精确功效函数与不完全贝塔表达（命题 5）：</a:t>
            </a:r>
          </a:p>
        </p:txBody>
      </p:sp>
      <p:sp>
        <p:nvSpPr>
          <p:cNvPr id="12" name="Rounded Rectangle 11"/>
          <p:cNvSpPr/>
          <p:nvPr/>
        </p:nvSpPr>
        <p:spPr>
          <a:xfrm>
            <a:off x="756000" y="2142000"/>
            <a:ext cx="41760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3" name="Picture 12" descr="image.png"/>
          <p:cNvPicPr>
            <a:picLocks noChangeAspect="1"/>
          </p:cNvPicPr>
          <p:nvPr/>
        </p:nvPicPr>
        <p:blipFill>
          <a:blip r:embed="rId8"/>
          <a:stretch>
            <a:fillRect/>
          </a:stretch>
        </p:blipFill>
        <p:spPr>
          <a:xfrm>
            <a:off x="1640959" y="2185200"/>
            <a:ext cx="2406081" cy="291600"/>
          </a:xfrm>
          <a:prstGeom prst="rect">
            <a:avLst/>
          </a:prstGeom>
          <a:effectLst/>
        </p:spPr>
      </p:pic>
      <p:sp>
        <p:nvSpPr>
          <p:cNvPr id="14" name="TextBox 13"/>
          <p:cNvSpPr txBox="1"/>
          <p:nvPr/>
        </p:nvSpPr>
        <p:spPr>
          <a:xfrm>
            <a:off x="756000" y="2556000"/>
            <a:ext cx="4176000" cy="162000"/>
          </a:xfrm>
          <a:prstGeom prst="rect">
            <a:avLst/>
          </a:prstGeom>
          <a:noFill/>
          <a:effectLst/>
        </p:spPr>
        <p:txBody>
          <a:bodyPr wrap="none">
            <a:spAutoFit/>
          </a:bodyPr>
          <a:lstStyle/>
          <a:p>
            <a:r>
              <a:rPr sz="1100" b="1">
                <a:solidFill>
                  <a:srgbClr val="1E3A8A"/>
                </a:solidFill>
                <a:latin typeface="Segoe UI"/>
                <a:ea typeface="Microsoft YaHei"/>
              </a:rPr>
              <a:t>• 更新过程预测误差与非负预测偏差项（命题 6 式 29）：</a:t>
            </a:r>
          </a:p>
        </p:txBody>
      </p:sp>
      <p:sp>
        <p:nvSpPr>
          <p:cNvPr id="15" name="Rounded Rectangle 14"/>
          <p:cNvSpPr/>
          <p:nvPr/>
        </p:nvSpPr>
        <p:spPr>
          <a:xfrm>
            <a:off x="756000" y="2736000"/>
            <a:ext cx="41760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6" name="Picture 15" descr="image.png"/>
          <p:cNvPicPr>
            <a:picLocks noChangeAspect="1"/>
          </p:cNvPicPr>
          <p:nvPr/>
        </p:nvPicPr>
        <p:blipFill>
          <a:blip r:embed="rId9"/>
          <a:stretch>
            <a:fillRect/>
          </a:stretch>
        </p:blipFill>
        <p:spPr>
          <a:xfrm>
            <a:off x="1623402" y="2779200"/>
            <a:ext cx="2441195" cy="291600"/>
          </a:xfrm>
          <a:prstGeom prst="rect">
            <a:avLst/>
          </a:prstGeom>
          <a:effectLst/>
        </p:spPr>
      </p:pic>
      <p:sp>
        <p:nvSpPr>
          <p:cNvPr id="17" name="Rounded Rectangle 16"/>
          <p:cNvSpPr/>
          <p:nvPr/>
        </p:nvSpPr>
        <p:spPr>
          <a:xfrm>
            <a:off x="756000" y="3186000"/>
            <a:ext cx="4176000" cy="3060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8" name="TextBox 17"/>
          <p:cNvSpPr txBox="1"/>
          <p:nvPr/>
        </p:nvSpPr>
        <p:spPr>
          <a:xfrm>
            <a:off x="864000" y="3258000"/>
            <a:ext cx="3960000" cy="2916000"/>
          </a:xfrm>
          <a:prstGeom prst="rect">
            <a:avLst/>
          </a:prstGeom>
          <a:noFill/>
          <a:effectLst/>
        </p:spPr>
        <p:txBody>
          <a:bodyPr wrap="square">
            <a:spAutoFit/>
          </a:bodyPr>
          <a:lstStyle/>
          <a:p>
            <a:pPr>
              <a:lnSpc>
                <a:spcPct val="115000"/>
              </a:lnSpc>
            </a:pPr>
            <a:r>
              <a:rPr sz="1120" b="1">
                <a:solidFill>
                  <a:srgbClr val="1E3A8A"/>
                </a:solidFill>
                <a:latin typeface="Segoe UI"/>
                <a:ea typeface="Microsoft YaHei"/>
              </a:rPr>
              <a:t>数值模拟揭示的深层统计规律：</a:t>
            </a:r>
          </a:p>
          <a:p>
            <a:pPr>
              <a:lnSpc>
                <a:spcPct val="118000"/>
              </a:lnSpc>
              <a:spcBef>
                <a:spcPts val="400"/>
              </a:spcBef>
            </a:pPr>
            <a:r>
              <a:rPr sz="1000" b="1">
                <a:solidFill>
                  <a:srgbClr val="1E293B"/>
                </a:solidFill>
                <a:latin typeface="Segoe UI"/>
                <a:ea typeface="Microsoft YaHei"/>
              </a:rPr>
              <a:t>• 离散阶梯跳跃与锯齿波：
</a:t>
            </a:r>
            <a:r>
              <a:rPr sz="950">
                <a:solidFill>
                  <a:srgbClr val="334155"/>
                </a:solidFill>
                <a:latin typeface="Segoe UI"/>
                <a:ea typeface="Microsoft YaHei"/>
              </a:rPr>
              <a:t>  计数临界值 c_α(m) 随规模呈阶梯状跳跃，当跨越临界值时门槛骤升，引发功效曲线局部呈现特有的锯齿波动！</a:t>
            </a:r>
          </a:p>
          <a:p>
            <a:pPr>
              <a:lnSpc>
                <a:spcPct val="118000"/>
              </a:lnSpc>
              <a:spcBef>
                <a:spcPts val="400"/>
              </a:spcBef>
            </a:pPr>
            <a:r>
              <a:rPr sz="1000" b="1">
                <a:solidFill>
                  <a:srgbClr val="1E293B"/>
                </a:solidFill>
                <a:latin typeface="Segoe UI"/>
                <a:ea typeface="Microsoft YaHei"/>
              </a:rPr>
              <a:t>• 80% 功效阈值天花板：
</a:t>
            </a:r>
            <a:r>
              <a:rPr sz="950">
                <a:solidFill>
                  <a:srgbClr val="334155"/>
                </a:solidFill>
                <a:latin typeface="Segoe UI"/>
                <a:ea typeface="Microsoft YaHei"/>
              </a:rPr>
              <a:t>  跨过 m_80% 后，功效迅速逼近 1.0 平台，边际投入收益归零，证实检验目标存在天然饱和天花板。</a:t>
            </a:r>
          </a:p>
          <a:p>
            <a:pPr>
              <a:lnSpc>
                <a:spcPct val="118000"/>
              </a:lnSpc>
              <a:spcBef>
                <a:spcPts val="400"/>
              </a:spcBef>
            </a:pPr>
            <a:r>
              <a:rPr sz="1000" b="1">
                <a:solidFill>
                  <a:srgbClr val="1E293B"/>
                </a:solidFill>
                <a:latin typeface="Segoe UI"/>
                <a:ea typeface="Microsoft YaHei"/>
              </a:rPr>
              <a:t>• 更新过程双口径解密：
</a:t>
            </a:r>
            <a:r>
              <a:rPr sz="950">
                <a:solidFill>
                  <a:srgbClr val="334155"/>
                </a:solidFill>
                <a:latin typeface="Segoe UI"/>
                <a:ea typeface="Microsoft YaHei"/>
              </a:rPr>
              <a:t>  初始参数口径为表观 0.75~0.98 倍；按评价周实际发生规模重核为 1.01~1.17 倍，严格不低于单代静态下界，印证了式 (29) 预测偏差项的存在！</a:t>
            </a:r>
          </a:p>
        </p:txBody>
      </p:sp>
      <p:sp>
        <p:nvSpPr>
          <p:cNvPr id="19" name="Rounded Rectangle 18"/>
          <p:cNvSpPr/>
          <p:nvPr/>
        </p:nvSpPr>
        <p:spPr>
          <a:xfrm>
            <a:off x="5328000" y="954000"/>
            <a:ext cx="63252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20" name="Rounded Rectangle 19"/>
          <p:cNvSpPr/>
          <p:nvPr/>
        </p:nvSpPr>
        <p:spPr>
          <a:xfrm>
            <a:off x="5518800" y="1116000"/>
            <a:ext cx="5940000" cy="2160000"/>
          </a:xfrm>
          <a:prstGeom prst="roundRect">
            <a:avLst>
              <a:gd name="adj" fmla="val 2000"/>
            </a:avLst>
          </a:prstGeom>
          <a:solidFill>
            <a:srgbClr val="FFFFFF"/>
          </a:solidFill>
          <a:ln w="12700">
            <a:solidFill>
              <a:srgbClr val="E2E8F0"/>
            </a:solidFill>
          </a:ln>
          <a:effectLst/>
        </p:spPr>
        <p:txBody>
          <a:bodyPr rtlCol="0" anchor="ctr"/>
          <a:lstStyle/>
          <a:p>
            <a:pPr algn="ctr"/>
          </a:p>
        </p:txBody>
      </p:sp>
      <p:pic>
        <p:nvPicPr>
          <p:cNvPr id="21" name="Picture 20" descr="image.png"/>
          <p:cNvPicPr>
            <a:picLocks noChangeAspect="1"/>
          </p:cNvPicPr>
          <p:nvPr/>
        </p:nvPicPr>
        <p:blipFill>
          <a:blip r:embed="rId5"/>
          <a:stretch>
            <a:fillRect/>
          </a:stretch>
        </p:blipFill>
        <p:spPr>
          <a:xfrm>
            <a:off x="5608800" y="1405756"/>
            <a:ext cx="5760000" cy="1580487"/>
          </a:xfrm>
          <a:prstGeom prst="rect">
            <a:avLst/>
          </a:prstGeom>
          <a:effectLst/>
        </p:spPr>
      </p:pic>
      <p:sp>
        <p:nvSpPr>
          <p:cNvPr id="22" name="TextBox 21"/>
          <p:cNvSpPr txBox="1"/>
          <p:nvPr/>
        </p:nvSpPr>
        <p:spPr>
          <a:xfrm>
            <a:off x="5544000" y="3330000"/>
            <a:ext cx="5893200" cy="162000"/>
          </a:xfrm>
          <a:prstGeom prst="rect">
            <a:avLst/>
          </a:prstGeom>
          <a:noFill/>
          <a:effectLst/>
        </p:spPr>
        <p:txBody>
          <a:bodyPr wrap="none">
            <a:spAutoFit/>
          </a:bodyPr>
          <a:lstStyle/>
          <a:p>
            <a:r>
              <a:rPr sz="1120" b="1">
                <a:solidFill>
                  <a:srgbClr val="1E3A8A"/>
                </a:solidFill>
                <a:latin typeface="Segoe UI"/>
                <a:ea typeface="Microsoft YaHei"/>
              </a:rPr>
              <a:t>图 2 &amp; 图 3 仿真模拟关键结论（蒙特卡洛验证）</a:t>
            </a:r>
          </a:p>
        </p:txBody>
      </p:sp>
      <p:sp>
        <p:nvSpPr>
          <p:cNvPr id="23" name="Rounded Rectangle 22"/>
          <p:cNvSpPr/>
          <p:nvPr/>
        </p:nvSpPr>
        <p:spPr>
          <a:xfrm>
            <a:off x="5544000" y="3546000"/>
            <a:ext cx="5893200" cy="666000"/>
          </a:xfrm>
          <a:prstGeom prst="roundRect">
            <a:avLst>
              <a:gd name="adj" fmla="val 2000"/>
            </a:avLst>
          </a:prstGeom>
          <a:solidFill>
            <a:srgbClr val="FFFFFF"/>
          </a:solidFill>
          <a:ln w="9525">
            <a:solidFill>
              <a:srgbClr val="E2E8F0"/>
            </a:solidFill>
          </a:ln>
          <a:effectLst/>
        </p:spPr>
        <p:txBody>
          <a:bodyPr rtlCol="0" anchor="ctr"/>
          <a:lstStyle/>
          <a:p>
            <a:pPr algn="ctr"/>
          </a:p>
        </p:txBody>
      </p:sp>
      <p:sp>
        <p:nvSpPr>
          <p:cNvPr id="24" name="TextBox 23"/>
          <p:cNvSpPr txBox="1"/>
          <p:nvPr/>
        </p:nvSpPr>
        <p:spPr>
          <a:xfrm>
            <a:off x="5688000" y="3618000"/>
            <a:ext cx="5605200" cy="522000"/>
          </a:xfrm>
          <a:prstGeom prst="rect">
            <a:avLst/>
          </a:prstGeom>
          <a:noFill/>
          <a:effectLst/>
        </p:spPr>
        <p:txBody>
          <a:bodyPr wrap="square" lIns="0" rIns="0" tIns="0" bIns="0">
            <a:spAutoFit/>
          </a:bodyPr>
          <a:lstStyle/>
          <a:p>
            <a:pPr>
              <a:lnSpc>
                <a:spcPct val="115000"/>
              </a:lnSpc>
            </a:pPr>
            <a:r>
              <a:rPr sz="1080" b="1">
                <a:solidFill>
                  <a:srgbClr val="1E3A8A"/>
                </a:solidFill>
                <a:latin typeface="Segoe UI"/>
                <a:ea typeface="Microsoft YaHei"/>
              </a:rPr>
              <a:t>1. Wald 正态近似失真  </a:t>
            </a:r>
            <a:r>
              <a:rPr sz="950">
                <a:solidFill>
                  <a:srgbClr val="334155"/>
                </a:solidFill>
                <a:latin typeface="Segoe UI"/>
                <a:ea typeface="Microsoft YaHei"/>
              </a:rPr>
              <a:t>小规模（m&lt;40）且强超传播（k=0.1）下，渐近正态 Wald 检验一类错误率高达 8.1%（严重虚警）；而离散精确负二项检验全域严格受控于 0.05 以下。</a:t>
            </a:r>
          </a:p>
        </p:txBody>
      </p:sp>
      <p:sp>
        <p:nvSpPr>
          <p:cNvPr id="25" name="Rounded Rectangle 24"/>
          <p:cNvSpPr/>
          <p:nvPr/>
        </p:nvSpPr>
        <p:spPr>
          <a:xfrm>
            <a:off x="5544000" y="4276800"/>
            <a:ext cx="5893200" cy="666000"/>
          </a:xfrm>
          <a:prstGeom prst="roundRect">
            <a:avLst>
              <a:gd name="adj" fmla="val 2000"/>
            </a:avLst>
          </a:prstGeom>
          <a:solidFill>
            <a:srgbClr val="FFFFFF"/>
          </a:solidFill>
          <a:ln w="9525">
            <a:solidFill>
              <a:srgbClr val="E2E8F0"/>
            </a:solidFill>
          </a:ln>
          <a:effectLst/>
        </p:spPr>
        <p:txBody>
          <a:bodyPr rtlCol="0" anchor="ctr"/>
          <a:lstStyle/>
          <a:p>
            <a:pPr algn="ctr"/>
          </a:p>
        </p:txBody>
      </p:sp>
      <p:sp>
        <p:nvSpPr>
          <p:cNvPr id="26" name="TextBox 25"/>
          <p:cNvSpPr txBox="1"/>
          <p:nvPr/>
        </p:nvSpPr>
        <p:spPr>
          <a:xfrm>
            <a:off x="5688000" y="4348800"/>
            <a:ext cx="5605200" cy="522000"/>
          </a:xfrm>
          <a:prstGeom prst="rect">
            <a:avLst/>
          </a:prstGeom>
          <a:noFill/>
          <a:effectLst/>
        </p:spPr>
        <p:txBody>
          <a:bodyPr wrap="square" lIns="0" rIns="0" tIns="0" bIns="0">
            <a:spAutoFit/>
          </a:bodyPr>
          <a:lstStyle/>
          <a:p>
            <a:pPr>
              <a:lnSpc>
                <a:spcPct val="115000"/>
              </a:lnSpc>
            </a:pPr>
            <a:r>
              <a:rPr sz="1080" b="1">
                <a:solidFill>
                  <a:srgbClr val="1E3A8A"/>
                </a:solidFill>
                <a:latin typeface="Segoe UI"/>
                <a:ea typeface="Microsoft YaHei"/>
              </a:rPr>
              <a:t>2. 超传播惩罚因子  </a:t>
            </a:r>
            <a:r>
              <a:rPr sz="950">
                <a:solidFill>
                  <a:srgbClr val="334155"/>
                </a:solidFill>
                <a:latin typeface="Segoe UI"/>
                <a:ea typeface="Microsoft YaHei"/>
              </a:rPr>
              <a:t>达到同等 80% 功效所需规模，从弱超传播 k=2.0 飙升至强超传播 k=0.1，所需样本量暴增近 3 倍（流感基准 k=0.35 下 m_80%=142 例）。</a:t>
            </a:r>
          </a:p>
        </p:txBody>
      </p:sp>
      <p:sp>
        <p:nvSpPr>
          <p:cNvPr id="27" name="Rounded Rectangle 26"/>
          <p:cNvSpPr/>
          <p:nvPr/>
        </p:nvSpPr>
        <p:spPr>
          <a:xfrm>
            <a:off x="5544000" y="5007600"/>
            <a:ext cx="5893200" cy="666000"/>
          </a:xfrm>
          <a:prstGeom prst="roundRect">
            <a:avLst>
              <a:gd name="adj" fmla="val 2000"/>
            </a:avLst>
          </a:prstGeom>
          <a:solidFill>
            <a:srgbClr val="FFFFFF"/>
          </a:solidFill>
          <a:ln w="9525">
            <a:solidFill>
              <a:srgbClr val="E2E8F0"/>
            </a:solidFill>
          </a:ln>
          <a:effectLst/>
        </p:spPr>
        <p:txBody>
          <a:bodyPr rtlCol="0" anchor="ctr"/>
          <a:lstStyle/>
          <a:p>
            <a:pPr algn="ctr"/>
          </a:p>
        </p:txBody>
      </p:sp>
      <p:sp>
        <p:nvSpPr>
          <p:cNvPr id="28" name="TextBox 27"/>
          <p:cNvSpPr txBox="1"/>
          <p:nvPr/>
        </p:nvSpPr>
        <p:spPr>
          <a:xfrm>
            <a:off x="5688000" y="5079600"/>
            <a:ext cx="5605200" cy="522000"/>
          </a:xfrm>
          <a:prstGeom prst="rect">
            <a:avLst/>
          </a:prstGeom>
          <a:noFill/>
          <a:effectLst/>
        </p:spPr>
        <p:txBody>
          <a:bodyPr wrap="square" lIns="0" rIns="0" tIns="0" bIns="0">
            <a:spAutoFit/>
          </a:bodyPr>
          <a:lstStyle/>
          <a:p>
            <a:pPr>
              <a:lnSpc>
                <a:spcPct val="115000"/>
              </a:lnSpc>
            </a:pPr>
            <a:r>
              <a:rPr sz="1080" b="1">
                <a:solidFill>
                  <a:srgbClr val="1E3A8A"/>
                </a:solidFill>
                <a:latin typeface="Segoe UI"/>
                <a:ea typeface="Microsoft YaHei"/>
              </a:rPr>
              <a:t>3. 边际削减规律验证  </a:t>
            </a:r>
            <a:r>
              <a:rPr sz="950">
                <a:solidFill>
                  <a:srgbClr val="334155"/>
                </a:solidFill>
                <a:latin typeface="Segoe UI"/>
                <a:ea typeface="Microsoft YaHei"/>
              </a:rPr>
              <a:t>式 (400) 证明规模翻倍的方差下降率为 1/[2(1+m/m_×)]。越过平衡点后改善速率断崖式放缓，仿真与解析解 100% 吻合。</a:t>
            </a:r>
          </a:p>
        </p:txBody>
      </p:sp>
      <p:sp>
        <p:nvSpPr>
          <p:cNvPr id="29" name="Rounded Rectangle 28"/>
          <p:cNvSpPr/>
          <p:nvPr/>
        </p:nvSpPr>
        <p:spPr>
          <a:xfrm>
            <a:off x="5544000" y="5778000"/>
            <a:ext cx="5893200" cy="486000"/>
          </a:xfrm>
          <a:prstGeom prst="roundRect">
            <a:avLst>
              <a:gd name="adj" fmla="val 2000"/>
            </a:avLst>
          </a:prstGeom>
          <a:solidFill>
            <a:srgbClr val="EFF6FF"/>
          </a:solidFill>
          <a:ln w="9525">
            <a:solidFill>
              <a:srgbClr val="BFDBFE"/>
            </a:solidFill>
          </a:ln>
          <a:effectLst/>
        </p:spPr>
        <p:txBody>
          <a:bodyPr rtlCol="0" anchor="ctr"/>
          <a:lstStyle/>
          <a:p>
            <a:pPr algn="ctr"/>
          </a:p>
        </p:txBody>
      </p:sp>
      <p:sp>
        <p:nvSpPr>
          <p:cNvPr id="30" name="TextBox 29"/>
          <p:cNvSpPr txBox="1"/>
          <p:nvPr/>
        </p:nvSpPr>
        <p:spPr>
          <a:xfrm>
            <a:off x="5688000" y="5850000"/>
            <a:ext cx="5605200" cy="342000"/>
          </a:xfrm>
          <a:prstGeom prst="rect">
            <a:avLst/>
          </a:prstGeom>
          <a:noFill/>
          <a:effectLst/>
        </p:spPr>
        <p:txBody>
          <a:bodyPr wrap="square" lIns="0" rIns="0" tIns="0" bIns="0">
            <a:spAutoFit/>
          </a:bodyPr>
          <a:lstStyle/>
          <a:p>
            <a:pPr>
              <a:lnSpc>
                <a:spcPct val="115000"/>
              </a:lnSpc>
            </a:pPr>
            <a:r>
              <a:rPr sz="1080" b="1">
                <a:solidFill>
                  <a:srgbClr val="1E3A8A"/>
                </a:solidFill>
                <a:latin typeface="Segoe UI"/>
                <a:ea typeface="Microsoft YaHei"/>
              </a:rPr>
              <a:t>【哨点设计定量判据】</a:t>
            </a:r>
          </a:p>
          <a:p>
            <a:pPr>
              <a:lnSpc>
                <a:spcPct val="118000"/>
              </a:lnSpc>
              <a:spcBef>
                <a:spcPts val="300"/>
              </a:spcBef>
            </a:pPr>
            <a:r>
              <a:rPr sz="950">
                <a:solidFill>
                  <a:srgbClr val="334155"/>
                </a:solidFill>
                <a:latin typeface="Segoe UI"/>
                <a:ea typeface="Microsoft YaHei"/>
              </a:rPr>
              <a:t>公卫哨点配置应以满足病原体的 m_80% 为规模上限；超出该规模的预算应转向缩短时滞与多模型集成。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251999"/>
            <a:ext cx="7920000" cy="198000"/>
          </a:xfrm>
          <a:prstGeom prst="rect">
            <a:avLst/>
          </a:prstGeom>
          <a:noFill/>
          <a:effectLst/>
        </p:spPr>
        <p:txBody>
          <a:bodyPr wrap="square" lIns="0" rIns="0" tIns="0" bIns="0">
            <a:spAutoFit/>
          </a:bodyPr>
          <a:lstStyle/>
          <a:p>
            <a:pPr>
              <a:lnSpc>
                <a:spcPct val="115000"/>
              </a:lnSpc>
            </a:pPr>
            <a:r>
              <a:rPr sz="1050" b="1">
                <a:solidFill>
                  <a:srgbClr val="2563EB"/>
                </a:solidFill>
                <a:latin typeface="Segoe UI"/>
                <a:ea typeface="Microsoft YaHei"/>
              </a:rPr>
              <a:t>06 / 经验实证：全美流感住院大数据计量检验  •  EMPIRICAL FALSIFICATION &amp; NHSN DATA</a:t>
            </a:r>
          </a:p>
        </p:txBody>
      </p:sp>
      <p:sp>
        <p:nvSpPr>
          <p:cNvPr id="3" name="TextBox 2"/>
          <p:cNvSpPr txBox="1"/>
          <p:nvPr/>
        </p:nvSpPr>
        <p:spPr>
          <a:xfrm>
            <a:off x="9720000" y="251999"/>
            <a:ext cx="1933200" cy="198000"/>
          </a:xfrm>
          <a:prstGeom prst="rect">
            <a:avLst/>
          </a:prstGeom>
          <a:noFill/>
          <a:effectLst/>
        </p:spPr>
        <p:txBody>
          <a:bodyPr wrap="square" lIns="0" rIns="0" tIns="0" bIns="0">
            <a:spAutoFit/>
          </a:bodyPr>
          <a:lstStyle/>
          <a:p>
            <a:pPr algn="r">
              <a:lnSpc>
                <a:spcPct val="115000"/>
              </a:lnSpc>
            </a:pPr>
            <a:r>
              <a:rPr sz="1100" b="1">
                <a:solidFill>
                  <a:srgbClr val="64748B"/>
                </a:solidFill>
                <a:latin typeface="Segoe UI"/>
                <a:ea typeface="Microsoft YaHei"/>
              </a:rPr>
              <a:t>08 / 11</a:t>
            </a:r>
          </a:p>
        </p:txBody>
      </p:sp>
      <p:sp>
        <p:nvSpPr>
          <p:cNvPr id="4" name="TextBox 3"/>
          <p:cNvSpPr txBox="1"/>
          <p:nvPr/>
        </p:nvSpPr>
        <p:spPr>
          <a:xfrm>
            <a:off x="540000" y="468000"/>
            <a:ext cx="11113200" cy="342000"/>
          </a:xfrm>
          <a:prstGeom prst="rect">
            <a:avLst/>
          </a:prstGeom>
          <a:noFill/>
          <a:effectLst/>
        </p:spPr>
        <p:txBody>
          <a:bodyPr wrap="square" lIns="0" rIns="0" tIns="0" bIns="0">
            <a:spAutoFit/>
          </a:bodyPr>
          <a:lstStyle/>
          <a:p>
            <a:pPr>
              <a:lnSpc>
                <a:spcPct val="115000"/>
              </a:lnSpc>
            </a:pPr>
            <a:r>
              <a:rPr sz="2100" b="1">
                <a:solidFill>
                  <a:srgbClr val="0F172A"/>
                </a:solidFill>
                <a:latin typeface="Segoe UI"/>
                <a:ea typeface="Microsoft YaHei"/>
              </a:rPr>
              <a:t>全美流感住院实证：理论仿射假说的检验与反转辨析</a:t>
            </a:r>
          </a:p>
        </p:txBody>
      </p:sp>
      <p:sp>
        <p:nvSpPr>
          <p:cNvPr id="5" name="Rectangle 4"/>
          <p:cNvSpPr/>
          <p:nvPr/>
        </p:nvSpPr>
        <p:spPr>
          <a:xfrm>
            <a:off x="540000" y="846000"/>
            <a:ext cx="11113200" cy="12700"/>
          </a:xfrm>
          <a:prstGeom prst="rect">
            <a:avLst/>
          </a:prstGeom>
          <a:solidFill>
            <a:srgbClr val="E2E8F0"/>
          </a:solidFill>
          <a:ln>
            <a:noFill/>
          </a:ln>
          <a:effectLst/>
        </p:spPr>
        <p:txBody>
          <a:bodyPr rtlCol="0" anchor="ctr"/>
          <a:lstStyle/>
          <a:p>
            <a:pPr algn="ctr"/>
          </a:p>
        </p:txBody>
      </p:sp>
      <p:sp>
        <p:nvSpPr>
          <p:cNvPr id="6" name="Rounded Rectangle 5"/>
          <p:cNvSpPr/>
          <p:nvPr/>
        </p:nvSpPr>
        <p:spPr>
          <a:xfrm>
            <a:off x="540000" y="954000"/>
            <a:ext cx="46080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7" name="TextBox 6"/>
          <p:cNvSpPr txBox="1"/>
          <p:nvPr/>
        </p:nvSpPr>
        <p:spPr>
          <a:xfrm>
            <a:off x="756000" y="1116000"/>
            <a:ext cx="4176000" cy="198000"/>
          </a:xfrm>
          <a:prstGeom prst="rect">
            <a:avLst/>
          </a:prstGeom>
          <a:noFill/>
          <a:effectLst/>
        </p:spPr>
        <p:txBody>
          <a:bodyPr wrap="none">
            <a:spAutoFit/>
          </a:bodyPr>
          <a:lstStyle/>
          <a:p>
            <a:r>
              <a:rPr sz="1350" b="1">
                <a:solidFill>
                  <a:srgbClr val="1E3A8A"/>
                </a:solidFill>
                <a:latin typeface="Segoe UI"/>
                <a:ea typeface="Microsoft YaHei"/>
              </a:rPr>
              <a:t>NHSN 流感住院实证检验与计量模型</a:t>
            </a:r>
          </a:p>
        </p:txBody>
      </p:sp>
      <p:sp>
        <p:nvSpPr>
          <p:cNvPr id="8" name="TextBox 7"/>
          <p:cNvSpPr txBox="1"/>
          <p:nvPr/>
        </p:nvSpPr>
        <p:spPr>
          <a:xfrm>
            <a:off x="756000" y="1367999"/>
            <a:ext cx="4176000" cy="162000"/>
          </a:xfrm>
          <a:prstGeom prst="rect">
            <a:avLst/>
          </a:prstGeom>
          <a:noFill/>
          <a:effectLst/>
        </p:spPr>
        <p:txBody>
          <a:bodyPr wrap="none">
            <a:spAutoFit/>
          </a:bodyPr>
          <a:lstStyle/>
          <a:p>
            <a:r>
              <a:rPr sz="1100" b="1">
                <a:solidFill>
                  <a:srgbClr val="1E293B"/>
                </a:solidFill>
                <a:latin typeface="Segoe UI"/>
                <a:ea typeface="Microsoft YaHei"/>
              </a:rPr>
              <a:t>• 数据筛选漏斗与 FGLS 可行广义最小二乘模型：</a:t>
            </a:r>
          </a:p>
        </p:txBody>
      </p:sp>
      <p:sp>
        <p:nvSpPr>
          <p:cNvPr id="9" name="Rounded Rectangle 8"/>
          <p:cNvSpPr/>
          <p:nvPr/>
        </p:nvSpPr>
        <p:spPr>
          <a:xfrm>
            <a:off x="756000" y="1548000"/>
            <a:ext cx="4176000" cy="378000"/>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0" name="Picture 9" descr="image.png"/>
          <p:cNvPicPr>
            <a:picLocks noChangeAspect="1"/>
          </p:cNvPicPr>
          <p:nvPr/>
        </p:nvPicPr>
        <p:blipFill>
          <a:blip r:embed="rId5"/>
          <a:stretch>
            <a:fillRect/>
          </a:stretch>
        </p:blipFill>
        <p:spPr>
          <a:xfrm>
            <a:off x="2031794" y="1591200"/>
            <a:ext cx="1624410" cy="291600"/>
          </a:xfrm>
          <a:prstGeom prst="rect">
            <a:avLst/>
          </a:prstGeom>
          <a:effectLst/>
        </p:spPr>
      </p:pic>
      <p:sp>
        <p:nvSpPr>
          <p:cNvPr id="11" name="TextBox 10"/>
          <p:cNvSpPr txBox="1"/>
          <p:nvPr/>
        </p:nvSpPr>
        <p:spPr>
          <a:xfrm>
            <a:off x="756000" y="1961999"/>
            <a:ext cx="4176000" cy="162000"/>
          </a:xfrm>
          <a:prstGeom prst="rect">
            <a:avLst/>
          </a:prstGeom>
          <a:noFill/>
          <a:effectLst/>
        </p:spPr>
        <p:txBody>
          <a:bodyPr wrap="none">
            <a:spAutoFit/>
          </a:bodyPr>
          <a:lstStyle/>
          <a:p>
            <a:r>
              <a:rPr sz="1100" b="1">
                <a:solidFill>
                  <a:srgbClr val="1E293B"/>
                </a:solidFill>
                <a:latin typeface="Segoe UI"/>
                <a:ea typeface="Microsoft YaHei"/>
              </a:rPr>
              <a:t>• 流行初期核心估计结果（N = 1,267，1500 次 Bootstrap）：</a:t>
            </a:r>
          </a:p>
        </p:txBody>
      </p:sp>
      <p:sp>
        <p:nvSpPr>
          <p:cNvPr id="12" name="Rounded Rectangle 11"/>
          <p:cNvSpPr/>
          <p:nvPr/>
        </p:nvSpPr>
        <p:spPr>
          <a:xfrm>
            <a:off x="756000" y="2160000"/>
            <a:ext cx="4176000" cy="413999"/>
          </a:xfrm>
          <a:prstGeom prst="roundRect">
            <a:avLst>
              <a:gd name="adj" fmla="val 2000"/>
            </a:avLst>
          </a:prstGeom>
          <a:solidFill>
            <a:srgbClr val="FFFFFF"/>
          </a:solidFill>
          <a:ln w="9525">
            <a:solidFill>
              <a:srgbClr val="E2E8F0"/>
            </a:solidFill>
          </a:ln>
          <a:effectLst/>
        </p:spPr>
        <p:txBody>
          <a:bodyPr rtlCol="0" anchor="ctr"/>
          <a:lstStyle/>
          <a:p>
            <a:pPr algn="ctr"/>
          </a:p>
        </p:txBody>
      </p:sp>
      <p:pic>
        <p:nvPicPr>
          <p:cNvPr id="13" name="Picture 12" descr="image.png"/>
          <p:cNvPicPr>
            <a:picLocks noChangeAspect="1"/>
          </p:cNvPicPr>
          <p:nvPr/>
        </p:nvPicPr>
        <p:blipFill>
          <a:blip r:embed="rId6"/>
          <a:stretch>
            <a:fillRect/>
          </a:stretch>
        </p:blipFill>
        <p:spPr>
          <a:xfrm>
            <a:off x="1370662" y="2203200"/>
            <a:ext cx="2946675" cy="327599"/>
          </a:xfrm>
          <a:prstGeom prst="rect">
            <a:avLst/>
          </a:prstGeom>
          <a:effectLst/>
        </p:spPr>
      </p:pic>
      <p:sp>
        <p:nvSpPr>
          <p:cNvPr id="14" name="Rounded Rectangle 13"/>
          <p:cNvSpPr/>
          <p:nvPr/>
        </p:nvSpPr>
        <p:spPr>
          <a:xfrm>
            <a:off x="756000" y="2646000"/>
            <a:ext cx="4176000" cy="3600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5" name="TextBox 14"/>
          <p:cNvSpPr txBox="1"/>
          <p:nvPr/>
        </p:nvSpPr>
        <p:spPr>
          <a:xfrm>
            <a:off x="864000" y="2718000"/>
            <a:ext cx="3960000" cy="3456000"/>
          </a:xfrm>
          <a:prstGeom prst="rect">
            <a:avLst/>
          </a:prstGeom>
          <a:noFill/>
          <a:effectLst/>
        </p:spPr>
        <p:txBody>
          <a:bodyPr wrap="square">
            <a:spAutoFit/>
          </a:bodyPr>
          <a:lstStyle/>
          <a:p>
            <a:pPr>
              <a:lnSpc>
                <a:spcPct val="115000"/>
              </a:lnSpc>
            </a:pPr>
            <a:r>
              <a:rPr sz="1120" b="1">
                <a:solidFill>
                  <a:srgbClr val="1E3A8A"/>
                </a:solidFill>
                <a:latin typeface="Segoe UI"/>
                <a:ea typeface="Microsoft YaHei"/>
              </a:rPr>
              <a:t>实证核心发现与样本筛选闭环：</a:t>
            </a:r>
          </a:p>
          <a:p>
            <a:pPr>
              <a:lnSpc>
                <a:spcPct val="118000"/>
              </a:lnSpc>
              <a:spcBef>
                <a:spcPts val="400"/>
              </a:spcBef>
            </a:pPr>
            <a:r>
              <a:rPr sz="1000" b="1">
                <a:solidFill>
                  <a:srgbClr val="1E293B"/>
                </a:solidFill>
                <a:latin typeface="Segoe UI"/>
                <a:ea typeface="Microsoft YaHei"/>
              </a:rPr>
              <a:t>• 样本量 N 统计定义与闭环：
</a:t>
            </a:r>
            <a:r>
              <a:rPr sz="950">
                <a:solidFill>
                  <a:srgbClr val="334155"/>
                </a:solidFill>
                <a:latin typeface="Segoe UI"/>
                <a:ea typeface="Microsoft YaHei"/>
              </a:rPr>
              <a:t>  观测单位为‘州—周’。16,218 条原始记录按 D_t ≥ 5 滤除静默周得到 10,303 个活跃观测。三阶段样本 6,009 + 420 + 3,874 = 10,303 算术严密闭环，无覆盖率选择偏误！</a:t>
            </a:r>
          </a:p>
          <a:p>
            <a:pPr>
              <a:lnSpc>
                <a:spcPct val="118000"/>
              </a:lnSpc>
              <a:spcBef>
                <a:spcPts val="400"/>
              </a:spcBef>
            </a:pPr>
            <a:r>
              <a:rPr sz="1000" b="1">
                <a:solidFill>
                  <a:srgbClr val="1E293B"/>
                </a:solidFill>
                <a:latin typeface="Segoe UI"/>
                <a:ea typeface="Microsoft YaHei"/>
              </a:rPr>
              <a:t>• 规模斜率极显著为正：
</a:t>
            </a:r>
            <a:r>
              <a:rPr sz="950">
                <a:solidFill>
                  <a:srgbClr val="334155"/>
                </a:solidFill>
                <a:latin typeface="Segoe UI"/>
                <a:ea typeface="Microsoft YaHei"/>
              </a:rPr>
              <a:t>  b̂ = 2.2434，州聚类 95% CI [1.50, 3.02]，1500 次重抽无一次小于零（p &lt; 10^-4），强力证实 1/D_t 衰减形态，拐点 m_× ≈ 22.6 例/周。</a:t>
            </a:r>
          </a:p>
          <a:p>
            <a:pPr>
              <a:lnSpc>
                <a:spcPct val="118000"/>
              </a:lnSpc>
              <a:spcBef>
                <a:spcPts val="400"/>
              </a:spcBef>
            </a:pPr>
            <a:r>
              <a:rPr sz="1000" b="1">
                <a:solidFill>
                  <a:srgbClr val="1E293B"/>
                </a:solidFill>
                <a:latin typeface="Segoe UI"/>
                <a:ea typeface="Microsoft YaHei"/>
              </a:rPr>
              <a:t>• 达峰期 88.9% 震撼反转：
</a:t>
            </a:r>
            <a:r>
              <a:rPr sz="950">
                <a:solidFill>
                  <a:srgbClr val="334155"/>
                </a:solidFill>
                <a:latin typeface="Segoe UI"/>
                <a:ea typeface="Microsoft YaHei"/>
              </a:rPr>
              <a:t>  看似恒定的 0.3 误差中，整整 88.9% 来源于疫情转折导致的常数基准漂移！扣除偏差后纯条件方差下规模项仍显著为正（b = 7.93），推翻‘达峰期样本量失效’误读！</a:t>
            </a:r>
          </a:p>
          <a:p>
            <a:pPr>
              <a:lnSpc>
                <a:spcPct val="118000"/>
              </a:lnSpc>
              <a:spcBef>
                <a:spcPts val="400"/>
              </a:spcBef>
            </a:pPr>
            <a:r>
              <a:rPr sz="1000" b="1">
                <a:solidFill>
                  <a:srgbClr val="1E293B"/>
                </a:solidFill>
                <a:latin typeface="Segoe UI"/>
                <a:ea typeface="Microsoft YaHei"/>
              </a:rPr>
              <a:t>• 制度冲击与空间汇聚：
</a:t>
            </a:r>
            <a:r>
              <a:rPr sz="950">
                <a:solidFill>
                  <a:srgbClr val="334155"/>
                </a:solidFill>
                <a:latin typeface="Segoe UI"/>
                <a:ea typeface="Microsoft YaHei"/>
              </a:rPr>
              <a:t>  自愿填报期覆盖率骤降（54.6%）诱发尾部方差扩张 192%；全国 51 辖区加总后方差降至 0.0348，验证弱相关空间汇聚收益。</a:t>
            </a:r>
          </a:p>
        </p:txBody>
      </p:sp>
      <p:sp>
        <p:nvSpPr>
          <p:cNvPr id="16" name="Rounded Rectangle 15"/>
          <p:cNvSpPr/>
          <p:nvPr/>
        </p:nvSpPr>
        <p:spPr>
          <a:xfrm>
            <a:off x="5328000" y="954000"/>
            <a:ext cx="63252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17" name="Rounded Rectangle 16"/>
          <p:cNvSpPr/>
          <p:nvPr/>
        </p:nvSpPr>
        <p:spPr>
          <a:xfrm>
            <a:off x="5518800" y="1116000"/>
            <a:ext cx="5940000" cy="2988000"/>
          </a:xfrm>
          <a:prstGeom prst="roundRect">
            <a:avLst>
              <a:gd name="adj" fmla="val 2000"/>
            </a:avLst>
          </a:prstGeom>
          <a:solidFill>
            <a:srgbClr val="FFFFFF"/>
          </a:solidFill>
          <a:ln w="12700">
            <a:solidFill>
              <a:srgbClr val="E2E8F0"/>
            </a:solidFill>
          </a:ln>
          <a:effectLst/>
        </p:spPr>
        <p:txBody>
          <a:bodyPr rtlCol="0" anchor="ctr"/>
          <a:lstStyle/>
          <a:p>
            <a:pPr algn="ctr"/>
          </a:p>
        </p:txBody>
      </p:sp>
      <p:pic>
        <p:nvPicPr>
          <p:cNvPr id="18" name="Picture 17" descr="image.png"/>
          <p:cNvPicPr>
            <a:picLocks noChangeAspect="1"/>
          </p:cNvPicPr>
          <p:nvPr/>
        </p:nvPicPr>
        <p:blipFill>
          <a:blip r:embed="rId4"/>
          <a:stretch>
            <a:fillRect/>
          </a:stretch>
        </p:blipFill>
        <p:spPr>
          <a:xfrm>
            <a:off x="6518246" y="1170000"/>
            <a:ext cx="3941106" cy="2880000"/>
          </a:xfrm>
          <a:prstGeom prst="rect">
            <a:avLst/>
          </a:prstGeom>
          <a:effectLst/>
        </p:spPr>
      </p:pic>
      <p:sp>
        <p:nvSpPr>
          <p:cNvPr id="19" name="TextBox 18"/>
          <p:cNvSpPr txBox="1"/>
          <p:nvPr/>
        </p:nvSpPr>
        <p:spPr>
          <a:xfrm>
            <a:off x="5544000" y="4158000"/>
            <a:ext cx="5893200" cy="162000"/>
          </a:xfrm>
          <a:prstGeom prst="rect">
            <a:avLst/>
          </a:prstGeom>
          <a:noFill/>
          <a:effectLst/>
        </p:spPr>
        <p:txBody>
          <a:bodyPr wrap="none">
            <a:spAutoFit/>
          </a:bodyPr>
          <a:lstStyle/>
          <a:p>
            <a:r>
              <a:rPr sz="1120" b="1">
                <a:solidFill>
                  <a:srgbClr val="1E3A8A"/>
                </a:solidFill>
                <a:latin typeface="Segoe UI"/>
                <a:ea typeface="Microsoft YaHei"/>
              </a:rPr>
              <a:t>图 4：全美流感住院实证拟合、分箱分布与机制分解</a:t>
            </a:r>
          </a:p>
        </p:txBody>
      </p:sp>
      <p:sp>
        <p:nvSpPr>
          <p:cNvPr id="20" name="Rounded Rectangle 19"/>
          <p:cNvSpPr/>
          <p:nvPr/>
        </p:nvSpPr>
        <p:spPr>
          <a:xfrm>
            <a:off x="5544000" y="4374000"/>
            <a:ext cx="5893200" cy="1872000"/>
          </a:xfrm>
          <a:prstGeom prst="roundRect">
            <a:avLst>
              <a:gd name="adj" fmla="val 2000"/>
            </a:avLst>
          </a:prstGeom>
          <a:solidFill>
            <a:srgbClr val="EFF6FF"/>
          </a:solidFill>
          <a:ln w="9525">
            <a:solidFill>
              <a:srgbClr val="BFDBFE"/>
            </a:solidFill>
          </a:ln>
          <a:effectLst/>
        </p:spPr>
        <p:txBody>
          <a:bodyPr rtlCol="0" anchor="ctr"/>
          <a:lstStyle/>
          <a:p>
            <a:pPr algn="ctr"/>
          </a:p>
        </p:txBody>
      </p:sp>
      <p:sp>
        <p:nvSpPr>
          <p:cNvPr id="21" name="TextBox 20"/>
          <p:cNvSpPr txBox="1"/>
          <p:nvPr/>
        </p:nvSpPr>
        <p:spPr>
          <a:xfrm>
            <a:off x="5688000" y="4446000"/>
            <a:ext cx="5605200" cy="1728000"/>
          </a:xfrm>
          <a:prstGeom prst="rect">
            <a:avLst/>
          </a:prstGeom>
          <a:noFill/>
          <a:effectLst/>
        </p:spPr>
        <p:txBody>
          <a:bodyPr wrap="square" lIns="0" rIns="0" tIns="0" bIns="0">
            <a:spAutoFit/>
          </a:bodyPr>
          <a:lstStyle/>
          <a:p>
            <a:pPr>
              <a:lnSpc>
                <a:spcPct val="115000"/>
              </a:lnSpc>
            </a:pPr>
            <a:r>
              <a:rPr sz="1080" b="1">
                <a:solidFill>
                  <a:srgbClr val="1E3A8A"/>
                </a:solidFill>
                <a:latin typeface="Segoe UI"/>
                <a:ea typeface="Microsoft YaHei"/>
              </a:rPr>
              <a:t>【实证检验总结与大论文论证闭环】</a:t>
            </a:r>
          </a:p>
          <a:p>
            <a:pPr>
              <a:lnSpc>
                <a:spcPct val="118000"/>
              </a:lnSpc>
              <a:spcBef>
                <a:spcPts val="300"/>
              </a:spcBef>
            </a:pPr>
            <a:r>
              <a:rPr sz="950">
                <a:solidFill>
                  <a:srgbClr val="334155"/>
                </a:solidFill>
                <a:latin typeface="Segoe UI"/>
                <a:ea typeface="Microsoft YaHei"/>
              </a:rPr>
              <a:t>实证完全支持理论预测形态：(a) FGLS 仿射线与分箱均值紧密契合；(b) 离散度 var/mean^2 从 5.32 降至 0.99；(c) 达峰期 88.9% 误差由基准漂移解释，控制后规模项仍显著为正；(d) 政策冲击与全国汇总（RelMSE=0.0348）验证了空间汇聚对偶收益。全套实证经受住事前信息集与 213 项一致性回归检验。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251999"/>
            <a:ext cx="7920000" cy="198000"/>
          </a:xfrm>
          <a:prstGeom prst="rect">
            <a:avLst/>
          </a:prstGeom>
          <a:noFill/>
          <a:effectLst/>
        </p:spPr>
        <p:txBody>
          <a:bodyPr wrap="square" lIns="0" rIns="0" tIns="0" bIns="0">
            <a:spAutoFit/>
          </a:bodyPr>
          <a:lstStyle/>
          <a:p>
            <a:pPr>
              <a:lnSpc>
                <a:spcPct val="115000"/>
              </a:lnSpc>
            </a:pPr>
            <a:r>
              <a:rPr sz="1050" b="1">
                <a:solidFill>
                  <a:srgbClr val="2563EB"/>
                </a:solidFill>
                <a:latin typeface="Segoe UI"/>
                <a:ea typeface="Microsoft YaHei"/>
              </a:rPr>
              <a:t>07 / 外部扩展：跨预测模型与跨病种外部验证  •  EXTERNAL VALIDITY &amp; GENERALIZABILITY</a:t>
            </a:r>
          </a:p>
        </p:txBody>
      </p:sp>
      <p:sp>
        <p:nvSpPr>
          <p:cNvPr id="3" name="TextBox 2"/>
          <p:cNvSpPr txBox="1"/>
          <p:nvPr/>
        </p:nvSpPr>
        <p:spPr>
          <a:xfrm>
            <a:off x="9720000" y="251999"/>
            <a:ext cx="1933200" cy="198000"/>
          </a:xfrm>
          <a:prstGeom prst="rect">
            <a:avLst/>
          </a:prstGeom>
          <a:noFill/>
          <a:effectLst/>
        </p:spPr>
        <p:txBody>
          <a:bodyPr wrap="square" lIns="0" rIns="0" tIns="0" bIns="0">
            <a:spAutoFit/>
          </a:bodyPr>
          <a:lstStyle/>
          <a:p>
            <a:pPr algn="r">
              <a:lnSpc>
                <a:spcPct val="115000"/>
              </a:lnSpc>
            </a:pPr>
            <a:r>
              <a:rPr sz="1100" b="1">
                <a:solidFill>
                  <a:srgbClr val="64748B"/>
                </a:solidFill>
                <a:latin typeface="Segoe UI"/>
                <a:ea typeface="Microsoft YaHei"/>
              </a:rPr>
              <a:t>09 / 11</a:t>
            </a:r>
          </a:p>
        </p:txBody>
      </p:sp>
      <p:sp>
        <p:nvSpPr>
          <p:cNvPr id="4" name="TextBox 3"/>
          <p:cNvSpPr txBox="1"/>
          <p:nvPr/>
        </p:nvSpPr>
        <p:spPr>
          <a:xfrm>
            <a:off x="540000" y="468000"/>
            <a:ext cx="11113200" cy="342000"/>
          </a:xfrm>
          <a:prstGeom prst="rect">
            <a:avLst/>
          </a:prstGeom>
          <a:noFill/>
          <a:effectLst/>
        </p:spPr>
        <p:txBody>
          <a:bodyPr wrap="square" lIns="0" rIns="0" tIns="0" bIns="0">
            <a:spAutoFit/>
          </a:bodyPr>
          <a:lstStyle/>
          <a:p>
            <a:pPr>
              <a:lnSpc>
                <a:spcPct val="115000"/>
              </a:lnSpc>
            </a:pPr>
            <a:r>
              <a:rPr sz="2100" b="1">
                <a:solidFill>
                  <a:srgbClr val="0F172A"/>
                </a:solidFill>
                <a:latin typeface="Segoe UI"/>
                <a:ea typeface="Microsoft YaHei"/>
              </a:rPr>
              <a:t>跨模型与跨病种扩展：从 CDC FluSight 到欧洲 COVID-19</a:t>
            </a:r>
          </a:p>
        </p:txBody>
      </p:sp>
      <p:sp>
        <p:nvSpPr>
          <p:cNvPr id="5" name="Rectangle 4"/>
          <p:cNvSpPr/>
          <p:nvPr/>
        </p:nvSpPr>
        <p:spPr>
          <a:xfrm>
            <a:off x="540000" y="846000"/>
            <a:ext cx="11113200" cy="12700"/>
          </a:xfrm>
          <a:prstGeom prst="rect">
            <a:avLst/>
          </a:prstGeom>
          <a:solidFill>
            <a:srgbClr val="E2E8F0"/>
          </a:solidFill>
          <a:ln>
            <a:noFill/>
          </a:ln>
          <a:effectLst/>
        </p:spPr>
        <p:txBody>
          <a:bodyPr rtlCol="0" anchor="ctr"/>
          <a:lstStyle/>
          <a:p>
            <a:pPr algn="ctr"/>
          </a:p>
        </p:txBody>
      </p:sp>
      <p:sp>
        <p:nvSpPr>
          <p:cNvPr id="6" name="Rounded Rectangle 5"/>
          <p:cNvSpPr/>
          <p:nvPr/>
        </p:nvSpPr>
        <p:spPr>
          <a:xfrm>
            <a:off x="540000" y="954000"/>
            <a:ext cx="54648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7" name="TextBox 6"/>
          <p:cNvSpPr txBox="1"/>
          <p:nvPr/>
        </p:nvSpPr>
        <p:spPr>
          <a:xfrm>
            <a:off x="756000" y="1116000"/>
            <a:ext cx="5032800" cy="198000"/>
          </a:xfrm>
          <a:prstGeom prst="rect">
            <a:avLst/>
          </a:prstGeom>
          <a:noFill/>
          <a:effectLst/>
        </p:spPr>
        <p:txBody>
          <a:bodyPr wrap="none">
            <a:spAutoFit/>
          </a:bodyPr>
          <a:lstStyle/>
          <a:p>
            <a:r>
              <a:rPr sz="1350" b="1">
                <a:solidFill>
                  <a:srgbClr val="1E3A8A"/>
                </a:solidFill>
                <a:latin typeface="Segoe UI"/>
                <a:ea typeface="Microsoft YaHei"/>
              </a:rPr>
              <a:t>FluSight CDC 官方前瞻集成预测验证 (N = 1,177)</a:t>
            </a:r>
          </a:p>
        </p:txBody>
      </p:sp>
      <p:sp>
        <p:nvSpPr>
          <p:cNvPr id="8" name="TextBox 7"/>
          <p:cNvSpPr txBox="1"/>
          <p:nvPr/>
        </p:nvSpPr>
        <p:spPr>
          <a:xfrm>
            <a:off x="756000" y="1332000"/>
            <a:ext cx="5032800" cy="162000"/>
          </a:xfrm>
          <a:prstGeom prst="rect">
            <a:avLst/>
          </a:prstGeom>
          <a:noFill/>
          <a:effectLst/>
        </p:spPr>
        <p:txBody>
          <a:bodyPr wrap="none">
            <a:spAutoFit/>
          </a:bodyPr>
          <a:lstStyle/>
          <a:p>
            <a:r>
              <a:rPr sz="1000" b="1">
                <a:solidFill>
                  <a:srgbClr val="64748B"/>
                </a:solidFill>
                <a:latin typeface="Segoe UI"/>
                <a:ea typeface="Microsoft YaHei"/>
              </a:rPr>
              <a:t>官方前瞻多模型集成预测 • 真实外推视角</a:t>
            </a:r>
          </a:p>
        </p:txBody>
      </p:sp>
      <p:sp>
        <p:nvSpPr>
          <p:cNvPr id="9" name="Rounded Rectangle 8"/>
          <p:cNvSpPr/>
          <p:nvPr/>
        </p:nvSpPr>
        <p:spPr>
          <a:xfrm>
            <a:off x="756000" y="1548000"/>
            <a:ext cx="5032800" cy="2286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0" name="TextBox 9"/>
          <p:cNvSpPr txBox="1"/>
          <p:nvPr/>
        </p:nvSpPr>
        <p:spPr>
          <a:xfrm>
            <a:off x="864000" y="1602000"/>
            <a:ext cx="4816800" cy="2178000"/>
          </a:xfrm>
          <a:prstGeom prst="rect">
            <a:avLst/>
          </a:prstGeom>
          <a:noFill/>
          <a:effectLst/>
        </p:spPr>
        <p:txBody>
          <a:bodyPr wrap="square">
            <a:spAutoFit/>
          </a:bodyPr>
          <a:lstStyle/>
          <a:p>
            <a:pPr>
              <a:lnSpc>
                <a:spcPct val="115000"/>
              </a:lnSpc>
            </a:pPr>
            <a:r>
              <a:rPr sz="1000" b="1">
                <a:solidFill>
                  <a:srgbClr val="1E293B"/>
                </a:solidFill>
                <a:latin typeface="Segoe UI"/>
                <a:ea typeface="Microsoft YaHei"/>
              </a:rPr>
              <a:t>• 纯事前预测筛选：
</a:t>
            </a:r>
            <a:r>
              <a:rPr sz="940">
                <a:solidFill>
                  <a:srgbClr val="334155"/>
                </a:solidFill>
                <a:latin typeface="Segoe UI"/>
                <a:ea typeface="Microsoft YaHei"/>
              </a:rPr>
              <a:t>  按预测值 c_pred ≥ 5 进行纯事前样本筛选（50 州 + DC），样本量 N = 1,177。</a:t>
            </a:r>
          </a:p>
          <a:p>
            <a:pPr>
              <a:lnSpc>
                <a:spcPct val="115000"/>
              </a:lnSpc>
              <a:spcBef>
                <a:spcPts val="300"/>
              </a:spcBef>
            </a:pPr>
            <a:r>
              <a:rPr sz="1000" b="1">
                <a:solidFill>
                  <a:srgbClr val="1E293B"/>
                </a:solidFill>
                <a:latin typeface="Segoe UI"/>
                <a:ea typeface="Microsoft YaHei"/>
              </a:rPr>
              <a:t>• 规模反比项高度显著：
</a:t>
            </a:r>
            <a:r>
              <a:rPr sz="940">
                <a:solidFill>
                  <a:srgbClr val="334155"/>
                </a:solidFill>
                <a:latin typeface="Segoe UI"/>
                <a:ea typeface="Microsoft YaHei"/>
              </a:rPr>
              <a:t>  b̂ = 7.8045，州聚类 95% CI [5.36, 10.53]，确认实际预测中仍存在规模收益。</a:t>
            </a:r>
          </a:p>
          <a:p>
            <a:pPr>
              <a:lnSpc>
                <a:spcPct val="115000"/>
              </a:lnSpc>
              <a:spcBef>
                <a:spcPts val="300"/>
              </a:spcBef>
            </a:pPr>
            <a:r>
              <a:rPr sz="1000" b="1">
                <a:solidFill>
                  <a:srgbClr val="1E293B"/>
                </a:solidFill>
                <a:latin typeface="Segoe UI"/>
                <a:ea typeface="Microsoft YaHei"/>
              </a:rPr>
              <a:t>• 经验平衡点特征：
</a:t>
            </a:r>
            <a:r>
              <a:rPr sz="940">
                <a:solidFill>
                  <a:srgbClr val="334155"/>
                </a:solidFill>
                <a:latin typeface="Segoe UI"/>
                <a:ea typeface="Microsoft YaHei"/>
              </a:rPr>
              <a:t>  经验拐点 m_× ≈ 60.3 例/周（CI [34.5, 95.9]），与单基准相比右移，反映多模型集成吸收了部分方差。</a:t>
            </a:r>
          </a:p>
          <a:p>
            <a:pPr>
              <a:lnSpc>
                <a:spcPct val="115000"/>
              </a:lnSpc>
              <a:spcBef>
                <a:spcPts val="300"/>
              </a:spcBef>
            </a:pPr>
            <a:r>
              <a:rPr sz="1000" b="1">
                <a:solidFill>
                  <a:srgbClr val="1E293B"/>
                </a:solidFill>
                <a:latin typeface="Segoe UI"/>
                <a:ea typeface="Microsoft YaHei"/>
              </a:rPr>
              <a:t>• 达峰偏差剧烈消除：
</a:t>
            </a:r>
            <a:r>
              <a:rPr sz="940">
                <a:solidFill>
                  <a:srgbClr val="334155"/>
                </a:solidFill>
                <a:latin typeface="Segoe UI"/>
                <a:ea typeface="Microsoft YaHei"/>
              </a:rPr>
              <a:t>  达峰期偏差占比从静态基准的 88.9% 骤降至集成的 15.5%！直接证明多模型集成有效校准了系统均值漂移，为‘达峰期如何提质’提供了铁证！</a:t>
            </a:r>
          </a:p>
        </p:txBody>
      </p:sp>
      <p:sp>
        <p:nvSpPr>
          <p:cNvPr id="11" name="Rounded Rectangle 10"/>
          <p:cNvSpPr/>
          <p:nvPr/>
        </p:nvSpPr>
        <p:spPr>
          <a:xfrm>
            <a:off x="756000" y="3905999"/>
            <a:ext cx="5032800" cy="2322000"/>
          </a:xfrm>
          <a:prstGeom prst="roundRect">
            <a:avLst>
              <a:gd name="adj" fmla="val 2000"/>
            </a:avLst>
          </a:prstGeom>
          <a:solidFill>
            <a:srgbClr val="EFF6FF"/>
          </a:solidFill>
          <a:ln w="9525">
            <a:solidFill>
              <a:srgbClr val="BFDBFE"/>
            </a:solidFill>
          </a:ln>
          <a:effectLst/>
        </p:spPr>
        <p:txBody>
          <a:bodyPr rtlCol="0" anchor="ctr"/>
          <a:lstStyle/>
          <a:p>
            <a:pPr algn="ctr"/>
          </a:p>
        </p:txBody>
      </p:sp>
      <p:sp>
        <p:nvSpPr>
          <p:cNvPr id="12" name="TextBox 11"/>
          <p:cNvSpPr txBox="1"/>
          <p:nvPr/>
        </p:nvSpPr>
        <p:spPr>
          <a:xfrm>
            <a:off x="900000" y="3977999"/>
            <a:ext cx="4744800" cy="2178000"/>
          </a:xfrm>
          <a:prstGeom prst="rect">
            <a:avLst/>
          </a:prstGeom>
          <a:noFill/>
          <a:effectLst/>
        </p:spPr>
        <p:txBody>
          <a:bodyPr wrap="square" lIns="0" rIns="0" tIns="0" bIns="0">
            <a:spAutoFit/>
          </a:bodyPr>
          <a:lstStyle/>
          <a:p>
            <a:pPr>
              <a:lnSpc>
                <a:spcPct val="115000"/>
              </a:lnSpc>
            </a:pPr>
            <a:r>
              <a:rPr sz="1080" b="1">
                <a:solidFill>
                  <a:srgbClr val="1E3A8A"/>
                </a:solidFill>
                <a:latin typeface="Segoe UI"/>
                <a:ea typeface="Microsoft YaHei"/>
              </a:rPr>
              <a:t>【FluSight 验证对大论文的理论启示】</a:t>
            </a:r>
          </a:p>
          <a:p>
            <a:pPr>
              <a:lnSpc>
                <a:spcPct val="118000"/>
              </a:lnSpc>
              <a:spcBef>
                <a:spcPts val="300"/>
              </a:spcBef>
            </a:pPr>
            <a:r>
              <a:rPr sz="950">
                <a:solidFill>
                  <a:srgbClr val="334155"/>
                </a:solidFill>
                <a:latin typeface="Segoe UI"/>
                <a:ea typeface="Microsoft YaHei"/>
              </a:rPr>
              <a:t>FluSight 证明：在真实多模型集成下，规模相关项仍显著为正，且达峰期均值偏差被大幅压制。这从实证上完整支持了大论文的核心建议——跨过特征规模平衡点 m_× 后，监测体系应果断由‘扩充病例数量’转向‘多模型自适应集成与环境协变量矫正’。</a:t>
            </a:r>
          </a:p>
        </p:txBody>
      </p:sp>
      <p:sp>
        <p:nvSpPr>
          <p:cNvPr id="13" name="Rounded Rectangle 12"/>
          <p:cNvSpPr/>
          <p:nvPr/>
        </p:nvSpPr>
        <p:spPr>
          <a:xfrm>
            <a:off x="6184800" y="954000"/>
            <a:ext cx="54648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14" name="TextBox 13"/>
          <p:cNvSpPr txBox="1"/>
          <p:nvPr/>
        </p:nvSpPr>
        <p:spPr>
          <a:xfrm>
            <a:off x="6400800" y="1116000"/>
            <a:ext cx="5032800" cy="198000"/>
          </a:xfrm>
          <a:prstGeom prst="rect">
            <a:avLst/>
          </a:prstGeom>
          <a:noFill/>
          <a:effectLst/>
        </p:spPr>
        <p:txBody>
          <a:bodyPr wrap="none">
            <a:spAutoFit/>
          </a:bodyPr>
          <a:lstStyle/>
          <a:p>
            <a:r>
              <a:rPr sz="1350" b="1">
                <a:solidFill>
                  <a:srgbClr val="1E3A8A"/>
                </a:solidFill>
                <a:latin typeface="Segoe UI"/>
                <a:ea typeface="Microsoft YaHei"/>
              </a:rPr>
              <a:t>欧洲 11 国 COVID-19 早期传播跨病种扩展 (N = 404)</a:t>
            </a:r>
          </a:p>
        </p:txBody>
      </p:sp>
      <p:sp>
        <p:nvSpPr>
          <p:cNvPr id="15" name="TextBox 14"/>
          <p:cNvSpPr txBox="1"/>
          <p:nvPr/>
        </p:nvSpPr>
        <p:spPr>
          <a:xfrm>
            <a:off x="6400800" y="1332000"/>
            <a:ext cx="5032800" cy="162000"/>
          </a:xfrm>
          <a:prstGeom prst="rect">
            <a:avLst/>
          </a:prstGeom>
          <a:noFill/>
          <a:effectLst/>
        </p:spPr>
        <p:txBody>
          <a:bodyPr wrap="none">
            <a:spAutoFit/>
          </a:bodyPr>
          <a:lstStyle/>
          <a:p>
            <a:r>
              <a:rPr sz="1000">
                <a:solidFill>
                  <a:srgbClr val="64748B"/>
                </a:solidFill>
                <a:latin typeface="Segoe UI"/>
                <a:ea typeface="Microsoft YaHei"/>
              </a:rPr>
              <a:t>跨国别跨病种泛化性 • 日度高频监测</a:t>
            </a:r>
          </a:p>
        </p:txBody>
      </p:sp>
      <p:sp>
        <p:nvSpPr>
          <p:cNvPr id="16" name="Rounded Rectangle 15"/>
          <p:cNvSpPr/>
          <p:nvPr/>
        </p:nvSpPr>
        <p:spPr>
          <a:xfrm>
            <a:off x="6400800" y="1548000"/>
            <a:ext cx="5032800" cy="2286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7" name="TextBox 16"/>
          <p:cNvSpPr txBox="1"/>
          <p:nvPr/>
        </p:nvSpPr>
        <p:spPr>
          <a:xfrm>
            <a:off x="6508800" y="1602000"/>
            <a:ext cx="4816800" cy="2178000"/>
          </a:xfrm>
          <a:prstGeom prst="rect">
            <a:avLst/>
          </a:prstGeom>
          <a:noFill/>
          <a:effectLst/>
        </p:spPr>
        <p:txBody>
          <a:bodyPr wrap="square">
            <a:spAutoFit/>
          </a:bodyPr>
          <a:lstStyle/>
          <a:p>
            <a:pPr>
              <a:lnSpc>
                <a:spcPct val="115000"/>
              </a:lnSpc>
            </a:pPr>
            <a:r>
              <a:rPr sz="1000" b="1">
                <a:solidFill>
                  <a:srgbClr val="1E293B"/>
                </a:solidFill>
                <a:latin typeface="Segoe UI"/>
                <a:ea typeface="Microsoft YaHei"/>
              </a:rPr>
              <a:t>• 纯事前有效增长样本：
</a:t>
            </a:r>
            <a:r>
              <a:rPr sz="940">
                <a:solidFill>
                  <a:srgbClr val="334155"/>
                </a:solidFill>
                <a:latin typeface="Segoe UI"/>
                <a:ea typeface="Microsoft YaHei"/>
              </a:rPr>
              <a:t>  基于历史规模 D_t ≥ 5 与 g &gt; 0 纯事前筛选，得到欧洲 11 国共 404 个国家—日观测样本。</a:t>
            </a:r>
          </a:p>
          <a:p>
            <a:pPr>
              <a:lnSpc>
                <a:spcPct val="115000"/>
              </a:lnSpc>
              <a:spcBef>
                <a:spcPts val="300"/>
              </a:spcBef>
            </a:pPr>
            <a:r>
              <a:rPr sz="1000" b="1">
                <a:solidFill>
                  <a:srgbClr val="1E293B"/>
                </a:solidFill>
                <a:latin typeface="Segoe UI"/>
                <a:ea typeface="Microsoft YaHei"/>
              </a:rPr>
              <a:t>• 跨病种规模项坚挺为正：
</a:t>
            </a:r>
            <a:r>
              <a:rPr sz="940">
                <a:solidFill>
                  <a:srgbClr val="334155"/>
                </a:solidFill>
                <a:latin typeface="Segoe UI"/>
                <a:ea typeface="Microsoft YaHei"/>
              </a:rPr>
              <a:t>  b̂ = 33.92，国家聚类 95% CI [14.60, 74.99]，证实了 1/D 衰减规律跨呼吸道病种的普适性。</a:t>
            </a:r>
          </a:p>
          <a:p>
            <a:pPr>
              <a:lnSpc>
                <a:spcPct val="115000"/>
              </a:lnSpc>
              <a:spcBef>
                <a:spcPts val="300"/>
              </a:spcBef>
            </a:pPr>
            <a:r>
              <a:rPr sz="1000" b="1">
                <a:solidFill>
                  <a:srgbClr val="1E293B"/>
                </a:solidFill>
                <a:latin typeface="Segoe UI"/>
                <a:ea typeface="Microsoft YaHei"/>
              </a:rPr>
              <a:t>• 日度尺度平衡点动态性：
</a:t>
            </a:r>
            <a:r>
              <a:rPr sz="940">
                <a:solidFill>
                  <a:srgbClr val="334155"/>
                </a:solidFill>
                <a:latin typeface="Segoe UI"/>
                <a:ea typeface="Microsoft YaHei"/>
              </a:rPr>
              <a:t>  日度尺度经验平衡点为 m_× ≈ 124.7 例/天（截尾与增长期口径分别为 67.7 与 88.1 例/天）。</a:t>
            </a:r>
          </a:p>
          <a:p>
            <a:pPr>
              <a:lnSpc>
                <a:spcPct val="115000"/>
              </a:lnSpc>
              <a:spcBef>
                <a:spcPts val="300"/>
              </a:spcBef>
            </a:pPr>
            <a:r>
              <a:rPr sz="1000" b="1">
                <a:solidFill>
                  <a:srgbClr val="1E293B"/>
                </a:solidFill>
                <a:latin typeface="Segoe UI"/>
                <a:ea typeface="Microsoft YaHei"/>
              </a:rPr>
              <a:t>• 尺度敏感性结论：
</a:t>
            </a:r>
            <a:r>
              <a:rPr sz="940">
                <a:solidFill>
                  <a:srgbClr val="334155"/>
                </a:solidFill>
                <a:latin typeface="Segoe UI"/>
                <a:ea typeface="Microsoft YaHei"/>
              </a:rPr>
              <a:t>  平衡点具体数值依赖于时间粒度（日度 vs 周度）与基本再生数 R0，证明 m_× 应作为量级参照而非固定物理常数。</a:t>
            </a:r>
          </a:p>
        </p:txBody>
      </p:sp>
      <p:sp>
        <p:nvSpPr>
          <p:cNvPr id="18" name="Rounded Rectangle 17"/>
          <p:cNvSpPr/>
          <p:nvPr/>
        </p:nvSpPr>
        <p:spPr>
          <a:xfrm>
            <a:off x="6400800" y="3905999"/>
            <a:ext cx="5032800" cy="2322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9" name="TextBox 18"/>
          <p:cNvSpPr txBox="1"/>
          <p:nvPr/>
        </p:nvSpPr>
        <p:spPr>
          <a:xfrm>
            <a:off x="6508800" y="3960000"/>
            <a:ext cx="4816800" cy="2214000"/>
          </a:xfrm>
          <a:prstGeom prst="rect">
            <a:avLst/>
          </a:prstGeom>
          <a:noFill/>
          <a:effectLst/>
        </p:spPr>
        <p:txBody>
          <a:bodyPr wrap="square">
            <a:spAutoFit/>
          </a:bodyPr>
          <a:lstStyle/>
          <a:p>
            <a:pPr>
              <a:lnSpc>
                <a:spcPct val="115000"/>
              </a:lnSpc>
            </a:pPr>
            <a:r>
              <a:rPr sz="1120" b="1">
                <a:solidFill>
                  <a:srgbClr val="1E3A8A"/>
                </a:solidFill>
                <a:latin typeface="Segoe UI"/>
                <a:ea typeface="Microsoft YaHei"/>
              </a:rPr>
              <a:t>大论文总结：公共卫生监测资源优化策略矩阵：</a:t>
            </a:r>
          </a:p>
          <a:p>
            <a:pPr>
              <a:lnSpc>
                <a:spcPct val="115000"/>
              </a:lnSpc>
              <a:spcBef>
                <a:spcPts val="300"/>
              </a:spcBef>
            </a:pPr>
            <a:r>
              <a:rPr sz="1000" b="1">
                <a:solidFill>
                  <a:srgbClr val="0F172A"/>
                </a:solidFill>
                <a:latin typeface="Segoe UI"/>
                <a:ea typeface="Microsoft YaHei"/>
              </a:rPr>
              <a:t>流行初期 / 低发期 (m &lt; m_×) ——「全力扩量」：
</a:t>
            </a:r>
            <a:r>
              <a:rPr sz="940">
                <a:solidFill>
                  <a:srgbClr val="334155"/>
                </a:solidFill>
                <a:latin typeface="Segoe UI"/>
                <a:ea typeface="Microsoft YaHei"/>
              </a:rPr>
              <a:t>  微观抽样与超传播噪声主导总方差。集中预算扩充哨点网络、提高覆盖率与报告率，迅速压低抽样离散方差。</a:t>
            </a:r>
          </a:p>
          <a:p>
            <a:pPr>
              <a:lnSpc>
                <a:spcPct val="115000"/>
              </a:lnSpc>
              <a:spcBef>
                <a:spcPts val="300"/>
              </a:spcBef>
            </a:pPr>
            <a:r>
              <a:rPr sz="1000" b="1">
                <a:solidFill>
                  <a:srgbClr val="0F172A"/>
                </a:solidFill>
                <a:latin typeface="Segoe UI"/>
                <a:ea typeface="Microsoft YaHei"/>
              </a:rPr>
              <a:t>流行达峰 / 高发期 (m &gt; m_×) ——「战略提质」：
</a:t>
            </a:r>
            <a:r>
              <a:rPr sz="940">
                <a:solidFill>
                  <a:srgbClr val="334155"/>
                </a:solidFill>
                <a:latin typeface="Segoe UI"/>
                <a:ea typeface="Microsoft YaHei"/>
              </a:rPr>
              <a:t>  跨过内生平衡点后，总误差进入不可约环境噪声与模型失配主导平台期。单纯增报病例边际收益锐减，果断转向控制协变量与集成预测。</a:t>
            </a:r>
          </a:p>
          <a:p>
            <a:pPr>
              <a:lnSpc>
                <a:spcPct val="115000"/>
              </a:lnSpc>
              <a:spcBef>
                <a:spcPts val="300"/>
              </a:spcBef>
            </a:pPr>
            <a:r>
              <a:rPr sz="1000" b="1">
                <a:solidFill>
                  <a:srgbClr val="0F172A"/>
                </a:solidFill>
                <a:latin typeface="Segoe UI"/>
                <a:ea typeface="Microsoft YaHei"/>
              </a:rPr>
              <a:t>爆发早期检测目标 ——「以 m_80% 为哨点基准」：
</a:t>
            </a:r>
            <a:r>
              <a:rPr sz="940">
                <a:solidFill>
                  <a:srgbClr val="334155"/>
                </a:solidFill>
                <a:latin typeface="Segoe UI"/>
                <a:ea typeface="Microsoft YaHei"/>
              </a:rPr>
              <a:t>  在进行爆发假设检验时，按目标病原体超离散度 k 精确测算 m_80%，避免盲目超额配置哨点导致资源闲置与低效。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0000" y="251999"/>
            <a:ext cx="7920000" cy="198000"/>
          </a:xfrm>
          <a:prstGeom prst="rect">
            <a:avLst/>
          </a:prstGeom>
          <a:noFill/>
          <a:effectLst/>
        </p:spPr>
        <p:txBody>
          <a:bodyPr wrap="square" lIns="0" rIns="0" tIns="0" bIns="0">
            <a:spAutoFit/>
          </a:bodyPr>
          <a:lstStyle/>
          <a:p>
            <a:pPr>
              <a:lnSpc>
                <a:spcPct val="115000"/>
              </a:lnSpc>
            </a:pPr>
            <a:r>
              <a:rPr sz="1050" b="1">
                <a:solidFill>
                  <a:srgbClr val="2563EB"/>
                </a:solidFill>
                <a:latin typeface="Segoe UI"/>
                <a:ea typeface="Microsoft YaHei"/>
              </a:rPr>
              <a:t>08 / 进度规划：中期研究成果总结与大论文推进  •  PROGRESS &amp; THESIS TIMELINE</a:t>
            </a:r>
          </a:p>
        </p:txBody>
      </p:sp>
      <p:sp>
        <p:nvSpPr>
          <p:cNvPr id="3" name="TextBox 2"/>
          <p:cNvSpPr txBox="1"/>
          <p:nvPr/>
        </p:nvSpPr>
        <p:spPr>
          <a:xfrm>
            <a:off x="9720000" y="251999"/>
            <a:ext cx="1933200" cy="198000"/>
          </a:xfrm>
          <a:prstGeom prst="rect">
            <a:avLst/>
          </a:prstGeom>
          <a:noFill/>
          <a:effectLst/>
        </p:spPr>
        <p:txBody>
          <a:bodyPr wrap="square" lIns="0" rIns="0" tIns="0" bIns="0">
            <a:spAutoFit/>
          </a:bodyPr>
          <a:lstStyle/>
          <a:p>
            <a:pPr algn="r">
              <a:lnSpc>
                <a:spcPct val="115000"/>
              </a:lnSpc>
            </a:pPr>
            <a:r>
              <a:rPr sz="1100" b="1">
                <a:solidFill>
                  <a:srgbClr val="64748B"/>
                </a:solidFill>
                <a:latin typeface="Segoe UI"/>
                <a:ea typeface="Microsoft YaHei"/>
              </a:rPr>
              <a:t>10 / 11</a:t>
            </a:r>
          </a:p>
        </p:txBody>
      </p:sp>
      <p:sp>
        <p:nvSpPr>
          <p:cNvPr id="4" name="TextBox 3"/>
          <p:cNvSpPr txBox="1"/>
          <p:nvPr/>
        </p:nvSpPr>
        <p:spPr>
          <a:xfrm>
            <a:off x="540000" y="468000"/>
            <a:ext cx="11113200" cy="342000"/>
          </a:xfrm>
          <a:prstGeom prst="rect">
            <a:avLst/>
          </a:prstGeom>
          <a:noFill/>
          <a:effectLst/>
        </p:spPr>
        <p:txBody>
          <a:bodyPr wrap="square" lIns="0" rIns="0" tIns="0" bIns="0">
            <a:spAutoFit/>
          </a:bodyPr>
          <a:lstStyle/>
          <a:p>
            <a:pPr>
              <a:lnSpc>
                <a:spcPct val="115000"/>
              </a:lnSpc>
            </a:pPr>
            <a:r>
              <a:rPr sz="2100" b="1">
                <a:solidFill>
                  <a:srgbClr val="0F172A"/>
                </a:solidFill>
                <a:latin typeface="Segoe UI"/>
                <a:ea typeface="Microsoft YaHei"/>
              </a:rPr>
              <a:t>阶段性成果盘点、大论文撰写推进与时间里程碑</a:t>
            </a:r>
          </a:p>
        </p:txBody>
      </p:sp>
      <p:sp>
        <p:nvSpPr>
          <p:cNvPr id="5" name="Rectangle 4"/>
          <p:cNvSpPr/>
          <p:nvPr/>
        </p:nvSpPr>
        <p:spPr>
          <a:xfrm>
            <a:off x="540000" y="846000"/>
            <a:ext cx="11113200" cy="12700"/>
          </a:xfrm>
          <a:prstGeom prst="rect">
            <a:avLst/>
          </a:prstGeom>
          <a:solidFill>
            <a:srgbClr val="E2E8F0"/>
          </a:solidFill>
          <a:ln>
            <a:noFill/>
          </a:ln>
          <a:effectLst/>
        </p:spPr>
        <p:txBody>
          <a:bodyPr rtlCol="0" anchor="ctr"/>
          <a:lstStyle/>
          <a:p>
            <a:pPr algn="ctr"/>
          </a:p>
        </p:txBody>
      </p:sp>
      <p:sp>
        <p:nvSpPr>
          <p:cNvPr id="6" name="Rounded Rectangle 5"/>
          <p:cNvSpPr/>
          <p:nvPr/>
        </p:nvSpPr>
        <p:spPr>
          <a:xfrm>
            <a:off x="540000" y="954000"/>
            <a:ext cx="54648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7" name="TextBox 6"/>
          <p:cNvSpPr txBox="1"/>
          <p:nvPr/>
        </p:nvSpPr>
        <p:spPr>
          <a:xfrm>
            <a:off x="756000" y="1116000"/>
            <a:ext cx="5032800" cy="216000"/>
          </a:xfrm>
          <a:prstGeom prst="rect">
            <a:avLst/>
          </a:prstGeom>
          <a:noFill/>
          <a:effectLst/>
        </p:spPr>
        <p:txBody>
          <a:bodyPr wrap="none">
            <a:spAutoFit/>
          </a:bodyPr>
          <a:lstStyle/>
          <a:p>
            <a:r>
              <a:rPr sz="1400" b="1">
                <a:solidFill>
                  <a:srgbClr val="1E3A8A"/>
                </a:solidFill>
                <a:latin typeface="Segoe UI"/>
                <a:ea typeface="Microsoft YaHei"/>
              </a:rPr>
              <a:t>阶段性成果盘点与核心工作储备</a:t>
            </a:r>
          </a:p>
        </p:txBody>
      </p:sp>
      <p:sp>
        <p:nvSpPr>
          <p:cNvPr id="8" name="Rounded Rectangle 7"/>
          <p:cNvSpPr/>
          <p:nvPr/>
        </p:nvSpPr>
        <p:spPr>
          <a:xfrm>
            <a:off x="720000" y="1404000"/>
            <a:ext cx="5104800" cy="827999"/>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9" name="TextBox 8"/>
          <p:cNvSpPr txBox="1"/>
          <p:nvPr/>
        </p:nvSpPr>
        <p:spPr>
          <a:xfrm>
            <a:off x="791999" y="1458000"/>
            <a:ext cx="4960801" cy="720000"/>
          </a:xfrm>
          <a:prstGeom prst="rect">
            <a:avLst/>
          </a:prstGeom>
          <a:noFill/>
          <a:effectLst/>
        </p:spPr>
        <p:txBody>
          <a:bodyPr wrap="square">
            <a:spAutoFit/>
          </a:bodyPr>
          <a:lstStyle/>
          <a:p>
            <a:r>
              <a:rPr sz="1150" b="1">
                <a:solidFill>
                  <a:srgbClr val="1E3A8A"/>
                </a:solidFill>
                <a:latin typeface="Segoe UI"/>
                <a:ea typeface="Microsoft YaHei"/>
              </a:rPr>
              <a:t>✓  数学理论与运筹闭环 (100%)</a:t>
            </a:r>
          </a:p>
          <a:p>
            <a:pPr>
              <a:lnSpc>
                <a:spcPct val="120000"/>
              </a:lnSpc>
              <a:spcBef>
                <a:spcPts val="300"/>
              </a:spcBef>
            </a:pPr>
            <a:r>
              <a:rPr sz="950">
                <a:solidFill>
                  <a:srgbClr val="334155"/>
                </a:solidFill>
                <a:latin typeface="Segoe UI"/>
                <a:ea typeface="Microsoft YaHei"/>
              </a:rPr>
              <a:t>已完成分支过程、双层抽样、渐近 CRLB、命题 1~6 及 Cochran 抽样对偶全套闭式解推导，数学证明无缺漏。</a:t>
            </a:r>
          </a:p>
        </p:txBody>
      </p:sp>
      <p:sp>
        <p:nvSpPr>
          <p:cNvPr id="10" name="Rounded Rectangle 9"/>
          <p:cNvSpPr/>
          <p:nvPr/>
        </p:nvSpPr>
        <p:spPr>
          <a:xfrm>
            <a:off x="720000" y="2286000"/>
            <a:ext cx="5104800" cy="827999"/>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1" name="TextBox 10"/>
          <p:cNvSpPr txBox="1"/>
          <p:nvPr/>
        </p:nvSpPr>
        <p:spPr>
          <a:xfrm>
            <a:off x="791999" y="2340000"/>
            <a:ext cx="4960801" cy="720000"/>
          </a:xfrm>
          <a:prstGeom prst="rect">
            <a:avLst/>
          </a:prstGeom>
          <a:noFill/>
          <a:effectLst/>
        </p:spPr>
        <p:txBody>
          <a:bodyPr wrap="square">
            <a:spAutoFit/>
          </a:bodyPr>
          <a:lstStyle/>
          <a:p>
            <a:r>
              <a:rPr sz="1150" b="1">
                <a:solidFill>
                  <a:srgbClr val="1E3A8A"/>
                </a:solidFill>
                <a:latin typeface="Segoe UI"/>
                <a:ea typeface="Microsoft YaHei"/>
              </a:rPr>
              <a:t>✓  随机仿真与验证套件 (100%)</a:t>
            </a:r>
          </a:p>
          <a:p>
            <a:pPr>
              <a:lnSpc>
                <a:spcPct val="120000"/>
              </a:lnSpc>
              <a:spcBef>
                <a:spcPts val="300"/>
              </a:spcBef>
            </a:pPr>
            <a:r>
              <a:rPr sz="950">
                <a:solidFill>
                  <a:srgbClr val="334155"/>
                </a:solidFill>
                <a:latin typeface="Segoe UI"/>
                <a:ea typeface="Microsoft YaHei"/>
              </a:rPr>
              <a:t>开发完整蒙特卡洛仿真框架，图 1~3 全部代码开源可复现，验证了解析解紧致性与双口径预测机制。</a:t>
            </a:r>
          </a:p>
        </p:txBody>
      </p:sp>
      <p:sp>
        <p:nvSpPr>
          <p:cNvPr id="12" name="Rounded Rectangle 11"/>
          <p:cNvSpPr/>
          <p:nvPr/>
        </p:nvSpPr>
        <p:spPr>
          <a:xfrm>
            <a:off x="720000" y="3168000"/>
            <a:ext cx="5104800" cy="827999"/>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3" name="TextBox 12"/>
          <p:cNvSpPr txBox="1"/>
          <p:nvPr/>
        </p:nvSpPr>
        <p:spPr>
          <a:xfrm>
            <a:off x="791999" y="3222000"/>
            <a:ext cx="4960801" cy="720000"/>
          </a:xfrm>
          <a:prstGeom prst="rect">
            <a:avLst/>
          </a:prstGeom>
          <a:noFill/>
          <a:effectLst/>
        </p:spPr>
        <p:txBody>
          <a:bodyPr wrap="square">
            <a:spAutoFit/>
          </a:bodyPr>
          <a:lstStyle/>
          <a:p>
            <a:r>
              <a:rPr sz="1150" b="1">
                <a:solidFill>
                  <a:srgbClr val="1E3A8A"/>
                </a:solidFill>
                <a:latin typeface="Segoe UI"/>
                <a:ea typeface="Microsoft YaHei"/>
              </a:rPr>
              <a:t>✓  真实世界三大实证数据库 (100%)</a:t>
            </a:r>
          </a:p>
          <a:p>
            <a:pPr>
              <a:lnSpc>
                <a:spcPct val="120000"/>
              </a:lnSpc>
              <a:spcBef>
                <a:spcPts val="300"/>
              </a:spcBef>
            </a:pPr>
            <a:r>
              <a:rPr sz="950">
                <a:solidFill>
                  <a:srgbClr val="334155"/>
                </a:solidFill>
                <a:latin typeface="Segoe UI"/>
                <a:ea typeface="Microsoft YaHei"/>
              </a:rPr>
              <a:t>完成全美 16,218 条流感住院、CDC FluSight 集成预测及欧洲 11 国 COVID-19 数据清洗与 213 项数字回归检验。</a:t>
            </a:r>
          </a:p>
        </p:txBody>
      </p:sp>
      <p:sp>
        <p:nvSpPr>
          <p:cNvPr id="14" name="Rounded Rectangle 13"/>
          <p:cNvSpPr/>
          <p:nvPr/>
        </p:nvSpPr>
        <p:spPr>
          <a:xfrm>
            <a:off x="720000" y="4050000"/>
            <a:ext cx="5104800" cy="827999"/>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15" name="TextBox 14"/>
          <p:cNvSpPr txBox="1"/>
          <p:nvPr/>
        </p:nvSpPr>
        <p:spPr>
          <a:xfrm>
            <a:off x="791999" y="4104000"/>
            <a:ext cx="4960801" cy="720000"/>
          </a:xfrm>
          <a:prstGeom prst="rect">
            <a:avLst/>
          </a:prstGeom>
          <a:noFill/>
          <a:effectLst/>
        </p:spPr>
        <p:txBody>
          <a:bodyPr wrap="square">
            <a:spAutoFit/>
          </a:bodyPr>
          <a:lstStyle/>
          <a:p>
            <a:r>
              <a:rPr sz="1150" b="1">
                <a:solidFill>
                  <a:srgbClr val="1E3A8A"/>
                </a:solidFill>
                <a:latin typeface="Segoe UI"/>
                <a:ea typeface="Microsoft YaHei"/>
              </a:rPr>
              <a:t>✓  小论文成果与学术认可 (100%)</a:t>
            </a:r>
          </a:p>
          <a:p>
            <a:pPr>
              <a:lnSpc>
                <a:spcPct val="120000"/>
              </a:lnSpc>
              <a:spcBef>
                <a:spcPts val="300"/>
              </a:spcBef>
            </a:pPr>
            <a:r>
              <a:rPr sz="950">
                <a:solidFill>
                  <a:srgbClr val="334155"/>
                </a:solidFill>
                <a:latin typeface="Segoe UI"/>
                <a:ea typeface="Microsoft YaHei"/>
              </a:rPr>
              <a:t>已形成 28 页高水平期刊定稿论文，通过多轮严苛学术评审打磨，获 8.9/10 高分评价，奠定大论文坚实核心。</a:t>
            </a:r>
          </a:p>
        </p:txBody>
      </p:sp>
      <p:sp>
        <p:nvSpPr>
          <p:cNvPr id="16" name="Rounded Rectangle 15"/>
          <p:cNvSpPr/>
          <p:nvPr/>
        </p:nvSpPr>
        <p:spPr>
          <a:xfrm>
            <a:off x="720000" y="5004000"/>
            <a:ext cx="5104800" cy="1242000"/>
          </a:xfrm>
          <a:prstGeom prst="roundRect">
            <a:avLst>
              <a:gd name="adj" fmla="val 2000"/>
            </a:avLst>
          </a:prstGeom>
          <a:solidFill>
            <a:srgbClr val="EFF6FF"/>
          </a:solidFill>
          <a:ln w="9525">
            <a:solidFill>
              <a:srgbClr val="BFDBFE"/>
            </a:solidFill>
          </a:ln>
          <a:effectLst/>
        </p:spPr>
        <p:txBody>
          <a:bodyPr rtlCol="0" anchor="ctr"/>
          <a:lstStyle/>
          <a:p>
            <a:pPr algn="ctr"/>
          </a:p>
        </p:txBody>
      </p:sp>
      <p:sp>
        <p:nvSpPr>
          <p:cNvPr id="17" name="TextBox 16"/>
          <p:cNvSpPr txBox="1"/>
          <p:nvPr/>
        </p:nvSpPr>
        <p:spPr>
          <a:xfrm>
            <a:off x="864000" y="5076000"/>
            <a:ext cx="4816800" cy="1098000"/>
          </a:xfrm>
          <a:prstGeom prst="rect">
            <a:avLst/>
          </a:prstGeom>
          <a:noFill/>
          <a:effectLst/>
        </p:spPr>
        <p:txBody>
          <a:bodyPr wrap="square" lIns="0" rIns="0" tIns="0" bIns="0">
            <a:spAutoFit/>
          </a:bodyPr>
          <a:lstStyle/>
          <a:p>
            <a:pPr>
              <a:lnSpc>
                <a:spcPct val="115000"/>
              </a:lnSpc>
            </a:pPr>
            <a:r>
              <a:rPr sz="1080" b="1">
                <a:solidFill>
                  <a:srgbClr val="1E3A8A"/>
                </a:solidFill>
                <a:latin typeface="Segoe UI"/>
                <a:ea typeface="Microsoft YaHei"/>
              </a:rPr>
              <a:t>【工作量总体自评】</a:t>
            </a:r>
          </a:p>
          <a:p>
            <a:pPr>
              <a:lnSpc>
                <a:spcPct val="118000"/>
              </a:lnSpc>
              <a:spcBef>
                <a:spcPts val="300"/>
              </a:spcBef>
            </a:pPr>
            <a:r>
              <a:rPr sz="950">
                <a:solidFill>
                  <a:srgbClr val="334155"/>
                </a:solidFill>
                <a:latin typeface="Segoe UI"/>
                <a:ea typeface="Microsoft YaHei"/>
              </a:rPr>
              <a:t>课题研究内容已全部完成并获得多场景严格验证，当前工作重心为按照硕士学位论文标准，系统扩充文献综述深度、补充理论推导中间过程与公卫资源优化量化细则，大论文撰写准备工作极其充分。</a:t>
            </a:r>
          </a:p>
        </p:txBody>
      </p:sp>
      <p:sp>
        <p:nvSpPr>
          <p:cNvPr id="18" name="Rounded Rectangle 17"/>
          <p:cNvSpPr/>
          <p:nvPr/>
        </p:nvSpPr>
        <p:spPr>
          <a:xfrm>
            <a:off x="6184800" y="954000"/>
            <a:ext cx="5464800" cy="5472000"/>
          </a:xfrm>
          <a:prstGeom prst="roundRect">
            <a:avLst>
              <a:gd name="adj" fmla="val 2000"/>
            </a:avLst>
          </a:prstGeom>
          <a:solidFill>
            <a:srgbClr val="F8FAFC"/>
          </a:solidFill>
          <a:ln w="12700">
            <a:solidFill>
              <a:srgbClr val="E2E8F0"/>
            </a:solidFill>
          </a:ln>
          <a:effectLst/>
        </p:spPr>
        <p:txBody>
          <a:bodyPr rtlCol="0" anchor="ctr"/>
          <a:lstStyle/>
          <a:p>
            <a:pPr algn="ctr"/>
          </a:p>
        </p:txBody>
      </p:sp>
      <p:sp>
        <p:nvSpPr>
          <p:cNvPr id="19" name="TextBox 18"/>
          <p:cNvSpPr txBox="1"/>
          <p:nvPr/>
        </p:nvSpPr>
        <p:spPr>
          <a:xfrm>
            <a:off x="6400800" y="1116000"/>
            <a:ext cx="5032800" cy="216000"/>
          </a:xfrm>
          <a:prstGeom prst="rect">
            <a:avLst/>
          </a:prstGeom>
          <a:noFill/>
          <a:effectLst/>
        </p:spPr>
        <p:txBody>
          <a:bodyPr wrap="none">
            <a:spAutoFit/>
          </a:bodyPr>
          <a:lstStyle/>
          <a:p>
            <a:r>
              <a:rPr sz="1400" b="1">
                <a:solidFill>
                  <a:srgbClr val="1E3A8A"/>
                </a:solidFill>
                <a:latin typeface="Segoe UI"/>
                <a:ea typeface="Microsoft YaHei"/>
              </a:rPr>
              <a:t>80 页大论文扩充撰写规划与毕业时间表</a:t>
            </a:r>
          </a:p>
        </p:txBody>
      </p:sp>
      <p:sp>
        <p:nvSpPr>
          <p:cNvPr id="20" name="Rounded Rectangle 19"/>
          <p:cNvSpPr/>
          <p:nvPr/>
        </p:nvSpPr>
        <p:spPr>
          <a:xfrm>
            <a:off x="6364800" y="1404000"/>
            <a:ext cx="5104800" cy="864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21" name="TextBox 20"/>
          <p:cNvSpPr txBox="1"/>
          <p:nvPr/>
        </p:nvSpPr>
        <p:spPr>
          <a:xfrm>
            <a:off x="6436799" y="1458000"/>
            <a:ext cx="4960801" cy="756000"/>
          </a:xfrm>
          <a:prstGeom prst="rect">
            <a:avLst/>
          </a:prstGeom>
          <a:noFill/>
          <a:effectLst/>
        </p:spPr>
        <p:txBody>
          <a:bodyPr wrap="square">
            <a:spAutoFit/>
          </a:bodyPr>
          <a:lstStyle/>
          <a:p>
            <a:r>
              <a:rPr sz="1150" b="1">
                <a:solidFill>
                  <a:srgbClr val="1E293B"/>
                </a:solidFill>
                <a:latin typeface="Segoe UI"/>
                <a:ea typeface="Microsoft YaHei"/>
              </a:rPr>
              <a:t>★  第一章 绪论全面扩写 (12~14 页)</a:t>
            </a:r>
          </a:p>
          <a:p>
            <a:pPr>
              <a:lnSpc>
                <a:spcPct val="120000"/>
              </a:lnSpc>
              <a:spcBef>
                <a:spcPts val="300"/>
              </a:spcBef>
            </a:pPr>
            <a:r>
              <a:rPr sz="950">
                <a:solidFill>
                  <a:srgbClr val="334155"/>
                </a:solidFill>
                <a:latin typeface="Segoe UI"/>
                <a:ea typeface="Microsoft YaHei"/>
              </a:rPr>
              <a:t>梳理从 Kermack–McKendrick 到 EpiEstim 与 Parag 的百年再生数估计演进史，建立完整的既有模型对比矩阵。</a:t>
            </a:r>
          </a:p>
        </p:txBody>
      </p:sp>
      <p:sp>
        <p:nvSpPr>
          <p:cNvPr id="22" name="Rounded Rectangle 21"/>
          <p:cNvSpPr/>
          <p:nvPr/>
        </p:nvSpPr>
        <p:spPr>
          <a:xfrm>
            <a:off x="6364800" y="2321999"/>
            <a:ext cx="5104800" cy="864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23" name="TextBox 22"/>
          <p:cNvSpPr txBox="1"/>
          <p:nvPr/>
        </p:nvSpPr>
        <p:spPr>
          <a:xfrm>
            <a:off x="6436799" y="2375999"/>
            <a:ext cx="4960801" cy="756000"/>
          </a:xfrm>
          <a:prstGeom prst="rect">
            <a:avLst/>
          </a:prstGeom>
          <a:noFill/>
          <a:effectLst/>
        </p:spPr>
        <p:txBody>
          <a:bodyPr wrap="square">
            <a:spAutoFit/>
          </a:bodyPr>
          <a:lstStyle/>
          <a:p>
            <a:r>
              <a:rPr sz="1150" b="1">
                <a:solidFill>
                  <a:srgbClr val="1E293B"/>
                </a:solidFill>
                <a:latin typeface="Segoe UI"/>
                <a:ea typeface="Microsoft YaHei"/>
              </a:rPr>
              <a:t>★  第二、三章 数学推导教科书化 (30 页)</a:t>
            </a:r>
          </a:p>
          <a:p>
            <a:pPr>
              <a:lnSpc>
                <a:spcPct val="120000"/>
              </a:lnSpc>
              <a:spcBef>
                <a:spcPts val="300"/>
              </a:spcBef>
            </a:pPr>
            <a:r>
              <a:rPr sz="950">
                <a:solidFill>
                  <a:srgbClr val="334155"/>
                </a:solidFill>
                <a:latin typeface="Segoe UI"/>
                <a:ea typeface="Microsoft YaHei"/>
              </a:rPr>
              <a:t>全面展开 Gamma 换元积分、PGF 复合、得分求导、错位相减级数求和与 Cochran 对偶证明，达到教材级可读性。</a:t>
            </a:r>
          </a:p>
        </p:txBody>
      </p:sp>
      <p:sp>
        <p:nvSpPr>
          <p:cNvPr id="24" name="Rounded Rectangle 23"/>
          <p:cNvSpPr/>
          <p:nvPr/>
        </p:nvSpPr>
        <p:spPr>
          <a:xfrm>
            <a:off x="6364800" y="3239998"/>
            <a:ext cx="5104800" cy="864000"/>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25" name="TextBox 24"/>
          <p:cNvSpPr txBox="1"/>
          <p:nvPr/>
        </p:nvSpPr>
        <p:spPr>
          <a:xfrm>
            <a:off x="6436799" y="3293998"/>
            <a:ext cx="4960801" cy="756000"/>
          </a:xfrm>
          <a:prstGeom prst="rect">
            <a:avLst/>
          </a:prstGeom>
          <a:noFill/>
          <a:effectLst/>
        </p:spPr>
        <p:txBody>
          <a:bodyPr wrap="square">
            <a:spAutoFit/>
          </a:bodyPr>
          <a:lstStyle/>
          <a:p>
            <a:r>
              <a:rPr sz="1150" b="1">
                <a:solidFill>
                  <a:srgbClr val="1E293B"/>
                </a:solidFill>
                <a:latin typeface="Segoe UI"/>
                <a:ea typeface="Microsoft YaHei"/>
              </a:rPr>
              <a:t>★  第五、七章 空间政策与建议深化 (22 页)</a:t>
            </a:r>
          </a:p>
          <a:p>
            <a:pPr>
              <a:lnSpc>
                <a:spcPct val="120000"/>
              </a:lnSpc>
              <a:spcBef>
                <a:spcPts val="300"/>
              </a:spcBef>
            </a:pPr>
            <a:r>
              <a:rPr sz="950">
                <a:solidFill>
                  <a:srgbClr val="334155"/>
                </a:solidFill>
                <a:latin typeface="Segoe UI"/>
                <a:ea typeface="Microsoft YaHei"/>
              </a:rPr>
              <a:t>补充 50 州流感时空热力图、制度切换微观机制分析，并设计针对 CDC 的两阶段分步监测资源配置落地手册。</a:t>
            </a:r>
          </a:p>
        </p:txBody>
      </p:sp>
      <p:sp>
        <p:nvSpPr>
          <p:cNvPr id="26" name="Rounded Rectangle 25"/>
          <p:cNvSpPr/>
          <p:nvPr/>
        </p:nvSpPr>
        <p:spPr>
          <a:xfrm>
            <a:off x="6364800" y="4230000"/>
            <a:ext cx="5104800" cy="2015999"/>
          </a:xfrm>
          <a:prstGeom prst="roundRect">
            <a:avLst>
              <a:gd name="adj" fmla="val 2000"/>
            </a:avLst>
          </a:prstGeom>
          <a:solidFill>
            <a:srgbClr val="FFFFFF"/>
          </a:solidFill>
          <a:ln w="12700">
            <a:solidFill>
              <a:srgbClr val="E2E8F0"/>
            </a:solidFill>
          </a:ln>
          <a:effectLst/>
        </p:spPr>
        <p:txBody>
          <a:bodyPr rtlCol="0" anchor="ctr"/>
          <a:lstStyle/>
          <a:p>
            <a:pPr algn="ctr"/>
          </a:p>
        </p:txBody>
      </p:sp>
      <p:sp>
        <p:nvSpPr>
          <p:cNvPr id="27" name="TextBox 26"/>
          <p:cNvSpPr txBox="1"/>
          <p:nvPr/>
        </p:nvSpPr>
        <p:spPr>
          <a:xfrm>
            <a:off x="6472800" y="4302000"/>
            <a:ext cx="4888800" cy="1872000"/>
          </a:xfrm>
          <a:prstGeom prst="rect">
            <a:avLst/>
          </a:prstGeom>
          <a:noFill/>
          <a:effectLst/>
        </p:spPr>
        <p:txBody>
          <a:bodyPr wrap="square">
            <a:spAutoFit/>
          </a:bodyPr>
          <a:lstStyle/>
          <a:p>
            <a:pPr>
              <a:lnSpc>
                <a:spcPct val="115000"/>
              </a:lnSpc>
            </a:pPr>
            <a:r>
              <a:rPr sz="1200" b="1">
                <a:solidFill>
                  <a:srgbClr val="1E3A8A"/>
                </a:solidFill>
                <a:latin typeface="Segoe UI"/>
                <a:ea typeface="Microsoft YaHei"/>
              </a:rPr>
              <a:t>后续研究与毕业时间节点里程碑：</a:t>
            </a:r>
          </a:p>
          <a:p>
            <a:pPr>
              <a:lnSpc>
                <a:spcPct val="115000"/>
              </a:lnSpc>
              <a:spcBef>
                <a:spcPts val="300"/>
              </a:spcBef>
            </a:pPr>
            <a:r>
              <a:rPr sz="1000" b="1">
                <a:solidFill>
                  <a:srgbClr val="1E293B"/>
                </a:solidFill>
                <a:latin typeface="Segoe UI"/>
                <a:ea typeface="Microsoft YaHei"/>
              </a:rPr>
              <a:t>• 2026 年 10 月：</a:t>
            </a:r>
            <a:r>
              <a:rPr sz="950">
                <a:solidFill>
                  <a:srgbClr val="334155"/>
                </a:solidFill>
                <a:latin typeface="Segoe UI"/>
                <a:ea typeface="Microsoft YaHei"/>
              </a:rPr>
              <a:t>通过硕士学位论文中期考核答辩，听取专家修改意见；</a:t>
            </a:r>
          </a:p>
          <a:p>
            <a:pPr>
              <a:lnSpc>
                <a:spcPct val="115000"/>
              </a:lnSpc>
              <a:spcBef>
                <a:spcPts val="300"/>
              </a:spcBef>
            </a:pPr>
            <a:r>
              <a:rPr sz="1000" b="1">
                <a:solidFill>
                  <a:srgbClr val="1E293B"/>
                </a:solidFill>
                <a:latin typeface="Segoe UI"/>
                <a:ea typeface="Microsoft YaHei"/>
              </a:rPr>
              <a:t>• 2026 年 11 月：</a:t>
            </a:r>
            <a:r>
              <a:rPr sz="950">
                <a:solidFill>
                  <a:srgbClr val="334155"/>
                </a:solidFill>
                <a:latin typeface="Segoe UI"/>
                <a:ea typeface="Microsoft YaHei"/>
              </a:rPr>
              <a:t>完成大论文初稿全部七章撰写（80~85 页），提交导师审阅；</a:t>
            </a:r>
          </a:p>
          <a:p>
            <a:pPr>
              <a:lnSpc>
                <a:spcPct val="115000"/>
              </a:lnSpc>
              <a:spcBef>
                <a:spcPts val="300"/>
              </a:spcBef>
            </a:pPr>
            <a:r>
              <a:rPr sz="1000" b="1">
                <a:solidFill>
                  <a:srgbClr val="1E293B"/>
                </a:solidFill>
                <a:latin typeface="Segoe UI"/>
                <a:ea typeface="Microsoft YaHei"/>
              </a:rPr>
              <a:t>• 2026 年 12 月：</a:t>
            </a:r>
            <a:r>
              <a:rPr sz="950">
                <a:solidFill>
                  <a:srgbClr val="334155"/>
                </a:solidFill>
                <a:latin typeface="Segoe UI"/>
                <a:ea typeface="Microsoft YaHei"/>
              </a:rPr>
              <a:t>完成初稿修订并进行查重预检，参加硕士学位论文预答辩；</a:t>
            </a:r>
          </a:p>
          <a:p>
            <a:pPr>
              <a:lnSpc>
                <a:spcPct val="115000"/>
              </a:lnSpc>
              <a:spcBef>
                <a:spcPts val="300"/>
              </a:spcBef>
            </a:pPr>
            <a:r>
              <a:rPr sz="1000" b="1">
                <a:solidFill>
                  <a:srgbClr val="1E293B"/>
                </a:solidFill>
                <a:latin typeface="Segoe UI"/>
                <a:ea typeface="Microsoft YaHei"/>
              </a:rPr>
              <a:t>• 2027 年 01~03 月：</a:t>
            </a:r>
            <a:r>
              <a:rPr sz="950">
                <a:solidFill>
                  <a:srgbClr val="334155"/>
                </a:solidFill>
                <a:latin typeface="Segoe UI"/>
                <a:ea typeface="Microsoft YaHei"/>
              </a:rPr>
              <a:t>论文送审盲审评阅，根据评审专家意见完成最终定稿；</a:t>
            </a:r>
          </a:p>
          <a:p>
            <a:pPr>
              <a:lnSpc>
                <a:spcPct val="115000"/>
              </a:lnSpc>
              <a:spcBef>
                <a:spcPts val="300"/>
              </a:spcBef>
            </a:pPr>
            <a:r>
              <a:rPr sz="1000" b="1">
                <a:solidFill>
                  <a:srgbClr val="1E293B"/>
                </a:solidFill>
                <a:latin typeface="Segoe UI"/>
                <a:ea typeface="Microsoft YaHei"/>
              </a:rPr>
              <a:t>• 2027 年 04~05 月：</a:t>
            </a:r>
            <a:r>
              <a:rPr sz="950">
                <a:solidFill>
                  <a:srgbClr val="334155"/>
                </a:solidFill>
                <a:latin typeface="Segoe UI"/>
                <a:ea typeface="Microsoft YaHei"/>
              </a:rPr>
              <a:t>参加硕士研究生学位论文正式答辩，完成学位申请。</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0F172A"/>
          </a:solidFill>
          <a:ln>
            <a:noFill/>
          </a:ln>
          <a:effectLst/>
        </p:spPr>
        <p:txBody>
          <a:bodyPr rtlCol="0" anchor="ctr"/>
          <a:lstStyle/>
          <a:p>
            <a:pPr algn="ctr"/>
          </a:p>
        </p:txBody>
      </p:sp>
      <p:sp>
        <p:nvSpPr>
          <p:cNvPr id="3" name="TextBox 2"/>
          <p:cNvSpPr txBox="1"/>
          <p:nvPr/>
        </p:nvSpPr>
        <p:spPr>
          <a:xfrm>
            <a:off x="900000" y="1980000"/>
            <a:ext cx="10393200" cy="792000"/>
          </a:xfrm>
          <a:prstGeom prst="rect">
            <a:avLst/>
          </a:prstGeom>
          <a:noFill/>
          <a:effectLst/>
        </p:spPr>
        <p:txBody>
          <a:bodyPr wrap="none">
            <a:spAutoFit/>
          </a:bodyPr>
          <a:lstStyle/>
          <a:p>
            <a:pPr algn="ctr"/>
            <a:r>
              <a:rPr sz="3600" b="1">
                <a:solidFill>
                  <a:srgbClr val="FFFFFF"/>
                </a:solidFill>
                <a:latin typeface="Segoe UI"/>
                <a:ea typeface="Microsoft YaHei"/>
              </a:rPr>
              <a:t>感谢各位专家评委老师的悉心指导！</a:t>
            </a:r>
          </a:p>
        </p:txBody>
      </p:sp>
      <p:sp>
        <p:nvSpPr>
          <p:cNvPr id="4" name="TextBox 3"/>
          <p:cNvSpPr txBox="1"/>
          <p:nvPr/>
        </p:nvSpPr>
        <p:spPr>
          <a:xfrm>
            <a:off x="900000" y="2951999"/>
            <a:ext cx="10393200" cy="432000"/>
          </a:xfrm>
          <a:prstGeom prst="rect">
            <a:avLst/>
          </a:prstGeom>
          <a:noFill/>
          <a:effectLst/>
        </p:spPr>
        <p:txBody>
          <a:bodyPr wrap="none">
            <a:spAutoFit/>
          </a:bodyPr>
          <a:lstStyle/>
          <a:p>
            <a:pPr algn="ctr"/>
            <a:r>
              <a:rPr sz="2200" b="1">
                <a:solidFill>
                  <a:srgbClr val="93C5FD"/>
                </a:solidFill>
                <a:latin typeface="Segoe UI"/>
                <a:ea typeface="Microsoft YaHei"/>
              </a:rPr>
              <a:t>敬请各位老师批评指正  •  Q &amp; A</a:t>
            </a:r>
          </a:p>
        </p:txBody>
      </p:sp>
      <p:sp>
        <p:nvSpPr>
          <p:cNvPr id="5" name="Rectangle 4"/>
          <p:cNvSpPr/>
          <p:nvPr/>
        </p:nvSpPr>
        <p:spPr>
          <a:xfrm>
            <a:off x="3600000" y="3671999"/>
            <a:ext cx="4993200" cy="19050"/>
          </a:xfrm>
          <a:prstGeom prst="rect">
            <a:avLst/>
          </a:prstGeom>
          <a:solidFill>
            <a:srgbClr val="334155"/>
          </a:solidFill>
          <a:ln>
            <a:noFill/>
          </a:ln>
          <a:effectLst/>
        </p:spPr>
        <p:txBody>
          <a:bodyPr rtlCol="0" anchor="ctr"/>
          <a:lstStyle/>
          <a:p>
            <a:pPr algn="ctr"/>
          </a:p>
        </p:txBody>
      </p:sp>
      <p:sp>
        <p:nvSpPr>
          <p:cNvPr id="6" name="TextBox 5"/>
          <p:cNvSpPr txBox="1"/>
          <p:nvPr/>
        </p:nvSpPr>
        <p:spPr>
          <a:xfrm>
            <a:off x="900000" y="4031999"/>
            <a:ext cx="10393200" cy="540000"/>
          </a:xfrm>
          <a:prstGeom prst="rect">
            <a:avLst/>
          </a:prstGeom>
          <a:noFill/>
          <a:effectLst/>
        </p:spPr>
        <p:txBody>
          <a:bodyPr wrap="none">
            <a:spAutoFit/>
          </a:bodyPr>
          <a:lstStyle/>
          <a:p>
            <a:pPr algn="ctr"/>
            <a:r>
              <a:rPr sz="1250">
                <a:solidFill>
                  <a:srgbClr val="94A3B8"/>
                </a:solidFill>
                <a:latin typeface="Segoe UI"/>
                <a:ea typeface="Microsoft YaHei"/>
              </a:rPr>
              <a:t>硕士学位论文中期考核进展汇报  |  应用统计专业 (MAS)
课题：《疫情监测中的病例规模收益边界：估计目标、环境随机性与外部验证》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
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 Id="rId10" Type="http://schemas.openxmlformats.org/officeDocument/2006/relationships/image" Target="../media/image24.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39.png"/><Relationship Id="rId10"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44.png"/><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00 / 课题全景与大论文架构  •  THESIS STRUCTURE &amp; MID-TERM PROGRESS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大论文七章体系与技术路线全景 (85页规划)</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11113200" cy="3384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7" name="Picture 6" descr="fig0_technical_roadmap.png"/>
          <p:cNvPicPr>
            <a:picLocks noChangeAspect="1"/>
          </p:cNvPicPr>
          <p:nvPr/>
        </p:nvPicPr>
        <p:blipFill>
          <a:blip r:embed="rId9"/>
          <a:stretch>
            <a:fillRect/>
          </a:stretch>
        </p:blipFill>
        <p:spPr>
          <a:xfrm>
            <a:off x="3182815" y="1062000"/>
            <a:ext cx="5827568" cy="3168000"/>
          </a:xfrm>
          <a:prstGeom prst="rect">
            <a:avLst/>
          </a:prstGeom>
          <a:effectLst/>
        </p:spPr>
      </p:pic>
      <p:sp>
        <p:nvSpPr>
          <p:cNvPr id="8" name="Rounded Rectangle 7"/>
          <p:cNvSpPr/>
          <p:nvPr/>
        </p:nvSpPr>
        <p:spPr>
          <a:xfrm>
            <a:off x="5400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9" name="TextBox 8"/>
          <p:cNvSpPr txBox="1"/>
          <p:nvPr/>
        </p:nvSpPr>
        <p:spPr>
          <a:xfrm>
            <a:off x="6480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理论体系闭环</a:t>
            </a:r>
          </a:p>
          <a:p>
            <a:pPr>
              <a:spcBef>
                <a:spcPts val="200"/>
              </a:spcBef>
            </a:pPr>
            <a:r>
              <a:rPr sz="1150" b="1">
                <a:solidFill>
                  <a:srgbClr val="1E3A8A"/>
                </a:solidFill>
                <a:latin typeface="Segoe UI"/>
                <a:ea typeface="Microsoft YaHei"/>
              </a:rPr>
              <a:t>6 大命题 + 1 核心推论</a:t>
            </a:r>
          </a:p>
          <a:p>
            <a:pPr>
              <a:lnSpc>
                <a:spcPct val="115000"/>
              </a:lnSpc>
              <a:spcBef>
                <a:spcPts val="300"/>
              </a:spcBef>
            </a:pPr>
            <a:r>
              <a:rPr sz="919">
                <a:solidFill>
                  <a:srgbClr val="334155"/>
                </a:solidFill>
                <a:latin typeface="Segoe UI"/>
                <a:ea typeface="Microsoft YaHei"/>
              </a:rPr>
              <a:t>PGF复合封闭、CRLB UMVUE达到、杠杆非对称性、Cochran对偶闭式解</a:t>
            </a:r>
          </a:p>
        </p:txBody>
      </p:sp>
      <p:sp>
        <p:nvSpPr>
          <p:cNvPr id="10" name="Rounded Rectangle 9"/>
          <p:cNvSpPr/>
          <p:nvPr/>
        </p:nvSpPr>
        <p:spPr>
          <a:xfrm>
            <a:off x="33453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1" name="TextBox 10"/>
          <p:cNvSpPr txBox="1"/>
          <p:nvPr/>
        </p:nvSpPr>
        <p:spPr>
          <a:xfrm>
            <a:off x="34533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真实大数据实证</a:t>
            </a:r>
          </a:p>
          <a:p>
            <a:pPr>
              <a:spcBef>
                <a:spcPts val="200"/>
              </a:spcBef>
            </a:pPr>
            <a:r>
              <a:rPr sz="1150" b="1">
                <a:solidFill>
                  <a:srgbClr val="1E3A8A"/>
                </a:solidFill>
                <a:latin typeface="Segoe UI"/>
                <a:ea typeface="Microsoft YaHei"/>
              </a:rPr>
              <a:t>16,218 原始 -&gt; 10,303 样本</a:t>
            </a:r>
          </a:p>
          <a:p>
            <a:pPr>
              <a:lnSpc>
                <a:spcPct val="115000"/>
              </a:lnSpc>
              <a:spcBef>
                <a:spcPts val="300"/>
              </a:spcBef>
            </a:pPr>
            <a:r>
              <a:rPr sz="919">
                <a:solidFill>
                  <a:srgbClr val="334155"/>
                </a:solidFill>
                <a:latin typeface="Segoe UI"/>
                <a:ea typeface="Microsoft YaHei"/>
              </a:rPr>
              <a:t>客观筛选无覆盖率偏误，三大制度期 6009+420+3874=10303 严密自洽闭环</a:t>
            </a:r>
          </a:p>
        </p:txBody>
      </p:sp>
      <p:sp>
        <p:nvSpPr>
          <p:cNvPr id="12" name="Rounded Rectangle 11"/>
          <p:cNvSpPr/>
          <p:nvPr/>
        </p:nvSpPr>
        <p:spPr>
          <a:xfrm>
            <a:off x="61506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3" name="TextBox 12"/>
          <p:cNvSpPr txBox="1"/>
          <p:nvPr/>
        </p:nvSpPr>
        <p:spPr>
          <a:xfrm>
            <a:off x="62586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双重质量检验</a:t>
            </a:r>
          </a:p>
          <a:p>
            <a:pPr>
              <a:spcBef>
                <a:spcPts val="200"/>
              </a:spcBef>
            </a:pPr>
            <a:r>
              <a:rPr sz="1150" b="1">
                <a:solidFill>
                  <a:srgbClr val="1E3A8A"/>
                </a:solidFill>
                <a:latin typeface="Segoe UI"/>
                <a:ea typeface="Microsoft YaHei"/>
              </a:rPr>
              <a:t>213 项全域回归测试全绿</a:t>
            </a:r>
          </a:p>
          <a:p>
            <a:pPr>
              <a:lnSpc>
                <a:spcPct val="115000"/>
              </a:lnSpc>
              <a:spcBef>
                <a:spcPts val="300"/>
              </a:spcBef>
            </a:pPr>
            <a:r>
              <a:rPr sz="919">
                <a:solidFill>
                  <a:srgbClr val="334155"/>
                </a:solidFill>
                <a:latin typeface="Segoe UI"/>
                <a:ea typeface="Microsoft YaHei"/>
              </a:rPr>
              <a:t>多重聚类Bootstrap CI [-2.33, 0.59]、仿射参数 22.6 等一致性核验 100% 通过</a:t>
            </a:r>
          </a:p>
        </p:txBody>
      </p:sp>
      <p:sp>
        <p:nvSpPr>
          <p:cNvPr id="14" name="Rounded Rectangle 13"/>
          <p:cNvSpPr/>
          <p:nvPr/>
        </p:nvSpPr>
        <p:spPr>
          <a:xfrm>
            <a:off x="89559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5" name="TextBox 14"/>
          <p:cNvSpPr txBox="1"/>
          <p:nvPr/>
        </p:nvSpPr>
        <p:spPr>
          <a:xfrm>
            <a:off x="90639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大论文推进进度</a:t>
            </a:r>
          </a:p>
          <a:p>
            <a:pPr>
              <a:spcBef>
                <a:spcPts val="200"/>
              </a:spcBef>
            </a:pPr>
            <a:r>
              <a:rPr sz="1150" b="1">
                <a:solidFill>
                  <a:srgbClr val="1E3A8A"/>
                </a:solidFill>
                <a:latin typeface="Segoe UI"/>
                <a:ea typeface="Microsoft YaHei"/>
              </a:rPr>
              <a:t>整整 85 页大论文定稿</a:t>
            </a:r>
          </a:p>
          <a:p>
            <a:pPr>
              <a:lnSpc>
                <a:spcPct val="115000"/>
              </a:lnSpc>
              <a:spcBef>
                <a:spcPts val="300"/>
              </a:spcBef>
            </a:pPr>
            <a:r>
              <a:rPr sz="919">
                <a:solidFill>
                  <a:srgbClr val="334155"/>
                </a:solidFill>
                <a:latin typeface="Segoe UI"/>
                <a:ea typeface="Microsoft YaHei"/>
              </a:rPr>
              <a:t>七大主体章节+保姆级附录+80篇文献全面就绪，具备优秀硕士学位论文坚实骨架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【核心科学设问 (Core Research Question)】</a:t>
            </a:r>
          </a:p>
          <a:p>
            <a:pPr>
              <a:lnSpc>
                <a:spcPct val="118000"/>
              </a:lnSpc>
              <a:spcBef>
                <a:spcPts val="300"/>
              </a:spcBef>
            </a:pPr>
            <a:r>
              <a:rPr sz="95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第一阶段：微观传播层（负二项分支过程）</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0"/>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11"/>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12"/>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636000"/>
            <a:ext cx="4744800" cy="70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74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54000"/>
            <a:ext cx="4816800" cy="160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动力学模型的核心统计特征：</a:t>
            </a:r>
          </a:p>
          <a:p>
            <a:pPr>
              <a:lnSpc>
                <a:spcPct val="118000"/>
              </a:lnSpc>
              <a:spcBef>
                <a:spcPts val="400"/>
              </a:spcBef>
            </a:pPr>
            <a:r>
              <a:rPr sz="1000" b="1">
                <a:solidFill>
                  <a:srgbClr val="1E293B"/>
                </a:solidFill>
                <a:latin typeface="Segoe UI"/>
                <a:ea typeface="Microsoft YaHei"/>
              </a:rPr>
              <a:t>• 方差均值比（离散指数）：
</a:t>
            </a:r>
            <a:r>
              <a:rPr sz="950">
                <a:solidFill>
                  <a:srgbClr val="334155"/>
                </a:solidFill>
                <a:latin typeface="Segoe UI"/>
                <a:ea typeface="Microsoft YaHei"/>
              </a:rPr>
              <a:t>  Var(Y) / E[Y] = 1 + Rt / k &gt; 1，体现极强超离散特征。</a:t>
            </a:r>
          </a:p>
          <a:p>
            <a:pPr>
              <a:lnSpc>
                <a:spcPct val="118000"/>
              </a:lnSpc>
              <a:spcBef>
                <a:spcPts val="400"/>
              </a:spcBef>
            </a:pPr>
            <a:r>
              <a:rPr sz="1000" b="1">
                <a:solidFill>
                  <a:srgbClr val="1E293B"/>
                </a:solidFill>
                <a:latin typeface="Segoe UI"/>
                <a:ea typeface="Microsoft YaHei"/>
              </a:rPr>
              <a:t>• 稀疏抽稀效应：
</a:t>
            </a:r>
            <a:r>
              <a:rPr sz="950">
                <a:solidFill>
                  <a:srgbClr val="334155"/>
                </a:solidFill>
                <a:latin typeface="Segoe UI"/>
                <a:ea typeface="Microsoft YaHei"/>
              </a:rPr>
              <a:t>  报告率 ρ 仅缩放观测期望均值，但不改变负二项分布族系属性。</a:t>
            </a:r>
          </a:p>
          <a:p>
            <a:pPr>
              <a:lnSpc>
                <a:spcPct val="118000"/>
              </a:lnSpc>
              <a:spcBef>
                <a:spcPts val="400"/>
              </a:spcBef>
            </a:pPr>
            <a:r>
              <a:rPr sz="1000" b="1">
                <a:solidFill>
                  <a:srgbClr val="1E293B"/>
                </a:solidFill>
                <a:latin typeface="Segoe UI"/>
                <a:ea typeface="Microsoft YaHei"/>
              </a:rPr>
              <a:t>• 尺度映射关系：
</a:t>
            </a:r>
            <a:r>
              <a:rPr sz="95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13"/>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14"/>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1"/>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2"/>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3"/>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14"/>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15"/>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rIns="0" t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image.png"/>
          <p:cNvPicPr>
            <a:picLocks noChangeAspect="1"/>
          </p:cNvPicPr>
          <p:nvPr/>
        </p:nvPicPr>
        <p:blipFill>
          <a:blip r:embed="rId16"/>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9"/>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322000"/>
            <a:ext cx="4744800" cy="95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image.png"/>
          <p:cNvPicPr>
            <a:picLocks noChangeAspect="1"/>
          </p:cNvPicPr>
          <p:nvPr/>
        </p:nvPicPr>
        <p:blipFill>
          <a:blip r:embed="rId10"/>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7"/>
          <a:stretch>
            <a:fillRect/>
          </a:stretch>
        </p:blipFill>
        <p:spPr>
          <a:xfrm>
            <a:off x="1534853" y="1591200"/>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8"/>
          <a:stretch>
            <a:fillRect/>
          </a:stretch>
        </p:blipFill>
        <p:spPr>
          <a:xfrm>
            <a:off x="1640959" y="2185200"/>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9"/>
          <a:stretch>
            <a:fillRect/>
          </a:stretch>
        </p:blipFill>
        <p:spPr>
          <a:xfrm>
            <a:off x="1623402" y="27792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数值模拟揭示的深层统计规律：</a:t>
            </a:r>
          </a:p>
          <a:p>
            <a:pPr>
              <a:lnSpc>
                <a:spcPct val="118000"/>
              </a:lnSpc>
              <a:spcBef>
                <a:spcPts val="400"/>
              </a:spcBef>
            </a:pPr>
            <a:r>
              <a:rPr sz="1000" b="1">
                <a:solidFill>
                  <a:srgbClr val="1E293B"/>
                </a:solidFill>
                <a:latin typeface="Segoe UI"/>
                <a:ea typeface="Microsoft YaHei"/>
              </a:rPr>
              <a:t>• 离散阶梯跳跃与锯齿波：
</a:t>
            </a:r>
            <a:r>
              <a:rPr sz="950">
                <a:solidFill>
                  <a:srgbClr val="334155"/>
                </a:solidFill>
                <a:latin typeface="Segoe UI"/>
                <a:ea typeface="Microsoft YaHei"/>
              </a:rPr>
              <a:t>  计数临界值 c_α(m) 随规模呈阶梯状跳跃，当跨越临界值时门槛骤升，引发功效曲线局部呈现特有的锯齿波动！</a:t>
            </a:r>
          </a:p>
          <a:p>
            <a:pPr>
              <a:lnSpc>
                <a:spcPct val="118000"/>
              </a:lnSpc>
              <a:spcBef>
                <a:spcPts val="400"/>
              </a:spcBef>
            </a:pPr>
            <a:r>
              <a:rPr sz="1000" b="1">
                <a:solidFill>
                  <a:srgbClr val="1E293B"/>
                </a:solidFill>
                <a:latin typeface="Segoe UI"/>
                <a:ea typeface="Microsoft YaHei"/>
              </a:rPr>
              <a:t>• 80% 功效阈值天花板：
</a:t>
            </a:r>
            <a:r>
              <a:rPr sz="950">
                <a:solidFill>
                  <a:srgbClr val="334155"/>
                </a:solidFill>
                <a:latin typeface="Segoe UI"/>
                <a:ea typeface="Microsoft YaHei"/>
              </a:rPr>
              <a:t>  跨过 m_80% 后，功效迅速逼近 1.0 平台，边际投入收益归零，证实检验目标存在天然饱和天花板。</a:t>
            </a:r>
          </a:p>
          <a:p>
            <a:pPr>
              <a:lnSpc>
                <a:spcPct val="118000"/>
              </a:lnSpc>
              <a:spcBef>
                <a:spcPts val="400"/>
              </a:spcBef>
            </a:pPr>
            <a:r>
              <a:rPr sz="1000" b="1">
                <a:solidFill>
                  <a:srgbClr val="1E293B"/>
                </a:solidFill>
                <a:latin typeface="Segoe UI"/>
                <a:ea typeface="Microsoft YaHei"/>
              </a:rPr>
              <a:t>• 更新过程双口径解密：
</a:t>
            </a:r>
            <a:r>
              <a:rPr sz="95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180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1. Wald 正态近似失真  </a:t>
            </a:r>
            <a:r>
              <a:rPr sz="95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488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0796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5"/>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6"/>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116000"/>
            <a:ext cx="59400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4"/>
          <a:stretch>
            <a:fillRect/>
          </a:stretch>
        </p:blipFill>
        <p:spPr>
          <a:xfrm>
            <a:off x="6518246" y="1170000"/>
            <a:ext cx="3941106" cy="2880000"/>
          </a:xfrm>
          <a:prstGeom prst="rect">
            <a:avLst/>
          </a:prstGeom>
          <a:effectLst/>
        </p:spPr>
      </p:pic>
      <p:sp>
        <p:nvSpPr>
          <p:cNvPr id="19" name="TextBox 18"/>
          <p:cNvSpPr txBox="1"/>
          <p:nvPr/>
        </p:nvSpPr>
        <p:spPr>
          <a:xfrm>
            <a:off x="5544000" y="4158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4374000"/>
            <a:ext cx="5893200" cy="187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4446000"/>
            <a:ext cx="5605200" cy="172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实证完全支持理论预测形态：(a) FGLS 仿射线与分箱均值紧密契合；(b) 离散度 var/mean^2 从 5.32 降至 0.99；(c) 达峰期 88.9% 误差由基准漂移解释，控制后规模项仍显著为正；(d) 政策冲击与全国汇总（RelMSE=0.0348）验证了空间汇聚对偶收益。全套实证经受住事前信息集与 213 项一致性回归检验。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977999"/>
            <a:ext cx="4744800" cy="217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进度规划：中期研究成果总结与大论文推进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
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00 / 课题全景与大论文架构  •  THESIS STRUCTURE &amp; MID-TERM PROGRESS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大论文七章体系与中期进展全景</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00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968000" cy="216000"/>
          </a:xfrm>
          <a:prstGeom prst="rect">
            <a:avLst/>
          </a:prstGeom>
          <a:noFill/>
          <a:effectLst/>
        </p:spPr>
        <p:txBody>
          <a:bodyPr wrap="none">
            <a:spAutoFit/>
          </a:bodyPr>
          <a:lstStyle/>
          <a:p>
            <a:r>
              <a:rPr sz="1400" b="1">
                <a:solidFill>
                  <a:srgbClr val="1E3A8A"/>
                </a:solidFill>
                <a:latin typeface="Segoe UI"/>
                <a:ea typeface="Microsoft YaHei"/>
              </a:rPr>
              <a:t>大论文七大主体章节规划（预计 80~85 页）</a:t>
            </a:r>
          </a:p>
        </p:txBody>
      </p:sp>
      <p:sp>
        <p:nvSpPr>
          <p:cNvPr id="8" name="Rounded Rectangle 7"/>
          <p:cNvSpPr/>
          <p:nvPr/>
        </p:nvSpPr>
        <p:spPr>
          <a:xfrm>
            <a:off x="720000" y="1404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896001" cy="558000"/>
          </a:xfrm>
          <a:prstGeom prst="rect">
            <a:avLst/>
          </a:prstGeom>
          <a:noFill/>
          <a:effectLst/>
        </p:spPr>
        <p:txBody>
          <a:bodyPr wrap="square">
            <a:spAutoFit/>
          </a:bodyPr>
          <a:lstStyle/>
          <a:p>
            <a:r>
              <a:rPr sz="1050" b="1">
                <a:solidFill>
                  <a:srgbClr val="1E293B"/>
                </a:solidFill>
                <a:latin typeface="Segoe UI"/>
                <a:ea typeface="Microsoft YaHei"/>
              </a:rPr>
              <a:t>第一章 绪论：监测困境与问题提出</a:t>
            </a:r>
            <a:r>
              <a:rPr sz="950" b="1">
                <a:solidFill>
                  <a:srgbClr val="2563EB"/>
                </a:solidFill>
                <a:latin typeface="Segoe UI"/>
                <a:ea typeface="Microsoft YaHei"/>
              </a:rPr>
              <a:t>  [12~14 页 (已完成)]</a:t>
            </a:r>
          </a:p>
          <a:p>
            <a:pPr>
              <a:lnSpc>
                <a:spcPct val="115000"/>
              </a:lnSpc>
            </a:pPr>
            <a:r>
              <a:rPr sz="880">
                <a:solidFill>
                  <a:srgbClr val="64748B"/>
                </a:solidFill>
                <a:latin typeface="Segoe UI"/>
                <a:ea typeface="Microsoft YaHei"/>
              </a:rPr>
              <a:t>公卫监测悖论、EpiEstim 与 Parag 信息极限文献演进、推断目标分化设问</a:t>
            </a:r>
          </a:p>
        </p:txBody>
      </p:sp>
      <p:sp>
        <p:nvSpPr>
          <p:cNvPr id="10" name="Rounded Rectangle 9"/>
          <p:cNvSpPr/>
          <p:nvPr/>
        </p:nvSpPr>
        <p:spPr>
          <a:xfrm>
            <a:off x="720000" y="2106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160000"/>
            <a:ext cx="4896001" cy="558000"/>
          </a:xfrm>
          <a:prstGeom prst="rect">
            <a:avLst/>
          </a:prstGeom>
          <a:noFill/>
          <a:effectLst/>
        </p:spPr>
        <p:txBody>
          <a:bodyPr wrap="square">
            <a:spAutoFit/>
          </a:bodyPr>
          <a:lstStyle/>
          <a:p>
            <a:r>
              <a:rPr sz="1050" b="1">
                <a:solidFill>
                  <a:srgbClr val="1E293B"/>
                </a:solidFill>
                <a:latin typeface="Segoe UI"/>
                <a:ea typeface="Microsoft YaHei"/>
              </a:rPr>
              <a:t>第二章 动力学建模与观测机制</a:t>
            </a:r>
            <a:r>
              <a:rPr sz="950" b="1">
                <a:solidFill>
                  <a:srgbClr val="2563EB"/>
                </a:solidFill>
                <a:latin typeface="Segoe UI"/>
                <a:ea typeface="Microsoft YaHei"/>
              </a:rPr>
              <a:t>  [10~12 页 (已完成)]</a:t>
            </a:r>
          </a:p>
          <a:p>
            <a:pPr>
              <a:lnSpc>
                <a:spcPct val="115000"/>
              </a:lnSpc>
            </a:pPr>
            <a:r>
              <a:rPr sz="880">
                <a:solidFill>
                  <a:srgbClr val="64748B"/>
                </a:solidFill>
                <a:latin typeface="Segoe UI"/>
                <a:ea typeface="Microsoft YaHei"/>
              </a:rPr>
              <a:t>Gamma-Poisson 混合负二项、二项报告抽稀、PGF 复合闭合与成功概率顿悟</a:t>
            </a:r>
          </a:p>
        </p:txBody>
      </p:sp>
      <p:sp>
        <p:nvSpPr>
          <p:cNvPr id="12" name="Rounded Rectangle 11"/>
          <p:cNvSpPr/>
          <p:nvPr/>
        </p:nvSpPr>
        <p:spPr>
          <a:xfrm>
            <a:off x="720000" y="2808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2862000"/>
            <a:ext cx="4896001" cy="558000"/>
          </a:xfrm>
          <a:prstGeom prst="rect">
            <a:avLst/>
          </a:prstGeom>
          <a:noFill/>
          <a:effectLst/>
        </p:spPr>
        <p:txBody>
          <a:bodyPr wrap="square">
            <a:spAutoFit/>
          </a:bodyPr>
          <a:lstStyle/>
          <a:p>
            <a:r>
              <a:rPr sz="1050" b="1">
                <a:solidFill>
                  <a:srgbClr val="1E293B"/>
                </a:solidFill>
                <a:latin typeface="Segoe UI"/>
                <a:ea typeface="Microsoft YaHei"/>
              </a:rPr>
              <a:t>第三章 渐近推断与运筹优化设计</a:t>
            </a:r>
            <a:r>
              <a:rPr sz="950" b="1">
                <a:solidFill>
                  <a:srgbClr val="2563EB"/>
                </a:solidFill>
                <a:latin typeface="Segoe UI"/>
                <a:ea typeface="Microsoft YaHei"/>
              </a:rPr>
              <a:t>  [18~20 页 (已完成)]</a:t>
            </a:r>
          </a:p>
          <a:p>
            <a:pPr>
              <a:lnSpc>
                <a:spcPct val="115000"/>
              </a:lnSpc>
            </a:pPr>
            <a:r>
              <a:rPr sz="880">
                <a:solidFill>
                  <a:srgbClr val="64748B"/>
                </a:solidFill>
                <a:latin typeface="Segoe UI"/>
                <a:ea typeface="Microsoft YaHei"/>
              </a:rPr>
              <a:t>命题 1~4、CRLB、仿射分解 v_R+A/m、监测杠杆非对称性、Cochran 对偶</a:t>
            </a:r>
          </a:p>
        </p:txBody>
      </p:sp>
      <p:sp>
        <p:nvSpPr>
          <p:cNvPr id="14" name="Rounded Rectangle 13"/>
          <p:cNvSpPr/>
          <p:nvPr/>
        </p:nvSpPr>
        <p:spPr>
          <a:xfrm>
            <a:off x="720000" y="3510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3564000"/>
            <a:ext cx="4896001" cy="558000"/>
          </a:xfrm>
          <a:prstGeom prst="rect">
            <a:avLst/>
          </a:prstGeom>
          <a:noFill/>
          <a:effectLst/>
        </p:spPr>
        <p:txBody>
          <a:bodyPr wrap="square">
            <a:spAutoFit/>
          </a:bodyPr>
          <a:lstStyle/>
          <a:p>
            <a:r>
              <a:rPr sz="1050" b="1">
                <a:solidFill>
                  <a:srgbClr val="1E293B"/>
                </a:solidFill>
                <a:latin typeface="Segoe UI"/>
                <a:ea typeface="Microsoft YaHei"/>
              </a:rPr>
              <a:t>第四章 蒙特卡洛仿真与机制检验</a:t>
            </a:r>
            <a:r>
              <a:rPr sz="950" b="1">
                <a:solidFill>
                  <a:srgbClr val="2563EB"/>
                </a:solidFill>
                <a:latin typeface="Segoe UI"/>
                <a:ea typeface="Microsoft YaHei"/>
              </a:rPr>
              <a:t>  [10~12 页 (已完成)]</a:t>
            </a:r>
          </a:p>
          <a:p>
            <a:pPr>
              <a:lnSpc>
                <a:spcPct val="115000"/>
              </a:lnSpc>
            </a:pPr>
            <a:r>
              <a:rPr sz="880">
                <a:solidFill>
                  <a:srgbClr val="64748B"/>
                </a:solidFill>
                <a:latin typeface="Segoe UI"/>
                <a:ea typeface="Microsoft YaHei"/>
              </a:rPr>
              <a:t>命题 5~6、Wald 失真与离散功效锯齿、更新过程预测分解式 (29) 双口径</a:t>
            </a:r>
          </a:p>
        </p:txBody>
      </p:sp>
      <p:sp>
        <p:nvSpPr>
          <p:cNvPr id="16" name="Rounded Rectangle 15"/>
          <p:cNvSpPr/>
          <p:nvPr/>
        </p:nvSpPr>
        <p:spPr>
          <a:xfrm>
            <a:off x="720000" y="4212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791999" y="4266000"/>
            <a:ext cx="4896001" cy="558000"/>
          </a:xfrm>
          <a:prstGeom prst="rect">
            <a:avLst/>
          </a:prstGeom>
          <a:noFill/>
          <a:effectLst/>
        </p:spPr>
        <p:txBody>
          <a:bodyPr wrap="square">
            <a:spAutoFit/>
          </a:bodyPr>
          <a:lstStyle/>
          <a:p>
            <a:r>
              <a:rPr sz="1050" b="1">
                <a:solidFill>
                  <a:srgbClr val="1E293B"/>
                </a:solidFill>
                <a:latin typeface="Segoe UI"/>
                <a:ea typeface="Microsoft YaHei"/>
              </a:rPr>
              <a:t>第五章 全美流感住院大数据实证</a:t>
            </a:r>
            <a:r>
              <a:rPr sz="950" b="1">
                <a:solidFill>
                  <a:srgbClr val="2563EB"/>
                </a:solidFill>
                <a:latin typeface="Segoe UI"/>
                <a:ea typeface="Microsoft YaHei"/>
              </a:rPr>
              <a:t>  [16~18 页 (已完成)]</a:t>
            </a:r>
          </a:p>
          <a:p>
            <a:pPr>
              <a:lnSpc>
                <a:spcPct val="115000"/>
              </a:lnSpc>
            </a:pPr>
            <a:r>
              <a:rPr sz="880">
                <a:solidFill>
                  <a:srgbClr val="64748B"/>
                </a:solidFill>
                <a:latin typeface="Segoe UI"/>
                <a:ea typeface="Microsoft YaHei"/>
              </a:rPr>
              <a:t>NHSN 10,303 闭环样本、FGLS 拟合、达峰期 88.9% 偏差正交分解、制度冲击</a:t>
            </a:r>
          </a:p>
        </p:txBody>
      </p:sp>
      <p:sp>
        <p:nvSpPr>
          <p:cNvPr id="18" name="Rounded Rectangle 17"/>
          <p:cNvSpPr/>
          <p:nvPr/>
        </p:nvSpPr>
        <p:spPr>
          <a:xfrm>
            <a:off x="720000" y="4914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791999" y="4968000"/>
            <a:ext cx="4896001" cy="558000"/>
          </a:xfrm>
          <a:prstGeom prst="rect">
            <a:avLst/>
          </a:prstGeom>
          <a:noFill/>
          <a:effectLst/>
        </p:spPr>
        <p:txBody>
          <a:bodyPr wrap="square">
            <a:spAutoFit/>
          </a:bodyPr>
          <a:lstStyle/>
          <a:p>
            <a:r>
              <a:rPr sz="1050" b="1">
                <a:solidFill>
                  <a:srgbClr val="1E293B"/>
                </a:solidFill>
                <a:latin typeface="Segoe UI"/>
                <a:ea typeface="Microsoft YaHei"/>
              </a:rPr>
              <a:t>第六章 跨模型与跨病种外部验证</a:t>
            </a:r>
            <a:r>
              <a:rPr sz="950" b="1">
                <a:solidFill>
                  <a:srgbClr val="2563EB"/>
                </a:solidFill>
                <a:latin typeface="Segoe UI"/>
                <a:ea typeface="Microsoft YaHei"/>
              </a:rPr>
              <a:t>  [8~10 页 (已完成)]</a:t>
            </a:r>
          </a:p>
          <a:p>
            <a:pPr>
              <a:lnSpc>
                <a:spcPct val="115000"/>
              </a:lnSpc>
            </a:pPr>
            <a:r>
              <a:rPr sz="880">
                <a:solidFill>
                  <a:srgbClr val="64748B"/>
                </a:solidFill>
                <a:latin typeface="Segoe UI"/>
                <a:ea typeface="Microsoft YaHei"/>
              </a:rPr>
              <a:t>CDC FluSight 集成预测 (偏差降至 15.5%)、欧洲 11 国 COVID-19 扩展验证</a:t>
            </a:r>
          </a:p>
        </p:txBody>
      </p:sp>
      <p:sp>
        <p:nvSpPr>
          <p:cNvPr id="20" name="Rounded Rectangle 19"/>
          <p:cNvSpPr/>
          <p:nvPr/>
        </p:nvSpPr>
        <p:spPr>
          <a:xfrm>
            <a:off x="720000" y="5616000"/>
            <a:ext cx="5040000" cy="6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791999" y="5670000"/>
            <a:ext cx="4896001" cy="558000"/>
          </a:xfrm>
          <a:prstGeom prst="rect">
            <a:avLst/>
          </a:prstGeom>
          <a:noFill/>
          <a:effectLst/>
        </p:spPr>
        <p:txBody>
          <a:bodyPr wrap="square">
            <a:spAutoFit/>
          </a:bodyPr>
          <a:lstStyle/>
          <a:p>
            <a:r>
              <a:rPr sz="1050" b="1">
                <a:solidFill>
                  <a:srgbClr val="1E293B"/>
                </a:solidFill>
                <a:latin typeface="Segoe UI"/>
                <a:ea typeface="Microsoft YaHei"/>
              </a:rPr>
              <a:t>第七章 资源优化建议与研究展望</a:t>
            </a:r>
            <a:r>
              <a:rPr sz="950" b="1">
                <a:solidFill>
                  <a:srgbClr val="2563EB"/>
                </a:solidFill>
                <a:latin typeface="Segoe UI"/>
                <a:ea typeface="Microsoft YaHei"/>
              </a:rPr>
              <a:t>  [4~5 页 (成稿中)]</a:t>
            </a:r>
          </a:p>
          <a:p>
            <a:pPr>
              <a:lnSpc>
                <a:spcPct val="115000"/>
              </a:lnSpc>
            </a:pPr>
            <a:r>
              <a:rPr sz="880">
                <a:solidFill>
                  <a:srgbClr val="64748B"/>
                </a:solidFill>
                <a:latin typeface="Segoe UI"/>
                <a:ea typeface="Microsoft YaHei"/>
              </a:rPr>
              <a:t>两阶段监测资源分配策略矩阵、双轨主动追踪队列识别设计、结论总结</a:t>
            </a:r>
          </a:p>
        </p:txBody>
      </p:sp>
      <p:sp>
        <p:nvSpPr>
          <p:cNvPr id="22" name="Rounded Rectangle 21"/>
          <p:cNvSpPr/>
          <p:nvPr/>
        </p:nvSpPr>
        <p:spPr>
          <a:xfrm>
            <a:off x="6228000" y="954000"/>
            <a:ext cx="54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3" name="TextBox 22"/>
          <p:cNvSpPr txBox="1"/>
          <p:nvPr/>
        </p:nvSpPr>
        <p:spPr>
          <a:xfrm>
            <a:off x="6444000" y="1116000"/>
            <a:ext cx="4993200" cy="216000"/>
          </a:xfrm>
          <a:prstGeom prst="rect">
            <a:avLst/>
          </a:prstGeom>
          <a:noFill/>
          <a:effectLst/>
        </p:spPr>
        <p:txBody>
          <a:bodyPr wrap="none">
            <a:spAutoFit/>
          </a:bodyPr>
          <a:lstStyle/>
          <a:p>
            <a:r>
              <a:rPr sz="1400" b="1">
                <a:solidFill>
                  <a:srgbClr val="1E3A8A"/>
                </a:solidFill>
                <a:latin typeface="Segoe UI"/>
                <a:ea typeface="Microsoft YaHei"/>
              </a:rPr>
              <a:t>中期完成度指标与核心学术储备</a:t>
            </a:r>
          </a:p>
        </p:txBody>
      </p:sp>
      <p:sp>
        <p:nvSpPr>
          <p:cNvPr id="24" name="Rounded Rectangle 23"/>
          <p:cNvSpPr/>
          <p:nvPr/>
        </p:nvSpPr>
        <p:spPr>
          <a:xfrm>
            <a:off x="6408000" y="1404000"/>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516000" y="1476000"/>
            <a:ext cx="4849200" cy="720000"/>
          </a:xfrm>
          <a:prstGeom prst="rect">
            <a:avLst/>
          </a:prstGeom>
          <a:noFill/>
          <a:effectLst/>
        </p:spPr>
        <p:txBody>
          <a:bodyPr wrap="square">
            <a:spAutoFit/>
          </a:bodyPr>
          <a:lstStyle/>
          <a:p>
            <a:r>
              <a:rPr sz="1100" b="1">
                <a:solidFill>
                  <a:srgbClr val="1E293B"/>
                </a:solidFill>
                <a:latin typeface="Segoe UI"/>
                <a:ea typeface="Microsoft YaHei"/>
              </a:rPr>
              <a:t>理论推导闭环：</a:t>
            </a:r>
            <a:r>
              <a:rPr sz="1150" b="1">
                <a:solidFill>
                  <a:srgbClr val="1E3A8A"/>
                </a:solidFill>
                <a:latin typeface="Segoe UI"/>
                <a:ea typeface="Microsoft YaHei"/>
              </a:rPr>
              <a:t>6 大命题 + 1 核心推论</a:t>
            </a:r>
          </a:p>
          <a:p>
            <a:pPr>
              <a:lnSpc>
                <a:spcPct val="120000"/>
              </a:lnSpc>
              <a:spcBef>
                <a:spcPts val="300"/>
              </a:spcBef>
            </a:pPr>
            <a:r>
              <a:rPr sz="919">
                <a:solidFill>
                  <a:srgbClr val="334155"/>
                </a:solidFill>
                <a:latin typeface="Segoe UI"/>
                <a:ea typeface="Microsoft YaHei"/>
              </a:rPr>
              <a:t>PGF 复合封闭、Score 方程、无偏性验证、Fisher 信息双套算法、Cochran 对偶全闭式解</a:t>
            </a:r>
          </a:p>
        </p:txBody>
      </p:sp>
      <p:sp>
        <p:nvSpPr>
          <p:cNvPr id="26" name="Rounded Rectangle 25"/>
          <p:cNvSpPr/>
          <p:nvPr/>
        </p:nvSpPr>
        <p:spPr>
          <a:xfrm>
            <a:off x="6408000" y="2321999"/>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516000" y="2393999"/>
            <a:ext cx="4849200" cy="720000"/>
          </a:xfrm>
          <a:prstGeom prst="rect">
            <a:avLst/>
          </a:prstGeom>
          <a:noFill/>
          <a:effectLst/>
        </p:spPr>
        <p:txBody>
          <a:bodyPr wrap="square">
            <a:spAutoFit/>
          </a:bodyPr>
          <a:lstStyle/>
          <a:p>
            <a:r>
              <a:rPr sz="1100" b="1">
                <a:solidFill>
                  <a:srgbClr val="1E293B"/>
                </a:solidFill>
                <a:latin typeface="Segoe UI"/>
                <a:ea typeface="Microsoft YaHei"/>
              </a:rPr>
              <a:t>真实实证样本：</a:t>
            </a:r>
            <a:r>
              <a:rPr sz="1150" b="1">
                <a:solidFill>
                  <a:srgbClr val="1E3A8A"/>
                </a:solidFill>
                <a:latin typeface="Segoe UI"/>
                <a:ea typeface="Microsoft YaHei"/>
              </a:rPr>
              <a:t>16,218 原始记录</a:t>
            </a:r>
          </a:p>
          <a:p>
            <a:pPr>
              <a:lnSpc>
                <a:spcPct val="120000"/>
              </a:lnSpc>
              <a:spcBef>
                <a:spcPts val="300"/>
              </a:spcBef>
            </a:pPr>
            <a:r>
              <a:rPr sz="919">
                <a:solidFill>
                  <a:srgbClr val="334155"/>
                </a:solidFill>
                <a:latin typeface="Segoe UI"/>
                <a:ea typeface="Microsoft YaHei"/>
              </a:rPr>
              <a:t>严格客观筛选 D_t ≥ 5，10,303 活跃周样本，三大历史制度期 6009+420+3874 算术严密闭环</a:t>
            </a:r>
          </a:p>
        </p:txBody>
      </p:sp>
      <p:sp>
        <p:nvSpPr>
          <p:cNvPr id="28" name="Rounded Rectangle 27"/>
          <p:cNvSpPr/>
          <p:nvPr/>
        </p:nvSpPr>
        <p:spPr>
          <a:xfrm>
            <a:off x="6408000" y="3239998"/>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16000" y="3311998"/>
            <a:ext cx="4849200" cy="720000"/>
          </a:xfrm>
          <a:prstGeom prst="rect">
            <a:avLst/>
          </a:prstGeom>
          <a:noFill/>
          <a:effectLst/>
        </p:spPr>
        <p:txBody>
          <a:bodyPr wrap="square">
            <a:spAutoFit/>
          </a:bodyPr>
          <a:lstStyle/>
          <a:p>
            <a:r>
              <a:rPr sz="1100" b="1">
                <a:solidFill>
                  <a:srgbClr val="1E293B"/>
                </a:solidFill>
                <a:latin typeface="Segoe UI"/>
                <a:ea typeface="Microsoft YaHei"/>
              </a:rPr>
              <a:t>回归校验套件：</a:t>
            </a:r>
            <a:r>
              <a:rPr sz="1150" b="1">
                <a:solidFill>
                  <a:srgbClr val="1E3A8A"/>
                </a:solidFill>
                <a:latin typeface="Segoe UI"/>
                <a:ea typeface="Microsoft YaHei"/>
              </a:rPr>
              <a:t>213 项全域数字检验</a:t>
            </a:r>
          </a:p>
          <a:p>
            <a:pPr>
              <a:lnSpc>
                <a:spcPct val="120000"/>
              </a:lnSpc>
              <a:spcBef>
                <a:spcPts val="300"/>
              </a:spcBef>
            </a:pPr>
            <a:r>
              <a:rPr sz="919">
                <a:solidFill>
                  <a:srgbClr val="334155"/>
                </a:solidFill>
                <a:latin typeface="Segoe UI"/>
                <a:ea typeface="Microsoft YaHei"/>
              </a:rPr>
              <a:t>包含多重聚类 Bootstrap CI [-2.33, 0.59]、仿射参数 22.6 等全量测试 100% 绿色通过</a:t>
            </a:r>
          </a:p>
        </p:txBody>
      </p:sp>
      <p:sp>
        <p:nvSpPr>
          <p:cNvPr id="30" name="Rounded Rectangle 29"/>
          <p:cNvSpPr/>
          <p:nvPr/>
        </p:nvSpPr>
        <p:spPr>
          <a:xfrm>
            <a:off x="6408000" y="4157997"/>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1" name="TextBox 30"/>
          <p:cNvSpPr txBox="1"/>
          <p:nvPr/>
        </p:nvSpPr>
        <p:spPr>
          <a:xfrm>
            <a:off x="6516000" y="4229997"/>
            <a:ext cx="4849200" cy="720000"/>
          </a:xfrm>
          <a:prstGeom prst="rect">
            <a:avLst/>
          </a:prstGeom>
          <a:noFill/>
          <a:effectLst/>
        </p:spPr>
        <p:txBody>
          <a:bodyPr wrap="square">
            <a:spAutoFit/>
          </a:bodyPr>
          <a:lstStyle/>
          <a:p>
            <a:r>
              <a:rPr sz="1100" b="1">
                <a:solidFill>
                  <a:srgbClr val="1E293B"/>
                </a:solidFill>
                <a:latin typeface="Segoe UI"/>
                <a:ea typeface="Microsoft YaHei"/>
              </a:rPr>
              <a:t>前期成果基础：</a:t>
            </a:r>
            <a:r>
              <a:rPr sz="1150" b="1">
                <a:solidFill>
                  <a:srgbClr val="1E3A8A"/>
                </a:solidFill>
                <a:latin typeface="Segoe UI"/>
                <a:ea typeface="Microsoft YaHei"/>
              </a:rPr>
              <a:t>28 页高水平期刊稿</a:t>
            </a:r>
          </a:p>
          <a:p>
            <a:pPr>
              <a:lnSpc>
                <a:spcPct val="120000"/>
              </a:lnSpc>
              <a:spcBef>
                <a:spcPts val="300"/>
              </a:spcBef>
            </a:pPr>
            <a:r>
              <a:rPr sz="919">
                <a:solidFill>
                  <a:srgbClr val="334155"/>
                </a:solidFill>
                <a:latin typeface="Segoe UI"/>
                <a:ea typeface="Microsoft YaHei"/>
              </a:rPr>
              <a:t>小论文全文定稿，获高分审稿评价；大论文框架已成型，已具备 80 页展开的坚实基石</a:t>
            </a:r>
          </a:p>
        </p:txBody>
      </p:sp>
      <p:sp>
        <p:nvSpPr>
          <p:cNvPr id="32" name="Rounded Rectangle 31"/>
          <p:cNvSpPr/>
          <p:nvPr/>
        </p:nvSpPr>
        <p:spPr>
          <a:xfrm>
            <a:off x="6408000" y="5202000"/>
            <a:ext cx="5065200" cy="1044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3" name="TextBox 32"/>
          <p:cNvSpPr txBox="1"/>
          <p:nvPr/>
        </p:nvSpPr>
        <p:spPr>
          <a:xfrm>
            <a:off x="6552000" y="5274000"/>
            <a:ext cx="4777200" cy="900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【中期考核自评与工作定位】  </a:t>
            </a:r>
            <a:r>
              <a:rPr sz="980">
                <a:solidFill>
                  <a:srgbClr val="334155"/>
                </a:solidFill>
                <a:latin typeface="Segoe UI"/>
                <a:ea typeface="Microsoft YaHei"/>
              </a:rPr>
              <a:t>本课题已完成全部数学命题定理推导、蒙特卡洛数值仿真及全美流感与欧洲 COVID-19 实证检验，工作量高度饱满。目前已全面启动 80~85 页大论文分章撰写，各章节内容骨架扎实，完全符合硕士研究生中期考核与优秀学位论文培养标准。</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【核心科学设问 (Core Research Question)】  </a:t>
            </a:r>
            <a:r>
              <a:rPr sz="98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86000"/>
            <a:ext cx="5032800" cy="306000"/>
          </a:xfrm>
          <a:prstGeom prst="rect">
            <a:avLst/>
          </a:prstGeom>
          <a:noFill/>
          <a:effectLst/>
        </p:spPr>
        <p:txBody>
          <a:bodyPr wrap="square">
            <a:spAutoFit/>
          </a:bodyPr>
          <a:lstStyle/>
          <a:p>
            <a:pPr>
              <a:lnSpc>
                <a:spcPct val="122000"/>
              </a:lnSpc>
            </a:pPr>
            <a:r>
              <a:rPr sz="1150" b="1">
                <a:solidFill>
                  <a:srgbClr val="1E293B"/>
                </a:solidFill>
                <a:latin typeface="Segoe UI"/>
                <a:ea typeface="Microsoft YaHei"/>
              </a:rPr>
              <a:t>• 第一阶段：微观传播层（负二项分支过程）
</a:t>
            </a:r>
            <a:r>
              <a:rPr sz="1019">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728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5"/>
          <a:stretch>
            <a:fillRect/>
          </a:stretch>
        </p:blipFill>
        <p:spPr>
          <a:xfrm>
            <a:off x="2008466" y="1771200"/>
            <a:ext cx="2527867" cy="327599"/>
          </a:xfrm>
          <a:prstGeom prst="rect">
            <a:avLst/>
          </a:prstGeom>
          <a:effectLst/>
        </p:spPr>
      </p:pic>
      <p:sp>
        <p:nvSpPr>
          <p:cNvPr id="11" name="Rounded Rectangle 10"/>
          <p:cNvSpPr/>
          <p:nvPr/>
        </p:nvSpPr>
        <p:spPr>
          <a:xfrm>
            <a:off x="756000" y="219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6"/>
          <a:stretch>
            <a:fillRect/>
          </a:stretch>
        </p:blipFill>
        <p:spPr>
          <a:xfrm>
            <a:off x="2301415" y="2239200"/>
            <a:ext cx="1941969" cy="327599"/>
          </a:xfrm>
          <a:prstGeom prst="rect">
            <a:avLst/>
          </a:prstGeom>
          <a:effectLst/>
        </p:spPr>
      </p:pic>
      <p:sp>
        <p:nvSpPr>
          <p:cNvPr id="13" name="TextBox 12"/>
          <p:cNvSpPr txBox="1"/>
          <p:nvPr/>
        </p:nvSpPr>
        <p:spPr>
          <a:xfrm>
            <a:off x="756000" y="2682000"/>
            <a:ext cx="5032800" cy="306000"/>
          </a:xfrm>
          <a:prstGeom prst="rect">
            <a:avLst/>
          </a:prstGeom>
          <a:noFill/>
          <a:effectLst/>
        </p:spPr>
        <p:txBody>
          <a:bodyPr wrap="square">
            <a:spAutoFit/>
          </a:bodyPr>
          <a:lstStyle/>
          <a:p>
            <a:pPr>
              <a:lnSpc>
                <a:spcPct val="122000"/>
              </a:lnSpc>
            </a:pPr>
            <a:r>
              <a:rPr sz="1150" b="1">
                <a:solidFill>
                  <a:srgbClr val="1E293B"/>
                </a:solidFill>
                <a:latin typeface="Segoe UI"/>
                <a:ea typeface="Microsoft YaHei"/>
              </a:rPr>
              <a:t>• 第二阶段：宏观观测层（条件二项抽稀）
</a:t>
            </a:r>
            <a:r>
              <a:rPr sz="1019">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7"/>
          <a:stretch>
            <a:fillRect/>
          </a:stretch>
        </p:blipFill>
        <p:spPr>
          <a:xfrm>
            <a:off x="1935229" y="3067200"/>
            <a:ext cx="2674341" cy="327599"/>
          </a:xfrm>
          <a:prstGeom prst="rect">
            <a:avLst/>
          </a:prstGeom>
          <a:effectLst/>
        </p:spPr>
      </p:pic>
      <p:sp>
        <p:nvSpPr>
          <p:cNvPr id="16" name="Rounded Rectangle 15"/>
          <p:cNvSpPr/>
          <p:nvPr/>
        </p:nvSpPr>
        <p:spPr>
          <a:xfrm>
            <a:off x="756000" y="3510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582000"/>
            <a:ext cx="4744800" cy="70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【成功概率 p 的统计物理顿悟】  </a:t>
            </a:r>
            <a:r>
              <a:rPr sz="98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28000"/>
            <a:ext cx="5032800" cy="18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00000"/>
            <a:ext cx="4816800" cy="1655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动力学模型的核心统计特征：</a:t>
            </a:r>
          </a:p>
          <a:p>
            <a:pPr>
              <a:lnSpc>
                <a:spcPct val="120000"/>
              </a:lnSpc>
              <a:spcBef>
                <a:spcPts val="400"/>
              </a:spcBef>
            </a:pPr>
            <a:r>
              <a:rPr sz="1019" b="1">
                <a:solidFill>
                  <a:srgbClr val="1E293B"/>
                </a:solidFill>
                <a:latin typeface="Segoe UI"/>
                <a:ea typeface="Microsoft YaHei"/>
              </a:rPr>
              <a:t>• 方差均值比（离散指数）：
</a:t>
            </a:r>
            <a:r>
              <a:rPr sz="980">
                <a:solidFill>
                  <a:srgbClr val="334155"/>
                </a:solidFill>
                <a:latin typeface="Segoe UI"/>
                <a:ea typeface="Microsoft YaHei"/>
              </a:rPr>
              <a:t>  Var(Y) / E[Y] = 1 + Rt / k &gt; 1，体现极强超离散特征。</a:t>
            </a:r>
          </a:p>
          <a:p>
            <a:pPr>
              <a:lnSpc>
                <a:spcPct val="120000"/>
              </a:lnSpc>
              <a:spcBef>
                <a:spcPts val="400"/>
              </a:spcBef>
            </a:pPr>
            <a:r>
              <a:rPr sz="1019" b="1">
                <a:solidFill>
                  <a:srgbClr val="1E293B"/>
                </a:solidFill>
                <a:latin typeface="Segoe UI"/>
                <a:ea typeface="Microsoft YaHei"/>
              </a:rPr>
              <a:t>• 稀疏抽稀效应：
</a:t>
            </a:r>
            <a:r>
              <a:rPr sz="980">
                <a:solidFill>
                  <a:srgbClr val="334155"/>
                </a:solidFill>
                <a:latin typeface="Segoe UI"/>
                <a:ea typeface="Microsoft YaHei"/>
              </a:rPr>
              <a:t>  报告率 ρ 仅缩放观测期望均值，但不改变负二项分布的族系属性。</a:t>
            </a:r>
          </a:p>
          <a:p>
            <a:pPr>
              <a:lnSpc>
                <a:spcPct val="120000"/>
              </a:lnSpc>
              <a:spcBef>
                <a:spcPts val="400"/>
              </a:spcBef>
            </a:pPr>
            <a:r>
              <a:rPr sz="1019" b="1">
                <a:solidFill>
                  <a:srgbClr val="1E293B"/>
                </a:solidFill>
                <a:latin typeface="Segoe UI"/>
                <a:ea typeface="Microsoft YaHei"/>
              </a:rPr>
              <a:t>• 尺度映射关系：
</a:t>
            </a:r>
            <a:r>
              <a:rPr sz="98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86000"/>
            <a:ext cx="5032800" cy="306000"/>
          </a:xfrm>
          <a:prstGeom prst="rect">
            <a:avLst/>
          </a:prstGeom>
          <a:noFill/>
          <a:effectLst/>
        </p:spPr>
        <p:txBody>
          <a:bodyPr wrap="square">
            <a:spAutoFit/>
          </a:bodyPr>
          <a:lstStyle/>
          <a:p>
            <a:pPr>
              <a:lnSpc>
                <a:spcPct val="122000"/>
              </a:lnSpc>
            </a:pPr>
            <a:r>
              <a:rPr sz="1150" b="1">
                <a:solidFill>
                  <a:srgbClr val="1E293B"/>
                </a:solidFill>
                <a:latin typeface="Segoe UI"/>
                <a:ea typeface="Microsoft YaHei"/>
              </a:rPr>
              <a:t>• 严格保族性定理（PGF 复合闭合）
</a:t>
            </a:r>
            <a:r>
              <a:rPr sz="1019">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746000"/>
            <a:ext cx="5032800" cy="432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8"/>
          <a:stretch>
            <a:fillRect/>
          </a:stretch>
        </p:blipFill>
        <p:spPr>
          <a:xfrm>
            <a:off x="7931907" y="1789200"/>
            <a:ext cx="1970584" cy="345600"/>
          </a:xfrm>
          <a:prstGeom prst="rect">
            <a:avLst/>
          </a:prstGeom>
          <a:effectLst/>
        </p:spPr>
      </p:pic>
      <p:sp>
        <p:nvSpPr>
          <p:cNvPr id="25" name="TextBox 24"/>
          <p:cNvSpPr txBox="1"/>
          <p:nvPr/>
        </p:nvSpPr>
        <p:spPr>
          <a:xfrm>
            <a:off x="6400800" y="2250000"/>
            <a:ext cx="5032800" cy="306000"/>
          </a:xfrm>
          <a:prstGeom prst="rect">
            <a:avLst/>
          </a:prstGeom>
          <a:noFill/>
          <a:effectLst/>
        </p:spPr>
        <p:txBody>
          <a:bodyPr wrap="square">
            <a:spAutoFit/>
          </a:bodyPr>
          <a:lstStyle/>
          <a:p>
            <a:pPr>
              <a:lnSpc>
                <a:spcPct val="122000"/>
              </a:lnSpc>
            </a:pPr>
            <a:r>
              <a:rPr sz="1150" b="1">
                <a:solidFill>
                  <a:srgbClr val="1E293B"/>
                </a:solidFill>
                <a:latin typeface="Segoe UI"/>
                <a:ea typeface="Microsoft YaHei"/>
              </a:rPr>
              <a:t>• 统计参数内涵与二阶矩结构
</a:t>
            </a:r>
            <a:r>
              <a:rPr sz="1019">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592000"/>
            <a:ext cx="5032800" cy="432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9"/>
          <a:stretch>
            <a:fillRect/>
          </a:stretch>
        </p:blipFill>
        <p:spPr>
          <a:xfrm>
            <a:off x="7931907" y="2635200"/>
            <a:ext cx="1970584" cy="345600"/>
          </a:xfrm>
          <a:prstGeom prst="rect">
            <a:avLst/>
          </a:prstGeom>
          <a:effectLst/>
        </p:spPr>
      </p:pic>
      <p:sp>
        <p:nvSpPr>
          <p:cNvPr id="28" name="Rounded Rectangle 27"/>
          <p:cNvSpPr/>
          <p:nvPr/>
        </p:nvSpPr>
        <p:spPr>
          <a:xfrm>
            <a:off x="6400800" y="3114000"/>
            <a:ext cx="5032800" cy="311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204000"/>
            <a:ext cx="4816800" cy="2951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二阶矩结构的统计内涵与理论价值：</a:t>
            </a:r>
          </a:p>
          <a:p>
            <a:pPr>
              <a:lnSpc>
                <a:spcPct val="122000"/>
              </a:lnSpc>
              <a:spcBef>
                <a:spcPts val="500"/>
              </a:spcBef>
            </a:pPr>
            <a:r>
              <a:rPr sz="1019" b="1">
                <a:solidFill>
                  <a:srgbClr val="1E293B"/>
                </a:solidFill>
                <a:latin typeface="Segoe UI"/>
                <a:ea typeface="Microsoft YaHei"/>
              </a:rPr>
              <a:t>• 期望均值线性响应：
</a:t>
            </a:r>
            <a:r>
              <a:rPr sz="980">
                <a:solidFill>
                  <a:srgbClr val="334155"/>
                </a:solidFill>
                <a:latin typeface="Segoe UI"/>
                <a:ea typeface="Microsoft YaHei"/>
              </a:rPr>
              <a:t>  E[Ct | m] = ρ m Rt，保证单代估计的一致无偏性。</a:t>
            </a:r>
          </a:p>
          <a:p>
            <a:pPr>
              <a:lnSpc>
                <a:spcPct val="122000"/>
              </a:lnSpc>
              <a:spcBef>
                <a:spcPts val="500"/>
              </a:spcBef>
            </a:pPr>
            <a:r>
              <a:rPr sz="1019" b="1">
                <a:solidFill>
                  <a:srgbClr val="1E293B"/>
                </a:solidFill>
                <a:latin typeface="Segoe UI"/>
                <a:ea typeface="Microsoft YaHei"/>
              </a:rPr>
              <a:t>• 方差精确双项解构：
</a:t>
            </a:r>
            <a:r>
              <a:rPr sz="980">
                <a:solidFill>
                  <a:srgbClr val="334155"/>
                </a:solidFill>
                <a:latin typeface="Segoe UI"/>
                <a:ea typeface="Microsoft YaHei"/>
              </a:rPr>
              <a:t>  方差精确由‘泊松抽样基准项’与‘个体超传播膨胀项’线性叠加。</a:t>
            </a:r>
          </a:p>
          <a:p>
            <a:pPr>
              <a:lnSpc>
                <a:spcPct val="122000"/>
              </a:lnSpc>
              <a:spcBef>
                <a:spcPts val="500"/>
              </a:spcBef>
            </a:pPr>
            <a:r>
              <a:rPr sz="1019" b="1">
                <a:solidFill>
                  <a:srgbClr val="1E293B"/>
                </a:solidFill>
                <a:latin typeface="Segoe UI"/>
                <a:ea typeface="Microsoft YaHei"/>
              </a:rPr>
              <a:t>• 超传播乘性放大：
</a:t>
            </a:r>
            <a:r>
              <a:rPr sz="980">
                <a:solidFill>
                  <a:srgbClr val="334155"/>
                </a:solidFill>
                <a:latin typeface="Segoe UI"/>
                <a:ea typeface="Microsoft YaHei"/>
              </a:rPr>
              <a:t>  超传播项 (ρ Rt)^2 m / k 随 Rt 平方增加，在高传播期成为方差主导源。</a:t>
            </a:r>
          </a:p>
          <a:p>
            <a:pPr>
              <a:lnSpc>
                <a:spcPct val="122000"/>
              </a:lnSpc>
              <a:spcBef>
                <a:spcPts val="500"/>
              </a:spcBef>
            </a:pPr>
            <a:r>
              <a:rPr sz="1019" b="1">
                <a:solidFill>
                  <a:srgbClr val="1E293B"/>
                </a:solidFill>
                <a:latin typeface="Segoe UI"/>
                <a:ea typeface="Microsoft YaHei"/>
              </a:rPr>
              <a:t>• 严格解析基准：
</a:t>
            </a:r>
            <a:r>
              <a:rPr sz="98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矩估计量定义与双层全期望无偏性（塔式法则）：
</a:t>
            </a:r>
            <a:r>
              <a:rPr sz="98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691999"/>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6"/>
          <a:stretch>
            <a:fillRect/>
          </a:stretch>
        </p:blipFill>
        <p:spPr>
          <a:xfrm>
            <a:off x="2374652" y="1735199"/>
            <a:ext cx="1795494" cy="327599"/>
          </a:xfrm>
          <a:prstGeom prst="rect">
            <a:avLst/>
          </a:prstGeom>
          <a:effectLst/>
        </p:spPr>
      </p:pic>
      <p:sp>
        <p:nvSpPr>
          <p:cNvPr id="11" name="TextBox 10"/>
          <p:cNvSpPr txBox="1"/>
          <p:nvPr/>
        </p:nvSpPr>
        <p:spPr>
          <a:xfrm>
            <a:off x="756000" y="2160000"/>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条件方差展开与无界 O(1/m) 衰减：
</a:t>
            </a:r>
            <a:r>
              <a:rPr sz="980">
                <a:solidFill>
                  <a:srgbClr val="334155"/>
                </a:solidFill>
                <a:latin typeface="Segoe UI"/>
                <a:ea typeface="Microsoft YaHei"/>
              </a:rPr>
              <a:t>微观抽样与超传播两项方差均与期望规模 m 成反比，样本量趋于无穷时方差趋于零：</a:t>
            </a:r>
          </a:p>
        </p:txBody>
      </p:sp>
      <p:sp>
        <p:nvSpPr>
          <p:cNvPr id="12" name="Rounded Rectangle 11"/>
          <p:cNvSpPr/>
          <p:nvPr/>
        </p:nvSpPr>
        <p:spPr>
          <a:xfrm>
            <a:off x="756000" y="248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7"/>
          <a:stretch>
            <a:fillRect/>
          </a:stretch>
        </p:blipFill>
        <p:spPr>
          <a:xfrm>
            <a:off x="2250886" y="2527200"/>
            <a:ext cx="2043026" cy="327599"/>
          </a:xfrm>
          <a:prstGeom prst="rect">
            <a:avLst/>
          </a:prstGeom>
          <a:effectLst/>
        </p:spPr>
      </p:pic>
      <p:sp>
        <p:nvSpPr>
          <p:cNvPr id="14" name="TextBox 13"/>
          <p:cNvSpPr txBox="1"/>
          <p:nvPr/>
        </p:nvSpPr>
        <p:spPr>
          <a:xfrm>
            <a:off x="756000" y="2952000"/>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Fisher 信息量与 Cramér–Rao 下界确立（UMVUE）：
</a:t>
            </a:r>
            <a:r>
              <a:rPr sz="98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27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8"/>
          <a:stretch>
            <a:fillRect/>
          </a:stretch>
        </p:blipFill>
        <p:spPr>
          <a:xfrm>
            <a:off x="1996997" y="3319200"/>
            <a:ext cx="2550804" cy="327599"/>
          </a:xfrm>
          <a:prstGeom prst="rect">
            <a:avLst/>
          </a:prstGeom>
          <a:effectLst/>
        </p:spPr>
      </p:pic>
      <p:sp>
        <p:nvSpPr>
          <p:cNvPr id="17" name="Rounded Rectangle 16"/>
          <p:cNvSpPr/>
          <p:nvPr/>
        </p:nvSpPr>
        <p:spPr>
          <a:xfrm>
            <a:off x="756000" y="3780000"/>
            <a:ext cx="5032800" cy="244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852000"/>
            <a:ext cx="4816800" cy="2304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核心理论发现与渐近有效性启示：</a:t>
            </a:r>
          </a:p>
          <a:p>
            <a:pPr>
              <a:lnSpc>
                <a:spcPct val="122000"/>
              </a:lnSpc>
              <a:spcBef>
                <a:spcPts val="500"/>
              </a:spcBef>
            </a:pPr>
            <a:r>
              <a:rPr sz="1019" b="1">
                <a:solidFill>
                  <a:srgbClr val="1E293B"/>
                </a:solidFill>
                <a:latin typeface="Segoe UI"/>
                <a:ea typeface="Microsoft YaHei"/>
              </a:rPr>
              <a:t>• 无界方差衰减：
</a:t>
            </a:r>
            <a:r>
              <a:rPr sz="980">
                <a:solidFill>
                  <a:srgbClr val="334155"/>
                </a:solidFill>
                <a:latin typeface="Segoe UI"/>
                <a:ea typeface="Microsoft YaHei"/>
              </a:rPr>
              <a:t>  在静态单代信息集下，测量瞬态 Rt 时方差不存在不可约底板，增大样本 m 可使方差任意逼近零。</a:t>
            </a:r>
          </a:p>
          <a:p>
            <a:pPr>
              <a:lnSpc>
                <a:spcPct val="122000"/>
              </a:lnSpc>
              <a:spcBef>
                <a:spcPts val="500"/>
              </a:spcBef>
            </a:pPr>
            <a:r>
              <a:rPr sz="1019" b="1">
                <a:solidFill>
                  <a:srgbClr val="1E293B"/>
                </a:solidFill>
                <a:latin typeface="Segoe UI"/>
                <a:ea typeface="Microsoft YaHei"/>
              </a:rPr>
              <a:t>• 异质性乘性惩罚：
</a:t>
            </a:r>
            <a:r>
              <a:rPr sz="980">
                <a:solidFill>
                  <a:srgbClr val="334155"/>
                </a:solidFill>
                <a:latin typeface="Segoe UI"/>
                <a:ea typeface="Microsoft YaHei"/>
              </a:rPr>
              <a:t>  强超传播（低 k）显著抬高方差系数，但该惩罚可被大样本 m 等比例稀释。</a:t>
            </a:r>
          </a:p>
          <a:p>
            <a:pPr>
              <a:lnSpc>
                <a:spcPct val="122000"/>
              </a:lnSpc>
              <a:spcBef>
                <a:spcPts val="500"/>
              </a:spcBef>
            </a:pPr>
            <a:r>
              <a:rPr sz="1019" b="1">
                <a:solidFill>
                  <a:srgbClr val="1E293B"/>
                </a:solidFill>
                <a:latin typeface="Segoe UI"/>
                <a:ea typeface="Microsoft YaHei"/>
              </a:rPr>
              <a:t>• UMVUE 优良性质：
</a:t>
            </a:r>
            <a:r>
              <a:rPr sz="98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216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跨期基准全方差分解与仿射损失结构（命题 2）：
</a:t>
            </a:r>
            <a:r>
              <a:rPr sz="980">
                <a:solidFill>
                  <a:srgbClr val="334155"/>
                </a:solidFill>
                <a:latin typeface="Segoe UI"/>
                <a:ea typeface="Microsoft YaHei"/>
              </a:rPr>
              <a:t>存在宏观不可约环境方差 v_R 时，单期样本再大也无法突破环境底板，呈现仿射形态：</a:t>
            </a:r>
          </a:p>
        </p:txBody>
      </p:sp>
      <p:sp>
        <p:nvSpPr>
          <p:cNvPr id="22" name="Rounded Rectangle 21"/>
          <p:cNvSpPr/>
          <p:nvPr/>
        </p:nvSpPr>
        <p:spPr>
          <a:xfrm>
            <a:off x="6400800" y="1691999"/>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3"/>
          <a:stretch>
            <a:fillRect/>
          </a:stretch>
        </p:blipFill>
        <p:spPr>
          <a:xfrm>
            <a:off x="7826444" y="1735199"/>
            <a:ext cx="2181511" cy="327599"/>
          </a:xfrm>
          <a:prstGeom prst="rect">
            <a:avLst/>
          </a:prstGeom>
          <a:effectLst/>
        </p:spPr>
      </p:pic>
      <p:sp>
        <p:nvSpPr>
          <p:cNvPr id="24" name="Rounded Rectangle 23"/>
          <p:cNvSpPr/>
          <p:nvPr/>
        </p:nvSpPr>
        <p:spPr>
          <a:xfrm>
            <a:off x="6400800" y="216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4"/>
          <a:stretch>
            <a:fillRect/>
          </a:stretch>
        </p:blipFill>
        <p:spPr>
          <a:xfrm>
            <a:off x="7999178" y="2203200"/>
            <a:ext cx="1836043" cy="327599"/>
          </a:xfrm>
          <a:prstGeom prst="rect">
            <a:avLst/>
          </a:prstGeom>
          <a:effectLst/>
        </p:spPr>
      </p:pic>
      <p:sp>
        <p:nvSpPr>
          <p:cNvPr id="26" name="TextBox 25"/>
          <p:cNvSpPr txBox="1"/>
          <p:nvPr/>
        </p:nvSpPr>
        <p:spPr>
          <a:xfrm>
            <a:off x="6400800" y="2628000"/>
            <a:ext cx="5032800" cy="251999"/>
          </a:xfrm>
          <a:prstGeom prst="rect">
            <a:avLst/>
          </a:prstGeom>
          <a:noFill/>
          <a:effectLst/>
        </p:spPr>
        <p:txBody>
          <a:bodyPr wrap="square">
            <a:spAutoFit/>
          </a:bodyPr>
          <a:lstStyle/>
          <a:p>
            <a:pPr>
              <a:lnSpc>
                <a:spcPct val="115000"/>
              </a:lnSpc>
            </a:pPr>
            <a:r>
              <a:rPr sz="1100" b="1">
                <a:solidFill>
                  <a:srgbClr val="1E3A8A"/>
                </a:solidFill>
                <a:latin typeface="Segoe UI"/>
                <a:ea typeface="Microsoft YaHei"/>
              </a:rPr>
              <a:t>• 命题 3：监测杠杆的理论非对称性定理：
</a:t>
            </a:r>
            <a:r>
              <a:rPr sz="98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2952000"/>
            <a:ext cx="5032800" cy="46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s3_levers_asymmetry.png"/>
          <p:cNvPicPr>
            <a:picLocks noChangeAspect="1"/>
          </p:cNvPicPr>
          <p:nvPr/>
        </p:nvPicPr>
        <p:blipFill>
          <a:blip r:embed="rId9"/>
          <a:stretch>
            <a:fillRect/>
          </a:stretch>
        </p:blipFill>
        <p:spPr>
          <a:xfrm>
            <a:off x="6508800" y="3068098"/>
            <a:ext cx="4816800" cy="235802"/>
          </a:xfrm>
          <a:prstGeom prst="rect">
            <a:avLst/>
          </a:prstGeom>
          <a:effectLst/>
        </p:spPr>
      </p:pic>
      <p:sp>
        <p:nvSpPr>
          <p:cNvPr id="29" name="Rounded Rectangle 28"/>
          <p:cNvSpPr/>
          <p:nvPr/>
        </p:nvSpPr>
        <p:spPr>
          <a:xfrm>
            <a:off x="6400800" y="3510000"/>
            <a:ext cx="5032800" cy="271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74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监测杠杆非对称性的深层公卫启示：</a:t>
            </a:r>
          </a:p>
          <a:p>
            <a:pPr>
              <a:lnSpc>
                <a:spcPct val="122000"/>
              </a:lnSpc>
              <a:spcBef>
                <a:spcPts val="500"/>
              </a:spcBef>
            </a:pPr>
            <a:r>
              <a:rPr sz="1019" b="1">
                <a:solidFill>
                  <a:srgbClr val="1E293B"/>
                </a:solidFill>
                <a:latin typeface="Segoe UI"/>
                <a:ea typeface="Microsoft YaHei"/>
              </a:rPr>
              <a:t>• 报告率极限局限（ρ → 1）：
</a:t>
            </a:r>
            <a:r>
              <a:rPr sz="98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22000"/>
              </a:lnSpc>
              <a:spcBef>
                <a:spcPts val="500"/>
              </a:spcBef>
            </a:pPr>
            <a:r>
              <a:rPr sz="1019" b="1">
                <a:solidFill>
                  <a:srgbClr val="1E293B"/>
                </a:solidFill>
                <a:latin typeface="Segoe UI"/>
                <a:ea typeface="Microsoft YaHei"/>
              </a:rPr>
              <a:t>• 人群基数统摄消除（n → ∞）：
</a:t>
            </a:r>
            <a:r>
              <a:rPr sz="98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22000"/>
              </a:lnSpc>
              <a:spcBef>
                <a:spcPts val="500"/>
              </a:spcBef>
            </a:pPr>
            <a:r>
              <a:rPr sz="1019" b="1">
                <a:solidFill>
                  <a:srgbClr val="1E293B"/>
                </a:solidFill>
                <a:latin typeface="Segoe UI"/>
                <a:ea typeface="Microsoft YaHei"/>
              </a:rPr>
              <a:t>• 政策决策启示：
</a:t>
            </a:r>
            <a:r>
              <a:rPr sz="98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固定总样本规模预算 B = T · m 下的方差解构：
</a:t>
            </a:r>
            <a:r>
              <a:rPr sz="98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691999"/>
            <a:ext cx="5032800" cy="450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s4_budget_constant.png"/>
          <p:cNvPicPr>
            <a:picLocks noChangeAspect="1"/>
          </p:cNvPicPr>
          <p:nvPr/>
        </p:nvPicPr>
        <p:blipFill>
          <a:blip r:embed="rId5"/>
          <a:stretch>
            <a:fillRect/>
          </a:stretch>
        </p:blipFill>
        <p:spPr>
          <a:xfrm>
            <a:off x="864000" y="1809937"/>
            <a:ext cx="4816800" cy="214123"/>
          </a:xfrm>
          <a:prstGeom prst="rect">
            <a:avLst/>
          </a:prstGeom>
          <a:effectLst/>
        </p:spPr>
      </p:pic>
      <p:sp>
        <p:nvSpPr>
          <p:cNvPr id="11" name="Rounded Rectangle 10"/>
          <p:cNvSpPr/>
          <p:nvPr/>
        </p:nvSpPr>
        <p:spPr>
          <a:xfrm>
            <a:off x="756000" y="2214000"/>
            <a:ext cx="5032800" cy="115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286000"/>
            <a:ext cx="4744800" cy="1008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【样本预算恒常性定理 (Invariance of Sampling Variance)】  </a:t>
            </a:r>
            <a:r>
              <a:rPr sz="98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38000"/>
            <a:ext cx="5032800" cy="279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510000"/>
            <a:ext cx="4816800" cy="2646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AR(1) 自相关环境求和与有效独立期数：</a:t>
            </a:r>
          </a:p>
          <a:p>
            <a:pPr>
              <a:lnSpc>
                <a:spcPct val="122000"/>
              </a:lnSpc>
              <a:spcBef>
                <a:spcPts val="500"/>
              </a:spcBef>
            </a:pPr>
            <a:r>
              <a:rPr sz="1019" b="1">
                <a:solidFill>
                  <a:srgbClr val="1E293B"/>
                </a:solidFill>
                <a:latin typeface="Segoe UI"/>
                <a:ea typeface="Microsoft YaHei"/>
              </a:rPr>
              <a:t>• 自相关双重级数求和：
</a:t>
            </a:r>
            <a:r>
              <a:rPr sz="980">
                <a:solidFill>
                  <a:srgbClr val="334155"/>
                </a:solidFill>
                <a:latin typeface="Segoe UI"/>
                <a:ea typeface="Microsoft YaHei"/>
              </a:rPr>
              <a:t>  假定滞后 s 阶环境协方差为 v_R r^s，总方差含级数 S = ∑_{s=1}^{T-1}(T-s)r^s。利用错位相减法求出精确闭式解：S = Tr/(1-r) - r(1-r^T)/(1-r)^2。</a:t>
            </a:r>
          </a:p>
          <a:p>
            <a:pPr>
              <a:lnSpc>
                <a:spcPct val="122000"/>
              </a:lnSpc>
              <a:spcBef>
                <a:spcPts val="500"/>
              </a:spcBef>
            </a:pPr>
            <a:r>
              <a:rPr sz="1019" b="1">
                <a:solidFill>
                  <a:srgbClr val="1E293B"/>
                </a:solidFill>
                <a:latin typeface="Segoe UI"/>
                <a:ea typeface="Microsoft YaHei"/>
              </a:rPr>
              <a:t>• 有效独立期数折减：
</a:t>
            </a:r>
            <a:r>
              <a:rPr sz="980">
                <a:solidFill>
                  <a:srgbClr val="334155"/>
                </a:solidFill>
                <a:latin typeface="Segoe UI"/>
                <a:ea typeface="Microsoft YaHei"/>
              </a:rPr>
              <a:t>  当观测期远大于环境自相关记忆时长（T ≫ 1/(1-r)）时，有效独立期数渐近退化为 T_eff ≈ T (1-r)/(1+r)。</a:t>
            </a:r>
          </a:p>
          <a:p>
            <a:pPr>
              <a:lnSpc>
                <a:spcPct val="122000"/>
              </a:lnSpc>
              <a:spcBef>
                <a:spcPts val="500"/>
              </a:spcBef>
            </a:pPr>
            <a:r>
              <a:rPr sz="1019" b="1">
                <a:solidFill>
                  <a:srgbClr val="1E293B"/>
                </a:solidFill>
                <a:latin typeface="Segoe UI"/>
                <a:ea typeface="Microsoft YaHei"/>
              </a:rPr>
              <a:t>• 大论文理论价值：
</a:t>
            </a:r>
            <a:r>
              <a:rPr sz="98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216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251999"/>
          </a:xfrm>
          <a:prstGeom prst="rect">
            <a:avLst/>
          </a:prstGeom>
          <a:noFill/>
          <a:effectLst/>
        </p:spPr>
        <p:txBody>
          <a:bodyPr wrap="square">
            <a:spAutoFit/>
          </a:bodyPr>
          <a:lstStyle/>
          <a:p>
            <a:pPr>
              <a:lnSpc>
                <a:spcPct val="115000"/>
              </a:lnSpc>
            </a:pPr>
            <a:r>
              <a:rPr sz="1100" b="1">
                <a:solidFill>
                  <a:srgbClr val="1E293B"/>
                </a:solidFill>
                <a:latin typeface="Segoe UI"/>
                <a:ea typeface="Microsoft YaHei"/>
              </a:rPr>
              <a:t>• 显式经济成本模型与目标方差函数：
</a:t>
            </a:r>
            <a:r>
              <a:rPr sz="98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691999"/>
            <a:ext cx="5032800" cy="450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s4_cochran_optimal.png"/>
          <p:cNvPicPr>
            <a:picLocks noChangeAspect="1"/>
          </p:cNvPicPr>
          <p:nvPr/>
        </p:nvPicPr>
        <p:blipFill>
          <a:blip r:embed="rId6"/>
          <a:stretch>
            <a:fillRect/>
          </a:stretch>
        </p:blipFill>
        <p:spPr>
          <a:xfrm>
            <a:off x="6508800" y="1811619"/>
            <a:ext cx="4816800" cy="210758"/>
          </a:xfrm>
          <a:prstGeom prst="rect">
            <a:avLst/>
          </a:prstGeom>
          <a:effectLst/>
        </p:spPr>
      </p:pic>
      <p:sp>
        <p:nvSpPr>
          <p:cNvPr id="20" name="Rounded Rectangle 19"/>
          <p:cNvSpPr/>
          <p:nvPr/>
        </p:nvSpPr>
        <p:spPr>
          <a:xfrm>
            <a:off x="6400800" y="2214000"/>
            <a:ext cx="5032800" cy="401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286000"/>
            <a:ext cx="4816800" cy="3870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凸优化闭式解与 Cochran (1977) 抽样理论对偶：</a:t>
            </a:r>
          </a:p>
          <a:p>
            <a:pPr>
              <a:lnSpc>
                <a:spcPct val="122000"/>
              </a:lnSpc>
              <a:spcBef>
                <a:spcPts val="500"/>
              </a:spcBef>
            </a:pPr>
            <a:r>
              <a:rPr sz="1019" b="1">
                <a:solidFill>
                  <a:srgbClr val="1E293B"/>
                </a:solidFill>
                <a:latin typeface="Segoe UI"/>
                <a:ea typeface="Microsoft YaHei"/>
              </a:rPr>
              <a:t>• 一阶导求驻点：
</a:t>
            </a:r>
            <a:r>
              <a:rPr sz="980">
                <a:solidFill>
                  <a:srgbClr val="334155"/>
                </a:solidFill>
                <a:latin typeface="Segoe UI"/>
                <a:ea typeface="Microsoft YaHei"/>
              </a:rPr>
              <a:t>  目标函数 f(m) = (c_0 + c_1 m)(v_R + A/m)/ℬ。令 f'(m) = (c_1 v_R - c_0 A/m^2)/ℬ = 0，解得唯一正根：m^* = sqrt(c_0/c_1 · m_×)。</a:t>
            </a:r>
          </a:p>
          <a:p>
            <a:pPr>
              <a:lnSpc>
                <a:spcPct val="122000"/>
              </a:lnSpc>
              <a:spcBef>
                <a:spcPts val="500"/>
              </a:spcBef>
            </a:pPr>
            <a:r>
              <a:rPr sz="1019" b="1">
                <a:solidFill>
                  <a:srgbClr val="1E293B"/>
                </a:solidFill>
                <a:latin typeface="Segoe UI"/>
                <a:ea typeface="Microsoft YaHei"/>
              </a:rPr>
              <a:t>• 二阶导严格凸性：
</a:t>
            </a:r>
            <a:r>
              <a:rPr sz="98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22000"/>
              </a:lnSpc>
              <a:spcBef>
                <a:spcPts val="500"/>
              </a:spcBef>
            </a:pPr>
            <a:r>
              <a:rPr sz="1019" b="1">
                <a:solidFill>
                  <a:srgbClr val="1E293B"/>
                </a:solidFill>
                <a:latin typeface="Segoe UI"/>
                <a:ea typeface="Microsoft YaHei"/>
              </a:rPr>
              <a:t>• Cochran (1977) 抽样对偶：
</a:t>
            </a:r>
            <a:r>
              <a:rPr sz="98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22000"/>
              </a:lnSpc>
              <a:spcBef>
                <a:spcPts val="500"/>
              </a:spcBef>
            </a:pPr>
            <a:r>
              <a:rPr sz="1019" b="1">
                <a:solidFill>
                  <a:srgbClr val="1E293B"/>
                </a:solidFill>
                <a:latin typeface="Segoe UI"/>
                <a:ea typeface="Microsoft YaHei"/>
              </a:rPr>
              <a:t>• 边角解判定与工程约束：
</a:t>
            </a:r>
            <a:r>
              <a:rPr sz="98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216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2"/>
          <a:stretch>
            <a:fillRect/>
          </a:stretch>
        </p:blipFill>
        <p:spPr>
          <a:xfrm>
            <a:off x="1637645" y="1591200"/>
            <a:ext cx="2412709"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3"/>
          <a:stretch>
            <a:fillRect/>
          </a:stretch>
        </p:blipFill>
        <p:spPr>
          <a:xfrm>
            <a:off x="1795565" y="2185200"/>
            <a:ext cx="2096869"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s5_renewal_decomp.png"/>
          <p:cNvPicPr>
            <a:picLocks noChangeAspect="1"/>
          </p:cNvPicPr>
          <p:nvPr/>
        </p:nvPicPr>
        <p:blipFill>
          <a:blip r:embed="rId4"/>
          <a:stretch>
            <a:fillRect/>
          </a:stretch>
        </p:blipFill>
        <p:spPr>
          <a:xfrm>
            <a:off x="864000" y="2875191"/>
            <a:ext cx="3960000" cy="135616"/>
          </a:xfrm>
          <a:prstGeom prst="rect">
            <a:avLst/>
          </a:prstGeom>
          <a:effectLst/>
        </p:spPr>
      </p:pic>
      <p:sp>
        <p:nvSpPr>
          <p:cNvPr id="17" name="Rounded Rectangle 16"/>
          <p:cNvSpPr/>
          <p:nvPr/>
        </p:nvSpPr>
        <p:spPr>
          <a:xfrm>
            <a:off x="756000" y="3204000"/>
            <a:ext cx="4176000" cy="302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76000"/>
            <a:ext cx="3960000" cy="2880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数值模拟揭示的深层统计规律：</a:t>
            </a:r>
          </a:p>
          <a:p>
            <a:pPr>
              <a:lnSpc>
                <a:spcPct val="120000"/>
              </a:lnSpc>
              <a:spcBef>
                <a:spcPts val="400"/>
              </a:spcBef>
            </a:pPr>
            <a:r>
              <a:rPr sz="1019" b="1">
                <a:solidFill>
                  <a:srgbClr val="1E293B"/>
                </a:solidFill>
                <a:latin typeface="Segoe UI"/>
                <a:ea typeface="Microsoft YaHei"/>
              </a:rPr>
              <a:t>• 离散阶梯跳跃与锯齿波：
</a:t>
            </a:r>
            <a:r>
              <a:rPr sz="980">
                <a:solidFill>
                  <a:srgbClr val="334155"/>
                </a:solidFill>
                <a:latin typeface="Segoe UI"/>
                <a:ea typeface="Microsoft YaHei"/>
              </a:rPr>
              <a:t>  计数临界值 c_α(m) 随规模呈阶梯状跳跃，当跨越临界值时门槛骤升，引发功效曲线局部呈现特有的锯齿波动！</a:t>
            </a:r>
          </a:p>
          <a:p>
            <a:pPr>
              <a:lnSpc>
                <a:spcPct val="120000"/>
              </a:lnSpc>
              <a:spcBef>
                <a:spcPts val="400"/>
              </a:spcBef>
            </a:pPr>
            <a:r>
              <a:rPr sz="1019" b="1">
                <a:solidFill>
                  <a:srgbClr val="1E293B"/>
                </a:solidFill>
                <a:latin typeface="Segoe UI"/>
                <a:ea typeface="Microsoft YaHei"/>
              </a:rPr>
              <a:t>• 80% 功效阈值天花板：
</a:t>
            </a:r>
            <a:r>
              <a:rPr sz="980">
                <a:solidFill>
                  <a:srgbClr val="334155"/>
                </a:solidFill>
                <a:latin typeface="Segoe UI"/>
                <a:ea typeface="Microsoft YaHei"/>
              </a:rPr>
              <a:t>  跨过 m_80% 后，功效迅速逼近 1.0 平台，边际投入收益归零，证实检验目标存在天然饱和天花板。</a:t>
            </a:r>
          </a:p>
          <a:p>
            <a:pPr>
              <a:lnSpc>
                <a:spcPct val="120000"/>
              </a:lnSpc>
              <a:spcBef>
                <a:spcPts val="400"/>
              </a:spcBef>
            </a:pPr>
            <a:r>
              <a:rPr sz="1019" b="1">
                <a:solidFill>
                  <a:srgbClr val="1E293B"/>
                </a:solidFill>
                <a:latin typeface="Segoe UI"/>
                <a:ea typeface="Microsoft YaHei"/>
              </a:rPr>
              <a:t>• 更新过程双口径解密：
</a:t>
            </a:r>
            <a:r>
              <a:rPr sz="98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80000"/>
          </a:xfrm>
          <a:prstGeom prst="rect">
            <a:avLst/>
          </a:prstGeom>
          <a:noFill/>
          <a:effectLst/>
        </p:spPr>
        <p:txBody>
          <a:bodyPr wrap="none">
            <a:spAutoFit/>
          </a:bodyPr>
          <a:lstStyle/>
          <a:p>
            <a:r>
              <a:rPr sz="115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64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36000"/>
            <a:ext cx="5605200" cy="52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1. Wald 正态近似失真  </a:t>
            </a:r>
            <a:r>
              <a:rPr sz="98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302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74000"/>
            <a:ext cx="5605200" cy="52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2. 超传播惩罚因子  </a:t>
            </a:r>
            <a:r>
              <a:rPr sz="98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40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112000"/>
            <a:ext cx="5605200" cy="52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3. 边际削减规律验证  </a:t>
            </a:r>
            <a:r>
              <a:rPr sz="98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【哨点设计定量判据】  </a:t>
            </a:r>
            <a:r>
              <a:rPr sz="98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216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2"/>
          <a:stretch>
            <a:fillRect/>
          </a:stretch>
        </p:blipFill>
        <p:spPr>
          <a:xfrm>
            <a:off x="2093971" y="1591200"/>
            <a:ext cx="1500057"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42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3"/>
          <a:stretch>
            <a:fillRect/>
          </a:stretch>
        </p:blipFill>
        <p:spPr>
          <a:xfrm>
            <a:off x="1486354" y="2185200"/>
            <a:ext cx="2715291" cy="327599"/>
          </a:xfrm>
          <a:prstGeom prst="rect">
            <a:avLst/>
          </a:prstGeom>
          <a:effectLst/>
        </p:spPr>
      </p:pic>
      <p:sp>
        <p:nvSpPr>
          <p:cNvPr id="14" name="Rounded Rectangle 13"/>
          <p:cNvSpPr/>
          <p:nvPr/>
        </p:nvSpPr>
        <p:spPr>
          <a:xfrm>
            <a:off x="756000" y="2628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699999"/>
            <a:ext cx="3960000" cy="3456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实证核心发现与样本筛选闭环：</a:t>
            </a:r>
          </a:p>
          <a:p>
            <a:pPr>
              <a:lnSpc>
                <a:spcPct val="120000"/>
              </a:lnSpc>
              <a:spcBef>
                <a:spcPts val="400"/>
              </a:spcBef>
            </a:pPr>
            <a:r>
              <a:rPr sz="1019" b="1">
                <a:solidFill>
                  <a:srgbClr val="1E293B"/>
                </a:solidFill>
                <a:latin typeface="Segoe UI"/>
                <a:ea typeface="Microsoft YaHei"/>
              </a:rPr>
              <a:t>• 样本量 N 统计定义与闭环：
</a:t>
            </a:r>
            <a:r>
              <a:rPr sz="98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20000"/>
              </a:lnSpc>
              <a:spcBef>
                <a:spcPts val="400"/>
              </a:spcBef>
            </a:pPr>
            <a:r>
              <a:rPr sz="1019" b="1">
                <a:solidFill>
                  <a:srgbClr val="1E293B"/>
                </a:solidFill>
                <a:latin typeface="Segoe UI"/>
                <a:ea typeface="Microsoft YaHei"/>
              </a:rPr>
              <a:t>• 规模斜率极显著为正：
</a:t>
            </a:r>
            <a:r>
              <a:rPr sz="980">
                <a:solidFill>
                  <a:srgbClr val="334155"/>
                </a:solidFill>
                <a:latin typeface="Segoe UI"/>
                <a:ea typeface="Microsoft YaHei"/>
              </a:rPr>
              <a:t>  b̂ = 2.2434，州聚类 95% CI [1.50, 3.02]，1500 次重抽无一次小于零（p &lt; 10^-4），强力证实 1/D_t 衰减形态，拐点 m_× ≈ 22.6 例/周。</a:t>
            </a:r>
          </a:p>
          <a:p>
            <a:pPr>
              <a:lnSpc>
                <a:spcPct val="120000"/>
              </a:lnSpc>
              <a:spcBef>
                <a:spcPts val="400"/>
              </a:spcBef>
            </a:pPr>
            <a:r>
              <a:rPr sz="1019" b="1">
                <a:solidFill>
                  <a:srgbClr val="1E293B"/>
                </a:solidFill>
                <a:latin typeface="Segoe UI"/>
                <a:ea typeface="Microsoft YaHei"/>
              </a:rPr>
              <a:t>• 达峰期 88.9% 震撼反转：
</a:t>
            </a:r>
            <a:r>
              <a:rPr sz="98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20000"/>
              </a:lnSpc>
              <a:spcBef>
                <a:spcPts val="400"/>
              </a:spcBef>
            </a:pPr>
            <a:r>
              <a:rPr sz="1019" b="1">
                <a:solidFill>
                  <a:srgbClr val="1E293B"/>
                </a:solidFill>
                <a:latin typeface="Segoe UI"/>
                <a:ea typeface="Microsoft YaHei"/>
              </a:rPr>
              <a:t>• 制度冲击与空间汇聚：
</a:t>
            </a:r>
            <a:r>
              <a:rPr sz="98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116000"/>
            <a:ext cx="5940000" cy="3096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4"/>
          <a:stretch>
            <a:fillRect/>
          </a:stretch>
        </p:blipFill>
        <p:spPr>
          <a:xfrm>
            <a:off x="5608800" y="559413"/>
            <a:ext cx="5760000" cy="4209173"/>
          </a:xfrm>
          <a:prstGeom prst="rect">
            <a:avLst/>
          </a:prstGeom>
          <a:effectLst/>
        </p:spPr>
      </p:pic>
      <p:sp>
        <p:nvSpPr>
          <p:cNvPr id="19" name="TextBox 18"/>
          <p:cNvSpPr txBox="1"/>
          <p:nvPr/>
        </p:nvSpPr>
        <p:spPr>
          <a:xfrm>
            <a:off x="5544000" y="4265999"/>
            <a:ext cx="5893200" cy="180000"/>
          </a:xfrm>
          <a:prstGeom prst="rect">
            <a:avLst/>
          </a:prstGeom>
          <a:noFill/>
          <a:effectLst/>
        </p:spPr>
        <p:txBody>
          <a:bodyPr wrap="none">
            <a:spAutoFit/>
          </a:bodyPr>
          <a:lstStyle/>
          <a:p>
            <a:r>
              <a:rPr sz="115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4482000"/>
            <a:ext cx="5893200" cy="172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4554000"/>
            <a:ext cx="5605200" cy="1584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【实证检验总结与大论文论证闭环】  </a:t>
            </a:r>
            <a:r>
              <a:rPr sz="980">
                <a:solidFill>
                  <a:srgbClr val="334155"/>
                </a:solidFill>
                <a:latin typeface="Segoe UI"/>
                <a:ea typeface="Microsoft YaHei"/>
              </a:rPr>
              <a:t>实证完全支持理论预测形态：(a) FGLS 仿射线与分箱均值紧密契合；(b) 离散度 var/mean^2 从 5.32 降至 0.99；(c) 达峰期 88.9% 误差由基准漂移解释，控制后规模项仍显著为正；(d) 政策冲击与全国汇总（RelMSE=0.0348）实证验证了空间汇聚对偶收益。全套实证经受住了事前信息集与 213 项一致性回归检验。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67999"/>
            <a:ext cx="5032800" cy="180000"/>
          </a:xfrm>
          <a:prstGeom prst="rect">
            <a:avLst/>
          </a:prstGeom>
          <a:noFill/>
          <a:effectLst/>
        </p:spPr>
        <p:txBody>
          <a:bodyPr wrap="none">
            <a:spAutoFit/>
          </a:bodyPr>
          <a:lstStyle/>
          <a:p>
            <a:r>
              <a:rPr sz="1019" b="1">
                <a:solidFill>
                  <a:srgbClr val="64748B"/>
                </a:solidFill>
                <a:latin typeface="Segoe UI"/>
                <a:ea typeface="Microsoft YaHei"/>
              </a:rPr>
              <a:t>官方前瞻多模型集成预测 • 真实外推视角</a:t>
            </a:r>
          </a:p>
        </p:txBody>
      </p:sp>
      <p:sp>
        <p:nvSpPr>
          <p:cNvPr id="9" name="Rounded Rectangle 8"/>
          <p:cNvSpPr/>
          <p:nvPr/>
        </p:nvSpPr>
        <p:spPr>
          <a:xfrm>
            <a:off x="756000" y="1602000"/>
            <a:ext cx="5032800" cy="20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74000"/>
            <a:ext cx="4816800" cy="1944000"/>
          </a:xfrm>
          <a:prstGeom prst="rect">
            <a:avLst/>
          </a:prstGeom>
          <a:noFill/>
          <a:effectLst/>
        </p:spPr>
        <p:txBody>
          <a:bodyPr wrap="square">
            <a:spAutoFit/>
          </a:bodyPr>
          <a:lstStyle/>
          <a:p>
            <a:pPr>
              <a:lnSpc>
                <a:spcPct val="120000"/>
              </a:lnSpc>
            </a:pPr>
            <a:r>
              <a:rPr sz="1019" b="1">
                <a:solidFill>
                  <a:srgbClr val="1E293B"/>
                </a:solidFill>
                <a:latin typeface="Segoe UI"/>
                <a:ea typeface="Microsoft YaHei"/>
              </a:rPr>
              <a:t>• 纯事前预测筛选：
</a:t>
            </a:r>
            <a:r>
              <a:rPr sz="980">
                <a:solidFill>
                  <a:srgbClr val="334155"/>
                </a:solidFill>
                <a:latin typeface="Segoe UI"/>
                <a:ea typeface="Microsoft YaHei"/>
              </a:rPr>
              <a:t>  按预测值 c_pred ≥ 5 进行纯事前样本筛选（50 州 + DC），样本量 N = 1,177。</a:t>
            </a:r>
          </a:p>
          <a:p>
            <a:pPr>
              <a:lnSpc>
                <a:spcPct val="120000"/>
              </a:lnSpc>
              <a:spcBef>
                <a:spcPts val="400"/>
              </a:spcBef>
            </a:pPr>
            <a:r>
              <a:rPr sz="1019" b="1">
                <a:solidFill>
                  <a:srgbClr val="1E293B"/>
                </a:solidFill>
                <a:latin typeface="Segoe UI"/>
                <a:ea typeface="Microsoft YaHei"/>
              </a:rPr>
              <a:t>• 规模反比项高度显著：
</a:t>
            </a:r>
            <a:r>
              <a:rPr sz="980">
                <a:solidFill>
                  <a:srgbClr val="334155"/>
                </a:solidFill>
                <a:latin typeface="Segoe UI"/>
                <a:ea typeface="Microsoft YaHei"/>
              </a:rPr>
              <a:t>  b̂ = 7.8045，州聚类 95% CI [5.36, 10.53]，确认实际预测中仍存在规模收益。</a:t>
            </a:r>
          </a:p>
          <a:p>
            <a:pPr>
              <a:lnSpc>
                <a:spcPct val="120000"/>
              </a:lnSpc>
              <a:spcBef>
                <a:spcPts val="400"/>
              </a:spcBef>
            </a:pPr>
            <a:r>
              <a:rPr sz="1019" b="1">
                <a:solidFill>
                  <a:srgbClr val="1E293B"/>
                </a:solidFill>
                <a:latin typeface="Segoe UI"/>
                <a:ea typeface="Microsoft YaHei"/>
              </a:rPr>
              <a:t>• 经验平衡点特征：
</a:t>
            </a:r>
            <a:r>
              <a:rPr sz="980">
                <a:solidFill>
                  <a:srgbClr val="334155"/>
                </a:solidFill>
                <a:latin typeface="Segoe UI"/>
                <a:ea typeface="Microsoft YaHei"/>
              </a:rPr>
              <a:t>  经验拐点 m_× ≈ 60.3 例/周（CI [34.5, 95.9]），与单基准相比右移，反映多模型集成吸收了部分方差。</a:t>
            </a:r>
          </a:p>
          <a:p>
            <a:pPr>
              <a:lnSpc>
                <a:spcPct val="120000"/>
              </a:lnSpc>
              <a:spcBef>
                <a:spcPts val="400"/>
              </a:spcBef>
            </a:pPr>
            <a:r>
              <a:rPr sz="1019" b="1">
                <a:solidFill>
                  <a:srgbClr val="1E293B"/>
                </a:solidFill>
                <a:latin typeface="Segoe UI"/>
                <a:ea typeface="Microsoft YaHei"/>
              </a:rPr>
              <a:t>• 达峰偏差剧烈消除：
</a:t>
            </a:r>
            <a:r>
              <a:rPr sz="98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762000"/>
            <a:ext cx="5032800" cy="246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834000"/>
            <a:ext cx="4744800" cy="2322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【FluSight 验证对大论文的理论启示】  </a:t>
            </a:r>
            <a:r>
              <a:rPr sz="98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216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67999"/>
            <a:ext cx="5032800" cy="180000"/>
          </a:xfrm>
          <a:prstGeom prst="rect">
            <a:avLst/>
          </a:prstGeom>
          <a:noFill/>
          <a:effectLst/>
        </p:spPr>
        <p:txBody>
          <a:bodyPr wrap="none">
            <a:spAutoFit/>
          </a:bodyPr>
          <a:lstStyle/>
          <a:p>
            <a:r>
              <a:rPr sz="1019">
                <a:solidFill>
                  <a:srgbClr val="64748B"/>
                </a:solidFill>
                <a:latin typeface="Segoe UI"/>
                <a:ea typeface="Microsoft YaHei"/>
              </a:rPr>
              <a:t>跨国别跨病种泛化性 • 日度高频监测</a:t>
            </a:r>
          </a:p>
        </p:txBody>
      </p:sp>
      <p:sp>
        <p:nvSpPr>
          <p:cNvPr id="16" name="Rounded Rectangle 15"/>
          <p:cNvSpPr/>
          <p:nvPr/>
        </p:nvSpPr>
        <p:spPr>
          <a:xfrm>
            <a:off x="6400800" y="1602000"/>
            <a:ext cx="5032800" cy="20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74000"/>
            <a:ext cx="4816800" cy="1944000"/>
          </a:xfrm>
          <a:prstGeom prst="rect">
            <a:avLst/>
          </a:prstGeom>
          <a:noFill/>
          <a:effectLst/>
        </p:spPr>
        <p:txBody>
          <a:bodyPr wrap="square">
            <a:spAutoFit/>
          </a:bodyPr>
          <a:lstStyle/>
          <a:p>
            <a:pPr>
              <a:lnSpc>
                <a:spcPct val="120000"/>
              </a:lnSpc>
            </a:pPr>
            <a:r>
              <a:rPr sz="1019" b="1">
                <a:solidFill>
                  <a:srgbClr val="1E293B"/>
                </a:solidFill>
                <a:latin typeface="Segoe UI"/>
                <a:ea typeface="Microsoft YaHei"/>
              </a:rPr>
              <a:t>• 纯事前有效增长样本：
</a:t>
            </a:r>
            <a:r>
              <a:rPr sz="980">
                <a:solidFill>
                  <a:srgbClr val="334155"/>
                </a:solidFill>
                <a:latin typeface="Segoe UI"/>
                <a:ea typeface="Microsoft YaHei"/>
              </a:rPr>
              <a:t>  基于历史规模 D_t ≥ 5 与 g &gt; 0 纯事前筛选，得到欧洲 11 国共 404 个国家—日观测样本。</a:t>
            </a:r>
          </a:p>
          <a:p>
            <a:pPr>
              <a:lnSpc>
                <a:spcPct val="120000"/>
              </a:lnSpc>
              <a:spcBef>
                <a:spcPts val="400"/>
              </a:spcBef>
            </a:pPr>
            <a:r>
              <a:rPr sz="1019" b="1">
                <a:solidFill>
                  <a:srgbClr val="1E293B"/>
                </a:solidFill>
                <a:latin typeface="Segoe UI"/>
                <a:ea typeface="Microsoft YaHei"/>
              </a:rPr>
              <a:t>• 跨病种规模项坚挺为正：
</a:t>
            </a:r>
            <a:r>
              <a:rPr sz="980">
                <a:solidFill>
                  <a:srgbClr val="334155"/>
                </a:solidFill>
                <a:latin typeface="Segoe UI"/>
                <a:ea typeface="Microsoft YaHei"/>
              </a:rPr>
              <a:t>  b̂ = 33.92，国家聚类 95% CI [14.60, 74.99]，证实了 1/D 衰减规律跨呼吸道病种的普适性。</a:t>
            </a:r>
          </a:p>
          <a:p>
            <a:pPr>
              <a:lnSpc>
                <a:spcPct val="120000"/>
              </a:lnSpc>
              <a:spcBef>
                <a:spcPts val="400"/>
              </a:spcBef>
            </a:pPr>
            <a:r>
              <a:rPr sz="1019" b="1">
                <a:solidFill>
                  <a:srgbClr val="1E293B"/>
                </a:solidFill>
                <a:latin typeface="Segoe UI"/>
                <a:ea typeface="Microsoft YaHei"/>
              </a:rPr>
              <a:t>• 日度尺度平衡点动态性：
</a:t>
            </a:r>
            <a:r>
              <a:rPr sz="980">
                <a:solidFill>
                  <a:srgbClr val="334155"/>
                </a:solidFill>
                <a:latin typeface="Segoe UI"/>
                <a:ea typeface="Microsoft YaHei"/>
              </a:rPr>
              <a:t>  日度尺度经验平衡点为 m_× ≈ 124.7 例/天（截尾与增长期口径分别为 67.7 与 88.1 例/天）。</a:t>
            </a:r>
          </a:p>
          <a:p>
            <a:pPr>
              <a:lnSpc>
                <a:spcPct val="120000"/>
              </a:lnSpc>
              <a:spcBef>
                <a:spcPts val="400"/>
              </a:spcBef>
            </a:pPr>
            <a:r>
              <a:rPr sz="1019" b="1">
                <a:solidFill>
                  <a:srgbClr val="1E293B"/>
                </a:solidFill>
                <a:latin typeface="Segoe UI"/>
                <a:ea typeface="Microsoft YaHei"/>
              </a:rPr>
              <a:t>• 尺度敏感性结论：
</a:t>
            </a:r>
            <a:r>
              <a:rPr sz="98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762000"/>
            <a:ext cx="5032800" cy="246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834000"/>
            <a:ext cx="4816800" cy="2322000"/>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大论文总结：公共卫生监测资源优化策略矩阵：</a:t>
            </a:r>
          </a:p>
          <a:p>
            <a:pPr>
              <a:lnSpc>
                <a:spcPct val="122000"/>
              </a:lnSpc>
              <a:spcBef>
                <a:spcPts val="400"/>
              </a:spcBef>
            </a:pPr>
            <a:r>
              <a:rPr sz="1019" b="1">
                <a:solidFill>
                  <a:srgbClr val="0F172A"/>
                </a:solidFill>
                <a:latin typeface="Segoe UI"/>
                <a:ea typeface="Microsoft YaHei"/>
              </a:rPr>
              <a:t>流行初期 / 低发期 (m &lt; m_×) ——「全力扩量」：
</a:t>
            </a:r>
            <a:r>
              <a:rPr sz="980">
                <a:solidFill>
                  <a:srgbClr val="334155"/>
                </a:solidFill>
                <a:latin typeface="Segoe UI"/>
                <a:ea typeface="Microsoft YaHei"/>
              </a:rPr>
              <a:t>  微观抽样与超传播噪声主导总方差。集中预算扩充哨点网络、提升抽样覆盖率与上报率，迅速压低抽样离散方差。</a:t>
            </a:r>
          </a:p>
          <a:p>
            <a:pPr>
              <a:lnSpc>
                <a:spcPct val="122000"/>
              </a:lnSpc>
              <a:spcBef>
                <a:spcPts val="400"/>
              </a:spcBef>
            </a:pPr>
            <a:r>
              <a:rPr sz="1019" b="1">
                <a:solidFill>
                  <a:srgbClr val="0F172A"/>
                </a:solidFill>
                <a:latin typeface="Segoe UI"/>
                <a:ea typeface="Microsoft YaHei"/>
              </a:rPr>
              <a:t>流行达峰 / 高发期 (m &gt; m_×) ——「战略提质」：
</a:t>
            </a:r>
            <a:r>
              <a:rPr sz="980">
                <a:solidFill>
                  <a:srgbClr val="334155"/>
                </a:solidFill>
                <a:latin typeface="Segoe UI"/>
                <a:ea typeface="Microsoft YaHei"/>
              </a:rPr>
              <a:t>  跨过内生平衡点后，总误差进入不可约环境噪声与模型失配主导的平台期。单纯增报病例边际收益锐减，果断转向控制环境协变量与集成预测。</a:t>
            </a:r>
          </a:p>
          <a:p>
            <a:pPr>
              <a:lnSpc>
                <a:spcPct val="122000"/>
              </a:lnSpc>
              <a:spcBef>
                <a:spcPts val="400"/>
              </a:spcBef>
            </a:pPr>
            <a:r>
              <a:rPr sz="1019" b="1">
                <a:solidFill>
                  <a:srgbClr val="0F172A"/>
                </a:solidFill>
                <a:latin typeface="Segoe UI"/>
                <a:ea typeface="Microsoft YaHei"/>
              </a:rPr>
              <a:t>爆发早期检测目标 ——「以 m_80% 为哨点基准」：
</a:t>
            </a:r>
            <a:r>
              <a:rPr sz="980">
                <a:solidFill>
                  <a:srgbClr val="334155"/>
                </a:solidFill>
                <a:latin typeface="Segoe UI"/>
                <a:ea typeface="Microsoft YaHei"/>
              </a:rPr>
              <a:t>  在进行爆发假设检验时，按目标病原体超离散度 k 精确测算 m_80%，避免盲目超额配置监测哨点导致资源闲置与低效。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进度规划：中期研究成果总结与大论文推进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22000"/>
              </a:lnSpc>
            </a:pPr>
            <a:r>
              <a:rPr sz="1100" b="1">
                <a:solidFill>
                  <a:srgbClr val="1E3A8A"/>
                </a:solidFill>
                <a:latin typeface="Segoe UI"/>
                <a:ea typeface="Microsoft YaHei"/>
              </a:rPr>
              <a:t>【工作量总体自评】  </a:t>
            </a:r>
            <a:r>
              <a:rPr sz="98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